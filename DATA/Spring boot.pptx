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81" r:id="rId3"/>
    <p:sldId id="282" r:id="rId4"/>
    <p:sldId id="294" r:id="rId5"/>
    <p:sldId id="295" r:id="rId6"/>
    <p:sldId id="283" r:id="rId7"/>
    <p:sldId id="296" r:id="rId8"/>
    <p:sldId id="297" r:id="rId9"/>
    <p:sldId id="298" r:id="rId10"/>
    <p:sldId id="299" r:id="rId11"/>
    <p:sldId id="300" r:id="rId12"/>
    <p:sldId id="301" r:id="rId13"/>
    <p:sldId id="303" r:id="rId14"/>
    <p:sldId id="302" r:id="rId15"/>
    <p:sldId id="304" r:id="rId16"/>
    <p:sldId id="305" r:id="rId17"/>
    <p:sldId id="306" r:id="rId18"/>
    <p:sldId id="307" r:id="rId19"/>
    <p:sldId id="308" r:id="rId20"/>
    <p:sldId id="287" r:id="rId21"/>
    <p:sldId id="288" r:id="rId22"/>
    <p:sldId id="309" r:id="rId23"/>
    <p:sldId id="310" r:id="rId24"/>
    <p:sldId id="311" r:id="rId25"/>
    <p:sldId id="312" r:id="rId26"/>
    <p:sldId id="289" r:id="rId27"/>
    <p:sldId id="313" r:id="rId28"/>
    <p:sldId id="315" r:id="rId29"/>
    <p:sldId id="314" r:id="rId30"/>
    <p:sldId id="290" r:id="rId31"/>
    <p:sldId id="316" r:id="rId32"/>
    <p:sldId id="317" r:id="rId33"/>
    <p:sldId id="292" r:id="rId34"/>
    <p:sldId id="319" r:id="rId35"/>
    <p:sldId id="320" r:id="rId36"/>
    <p:sldId id="321" r:id="rId37"/>
    <p:sldId id="293" r:id="rId38"/>
    <p:sldId id="322" r:id="rId3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33" userDrawn="1">
          <p15:clr>
            <a:srgbClr val="A4A3A4"/>
          </p15:clr>
        </p15:guide>
        <p15:guide id="2" pos="3841"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1" autoAdjust="0"/>
    <p:restoredTop sz="94660"/>
  </p:normalViewPr>
  <p:slideViewPr>
    <p:cSldViewPr snapToGrid="0" showGuides="1">
      <p:cViewPr varScale="1">
        <p:scale>
          <a:sx n="53" d="100"/>
          <a:sy n="53" d="100"/>
        </p:scale>
        <p:origin x="180" y="54"/>
      </p:cViewPr>
      <p:guideLst>
        <p:guide orient="horz" pos="2133"/>
        <p:guide pos="3841"/>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2" Type="http://schemas.openxmlformats.org/officeDocument/2006/relationships/tableStyles" Target="tableStyles.xml"/><Relationship Id="rId41" Type="http://schemas.openxmlformats.org/officeDocument/2006/relationships/viewProps" Target="viewProps.xml"/><Relationship Id="rId40" Type="http://schemas.openxmlformats.org/officeDocument/2006/relationships/presProps" Target="presProps.xml"/><Relationship Id="rId4" Type="http://schemas.openxmlformats.org/officeDocument/2006/relationships/slide" Target="slides/slide2.xml"/><Relationship Id="rId39" Type="http://schemas.openxmlformats.org/officeDocument/2006/relationships/slide" Target="slides/slide37.xml"/><Relationship Id="rId38" Type="http://schemas.openxmlformats.org/officeDocument/2006/relationships/slide" Target="slides/slide36.xml"/><Relationship Id="rId37" Type="http://schemas.openxmlformats.org/officeDocument/2006/relationships/slide" Target="slides/slide35.xml"/><Relationship Id="rId36" Type="http://schemas.openxmlformats.org/officeDocument/2006/relationships/slide" Target="slides/slide34.xml"/><Relationship Id="rId35" Type="http://schemas.openxmlformats.org/officeDocument/2006/relationships/slide" Target="slides/slide33.xml"/><Relationship Id="rId34" Type="http://schemas.openxmlformats.org/officeDocument/2006/relationships/slide" Target="slides/slide32.xml"/><Relationship Id="rId33" Type="http://schemas.openxmlformats.org/officeDocument/2006/relationships/slide" Target="slides/slide31.xml"/><Relationship Id="rId32" Type="http://schemas.openxmlformats.org/officeDocument/2006/relationships/slide" Target="slides/slide30.xml"/><Relationship Id="rId31" Type="http://schemas.openxmlformats.org/officeDocument/2006/relationships/slide" Target="slides/slide29.xml"/><Relationship Id="rId30" Type="http://schemas.openxmlformats.org/officeDocument/2006/relationships/slide" Target="slides/slide28.xml"/><Relationship Id="rId3" Type="http://schemas.openxmlformats.org/officeDocument/2006/relationships/slide" Target="slides/slide1.xml"/><Relationship Id="rId29" Type="http://schemas.openxmlformats.org/officeDocument/2006/relationships/slide" Target="slides/slide27.xml"/><Relationship Id="rId28" Type="http://schemas.openxmlformats.org/officeDocument/2006/relationships/slide" Target="slides/slide26.xml"/><Relationship Id="rId27" Type="http://schemas.openxmlformats.org/officeDocument/2006/relationships/slide" Target="slides/slide25.xml"/><Relationship Id="rId26" Type="http://schemas.openxmlformats.org/officeDocument/2006/relationships/slide" Target="slides/slide24.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lstStyle/>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nvPr>
        </p:nvSpPr>
        <p:spPr/>
        <p:txBody>
          <a:bodyPr/>
          <a:lstStyle/>
          <a:p>
            <a:fld id="{63A1C593-65D0-4073-BCC9-577B9352EA97}"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63A1C593-65D0-4073-BCC9-577B9352EA97}"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3A1C593-65D0-4073-BCC9-577B9352EA97}"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3A1C593-65D0-4073-BCC9-577B9352EA97}" type="datetimeFigureOut">
              <a:rPr lang="en-US" smtClean="0"/>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B618960-8005-486C-9A75-10CB2AAC16F9}"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8.xml"/><Relationship Id="rId1" Type="http://schemas.openxmlformats.org/officeDocument/2006/relationships/image" Target="../media/image3.png"/></Relationships>
</file>

<file path=ppt/slides/_rels/slide21.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tags" Target="../tags/tag1.xml"/></Relationships>
</file>

<file path=ppt/slides/_rels/slide2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xml"/></Relationships>
</file>

<file path=ppt/slides/_rels/slide2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3.xml"/></Relationships>
</file>

<file path=ppt/slides/_rels/slide2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4.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idx="1"/>
          </p:nvPr>
        </p:nvSpPr>
        <p:spPr>
          <a:xfrm>
            <a:off x="1981200" y="1165860"/>
            <a:ext cx="8229600" cy="4525963"/>
          </a:xfrm>
        </p:spPr>
        <p:style>
          <a:lnRef idx="3">
            <a:prstClr val="black"/>
          </a:lnRef>
          <a:fillRef idx="0">
            <a:srgbClr val="FFFFFF"/>
          </a:fillRef>
          <a:effectRef idx="0">
            <a:srgbClr val="FFFFFF"/>
          </a:effectRef>
          <a:fontRef idx="minor">
            <a:schemeClr val="tx1"/>
          </a:fontRef>
        </p:style>
        <p:txBody>
          <a:bodyPr anchor="ctr" anchorCtr="0">
            <a:scene3d>
              <a:camera prst="orthographicFront"/>
              <a:lightRig rig="threePt" dir="t"/>
            </a:scene3d>
          </a:bodyPr>
          <a:p>
            <a:pPr marL="0" indent="0" algn="ctr">
              <a:buNone/>
            </a:pPr>
            <a:r>
              <a:rPr lang="en-US" altLang="en-US">
                <a:solidFill>
                  <a:schemeClr val="tx1"/>
                </a:solidFill>
                <a:effectLst>
                  <a:outerShdw blurRad="38100" dist="19050" dir="2700000" algn="tl" rotWithShape="0">
                    <a:schemeClr val="dk1">
                      <a:alpha val="40000"/>
                    </a:schemeClr>
                  </a:outerShdw>
                </a:effectLst>
                <a:sym typeface="+mn-ea"/>
              </a:rPr>
              <a:t>Spring Boot Essentials: From Auto-Configuration to Actuator</a:t>
            </a:r>
            <a:endParaRPr lang="en-US" altLang="en-US">
              <a:solidFill>
                <a:schemeClr val="tx1"/>
              </a:solidFill>
              <a:effectLst>
                <a:outerShdw blurRad="38100" dist="19050" dir="2700000" algn="tl" rotWithShape="0">
                  <a:schemeClr val="dk1">
                    <a:alpha val="40000"/>
                  </a:schemeClr>
                </a:outerShdw>
              </a:effectLst>
            </a:endParaRPr>
          </a:p>
          <a:p>
            <a:pPr marL="0" indent="0" algn="ctr">
              <a:buNone/>
            </a:pPr>
            <a:endParaRPr lang="en-US" altLang="en-US">
              <a:solidFill>
                <a:schemeClr val="tx1"/>
              </a:solidFill>
              <a:effectLst>
                <a:outerShdw blurRad="38100" dist="19050" dir="2700000" algn="tl" rotWithShape="0">
                  <a:schemeClr val="dk1">
                    <a:alpha val="40000"/>
                  </a:schemeClr>
                </a:outerShdw>
              </a:effectLst>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pPr algn="ctr"/>
            <a:r>
              <a:rPr lang="en-US" altLang="en-US" b="1">
                <a:latin typeface="Times New Roman" panose="02020603050405020304" charset="0"/>
                <a:cs typeface="Times New Roman" panose="02020603050405020304" charset="0"/>
              </a:rPr>
              <a:t>Introduction to Auto-Configuration</a:t>
            </a:r>
            <a:endParaRPr lang="en-US" altLang="en-US" b="1">
              <a:latin typeface="Times New Roman" panose="02020603050405020304" charset="0"/>
              <a:cs typeface="Times New Roman" panose="02020603050405020304" charset="0"/>
            </a:endParaRPr>
          </a:p>
        </p:txBody>
      </p:sp>
      <p:sp>
        <p:nvSpPr>
          <p:cNvPr id="3" name="Content Placeholder 2"/>
          <p:cNvSpPr>
            <a:spLocks noGrp="1"/>
          </p:cNvSpPr>
          <p:nvPr>
            <p:ph sz="half" idx="1"/>
          </p:nvPr>
        </p:nvSpPr>
        <p:spPr>
          <a:xfrm>
            <a:off x="838200" y="1825625"/>
            <a:ext cx="9984740" cy="4351655"/>
          </a:xfrm>
        </p:spPr>
        <p:txBody>
          <a:bodyPr>
            <a:noAutofit/>
          </a:bodyPr>
          <a:p>
            <a:pPr algn="l"/>
            <a:r>
              <a:rPr lang="en-US" altLang="en-US" sz="2400">
                <a:latin typeface="Times New Roman" panose="02020603050405020304" charset="0"/>
                <a:cs typeface="Times New Roman" panose="02020603050405020304" charset="0"/>
              </a:rPr>
              <a:t>Auto-Configuration is a Spring Boot feature that automatically configures beans and dependencies based on what it finds in the classpath, application context, and environment properties.</a:t>
            </a:r>
            <a:endParaRPr lang="en-US" altLang="en-US" sz="2400">
              <a:latin typeface="Times New Roman" panose="02020603050405020304" charset="0"/>
              <a:cs typeface="Times New Roman" panose="02020603050405020304" charset="0"/>
            </a:endParaRPr>
          </a:p>
          <a:p>
            <a:pPr algn="l"/>
            <a:r>
              <a:rPr lang="en-US" altLang="en-US" sz="2400">
                <a:latin typeface="Times New Roman" panose="02020603050405020304" charset="0"/>
                <a:cs typeface="Times New Roman" panose="02020603050405020304" charset="0"/>
              </a:rPr>
              <a:t>Auto-Configuration is a Spring Boot mechanism that automatically configures application components (beans) based on the:</a:t>
            </a:r>
            <a:endParaRPr lang="en-US" altLang="en-US" sz="2400">
              <a:latin typeface="Times New Roman" panose="02020603050405020304" charset="0"/>
              <a:cs typeface="Times New Roman" panose="02020603050405020304" charset="0"/>
            </a:endParaRPr>
          </a:p>
          <a:p>
            <a:pPr lvl="1" algn="l"/>
            <a:r>
              <a:rPr lang="en-US" altLang="en-US" sz="2400">
                <a:latin typeface="Times New Roman" panose="02020603050405020304" charset="0"/>
                <a:cs typeface="Times New Roman" panose="02020603050405020304" charset="0"/>
              </a:rPr>
              <a:t>Dependencies available on the classpath</a:t>
            </a:r>
            <a:endParaRPr lang="en-US" altLang="en-US" sz="2400">
              <a:latin typeface="Times New Roman" panose="02020603050405020304" charset="0"/>
              <a:cs typeface="Times New Roman" panose="02020603050405020304" charset="0"/>
            </a:endParaRPr>
          </a:p>
          <a:p>
            <a:pPr lvl="1" algn="l"/>
            <a:r>
              <a:rPr lang="en-US" altLang="en-US" sz="2400">
                <a:latin typeface="Times New Roman" panose="02020603050405020304" charset="0"/>
                <a:cs typeface="Times New Roman" panose="02020603050405020304" charset="0"/>
              </a:rPr>
              <a:t>Beans already defined in the application context</a:t>
            </a:r>
            <a:endParaRPr lang="en-US" altLang="en-US" sz="2400">
              <a:latin typeface="Times New Roman" panose="02020603050405020304" charset="0"/>
              <a:cs typeface="Times New Roman" panose="02020603050405020304" charset="0"/>
            </a:endParaRPr>
          </a:p>
          <a:p>
            <a:pPr lvl="1" algn="l"/>
            <a:r>
              <a:rPr lang="en-US" altLang="en-US" sz="2400">
                <a:latin typeface="Times New Roman" panose="02020603050405020304" charset="0"/>
                <a:cs typeface="Times New Roman" panose="02020603050405020304" charset="0"/>
              </a:rPr>
              <a:t>Configuration properties provided by the developer</a:t>
            </a:r>
            <a:endParaRPr lang="en-US" altLang="en-US" sz="2400">
              <a:latin typeface="Times New Roman" panose="02020603050405020304" charset="0"/>
              <a:cs typeface="Times New Roman" panose="02020603050405020304" charset="0"/>
            </a:endParaRPr>
          </a:p>
          <a:p>
            <a:pPr lvl="1" algn="l"/>
            <a:r>
              <a:rPr lang="en-US" altLang="en-US" sz="2400">
                <a:latin typeface="Times New Roman" panose="02020603050405020304" charset="0"/>
                <a:cs typeface="Times New Roman" panose="02020603050405020304" charset="0"/>
              </a:rPr>
              <a:t>This reduces the need for manual XML/Java configuration and allows applications to run with sensible defaults.</a:t>
            </a:r>
            <a:endParaRPr lang="en-US" altLang="en-US" sz="2400">
              <a:latin typeface="Times New Roman" panose="02020603050405020304" charset="0"/>
              <a:cs typeface="Times New Roman" panose="02020603050405020304"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Title 4"/>
          <p:cNvSpPr>
            <a:spLocks noGrp="1"/>
          </p:cNvSpPr>
          <p:nvPr>
            <p:ph type="title"/>
          </p:nvPr>
        </p:nvSpPr>
        <p:spPr/>
        <p:txBody>
          <a:bodyPr/>
          <a:p>
            <a:pPr algn="ctr"/>
            <a:r>
              <a:rPr lang="en-US" b="1">
                <a:latin typeface="Times New Roman" panose="02020603050405020304" charset="0"/>
                <a:cs typeface="Times New Roman" panose="02020603050405020304" charset="0"/>
              </a:rPr>
              <a:t>Importance of Auto Configration</a:t>
            </a:r>
            <a:endParaRPr lang="en-US" b="1">
              <a:latin typeface="Times New Roman" panose="02020603050405020304" charset="0"/>
              <a:cs typeface="Times New Roman" panose="02020603050405020304" charset="0"/>
            </a:endParaRPr>
          </a:p>
        </p:txBody>
      </p:sp>
      <p:sp>
        <p:nvSpPr>
          <p:cNvPr id="6" name="Content Placeholder 5"/>
          <p:cNvSpPr>
            <a:spLocks noGrp="1"/>
          </p:cNvSpPr>
          <p:nvPr>
            <p:ph idx="1"/>
          </p:nvPr>
        </p:nvSpPr>
        <p:spPr/>
        <p:txBody>
          <a:bodyPr>
            <a:noAutofit/>
          </a:bodyPr>
          <a:p>
            <a:r>
              <a:rPr lang="en-US" altLang="en-US" sz="1700" b="1">
                <a:latin typeface="Times New Roman" panose="02020603050405020304" charset="0"/>
                <a:cs typeface="Times New Roman" panose="02020603050405020304" charset="0"/>
              </a:rPr>
              <a:t>Saves Time &amp; Effort</a:t>
            </a:r>
            <a:endParaRPr lang="zh-CN" altLang="en-US" sz="1700" b="1">
              <a:latin typeface="Times New Roman" panose="02020603050405020304" charset="0"/>
              <a:cs typeface="Times New Roman" panose="02020603050405020304" charset="0"/>
            </a:endParaRPr>
          </a:p>
          <a:p>
            <a:pPr lvl="1"/>
            <a:r>
              <a:rPr lang="en-US" altLang="en-US" sz="1700">
                <a:latin typeface="Times New Roman" panose="02020603050405020304" charset="0"/>
                <a:cs typeface="Times New Roman" panose="02020603050405020304" charset="0"/>
              </a:rPr>
              <a:t>You don’t need to write long configuration files</a:t>
            </a:r>
            <a:endParaRPr lang="en-US" altLang="en-US" sz="1700">
              <a:latin typeface="Times New Roman" panose="02020603050405020304" charset="0"/>
              <a:cs typeface="Times New Roman" panose="02020603050405020304" charset="0"/>
            </a:endParaRPr>
          </a:p>
          <a:p>
            <a:pPr lvl="1"/>
            <a:r>
              <a:rPr lang="en-US" altLang="en-US" sz="1700">
                <a:latin typeface="Times New Roman" panose="02020603050405020304" charset="0"/>
                <a:cs typeface="Times New Roman" panose="02020603050405020304" charset="0"/>
              </a:rPr>
              <a:t>Spring Boot sets up most things automatically.</a:t>
            </a:r>
            <a:endParaRPr lang="en-US" altLang="en-US" sz="1700">
              <a:latin typeface="Times New Roman" panose="02020603050405020304" charset="0"/>
              <a:cs typeface="Times New Roman" panose="02020603050405020304" charset="0"/>
            </a:endParaRPr>
          </a:p>
          <a:p>
            <a:r>
              <a:rPr lang="en-US" altLang="en-US" sz="1700" b="1">
                <a:latin typeface="Times New Roman" panose="02020603050405020304" charset="0"/>
                <a:cs typeface="Times New Roman" panose="02020603050405020304" charset="0"/>
              </a:rPr>
              <a:t>Reduces Errors</a:t>
            </a:r>
            <a:endParaRPr lang="en-US" altLang="en-US" sz="1700" b="1">
              <a:latin typeface="Times New Roman" panose="02020603050405020304" charset="0"/>
              <a:cs typeface="Times New Roman" panose="02020603050405020304" charset="0"/>
            </a:endParaRPr>
          </a:p>
          <a:p>
            <a:pPr lvl="1"/>
            <a:r>
              <a:rPr lang="en-US" altLang="en-US" sz="1700">
                <a:latin typeface="Times New Roman" panose="02020603050405020304" charset="0"/>
                <a:cs typeface="Times New Roman" panose="02020603050405020304" charset="0"/>
              </a:rPr>
              <a:t>Fewer manual settings mean fewer chances of mistakes in setup.</a:t>
            </a:r>
            <a:endParaRPr lang="en-US" altLang="en-US" sz="1700">
              <a:latin typeface="Times New Roman" panose="02020603050405020304" charset="0"/>
              <a:cs typeface="Times New Roman" panose="02020603050405020304" charset="0"/>
            </a:endParaRPr>
          </a:p>
          <a:p>
            <a:r>
              <a:rPr lang="en-US" altLang="en-US" sz="1700" b="1">
                <a:latin typeface="Times New Roman" panose="02020603050405020304" charset="0"/>
                <a:cs typeface="Times New Roman" panose="02020603050405020304" charset="0"/>
              </a:rPr>
              <a:t>Quick Project Start</a:t>
            </a:r>
            <a:endParaRPr lang="zh-CN" altLang="en-US" sz="1700" b="1">
              <a:latin typeface="Times New Roman" panose="02020603050405020304" charset="0"/>
              <a:cs typeface="Times New Roman" panose="02020603050405020304" charset="0"/>
            </a:endParaRPr>
          </a:p>
          <a:p>
            <a:pPr lvl="1"/>
            <a:r>
              <a:rPr lang="en-US" altLang="en-US" sz="1700">
                <a:latin typeface="Times New Roman" panose="02020603050405020304" charset="0"/>
                <a:cs typeface="Times New Roman" panose="02020603050405020304" charset="0"/>
              </a:rPr>
              <a:t>Just add the required dependency (like web or JPA), and you get a ready-to-use setup instantly.</a:t>
            </a:r>
            <a:endParaRPr lang="en-US" altLang="en-US" sz="1700">
              <a:latin typeface="Times New Roman" panose="02020603050405020304" charset="0"/>
              <a:cs typeface="Times New Roman" panose="02020603050405020304" charset="0"/>
            </a:endParaRPr>
          </a:p>
          <a:p>
            <a:r>
              <a:rPr lang="en-US" altLang="en-US" sz="1700" b="1">
                <a:latin typeface="Times New Roman" panose="02020603050405020304" charset="0"/>
                <a:cs typeface="Times New Roman" panose="02020603050405020304" charset="0"/>
              </a:rPr>
              <a:t>Sensible Defaults</a:t>
            </a:r>
            <a:endParaRPr lang="" altLang="en-US" sz="1700" b="1">
              <a:latin typeface="Times New Roman" panose="02020603050405020304" charset="0"/>
              <a:cs typeface="Times New Roman" panose="02020603050405020304" charset="0"/>
            </a:endParaRPr>
          </a:p>
          <a:p>
            <a:pPr lvl="1"/>
            <a:r>
              <a:rPr lang="en-US" altLang="en-US" sz="1700">
                <a:latin typeface="Times New Roman" panose="02020603050405020304" charset="0"/>
                <a:cs typeface="Times New Roman" panose="02020603050405020304" charset="0"/>
              </a:rPr>
              <a:t>Comes with pre-set defaults (like port 8080, JSON handling, database config) that work out of the box.</a:t>
            </a:r>
            <a:endParaRPr lang="en-US" altLang="en-US" sz="1700">
              <a:latin typeface="Times New Roman" panose="02020603050405020304" charset="0"/>
              <a:cs typeface="Times New Roman" panose="02020603050405020304" charset="0"/>
            </a:endParaRPr>
          </a:p>
          <a:p>
            <a:r>
              <a:rPr lang="en-US" altLang="en-US" sz="1700" b="1">
                <a:latin typeface="Times New Roman" panose="02020603050405020304" charset="0"/>
                <a:cs typeface="Times New Roman" panose="02020603050405020304" charset="0"/>
              </a:rPr>
              <a:t>Flexible &amp; Customizable</a:t>
            </a:r>
            <a:endParaRPr lang="zh-CN" altLang="en-US" sz="1700" b="1">
              <a:latin typeface="Times New Roman" panose="02020603050405020304" charset="0"/>
              <a:cs typeface="Times New Roman" panose="02020603050405020304" charset="0"/>
            </a:endParaRPr>
          </a:p>
          <a:p>
            <a:pPr lvl="1"/>
            <a:r>
              <a:rPr lang="en-US" altLang="en-US" sz="1700">
                <a:latin typeface="Times New Roman" panose="02020603050405020304" charset="0"/>
                <a:cs typeface="Times New Roman" panose="02020603050405020304" charset="0"/>
              </a:rPr>
              <a:t>If you want to override, you can provide your own bean or set values in application.properties.</a:t>
            </a:r>
            <a:endParaRPr lang="en-US" altLang="en-US" sz="1700">
              <a:latin typeface="Times New Roman" panose="02020603050405020304" charset="0"/>
              <a:cs typeface="Times New Roman" panose="02020603050405020304" charset="0"/>
            </a:endParaRPr>
          </a:p>
          <a:p>
            <a:r>
              <a:rPr lang="en-US" altLang="en-US" sz="1700" b="1">
                <a:latin typeface="Times New Roman" panose="02020603050405020304" charset="0"/>
                <a:cs typeface="Times New Roman" panose="02020603050405020304" charset="0"/>
              </a:rPr>
              <a:t>Keeps Code Clean</a:t>
            </a:r>
            <a:endParaRPr lang="zh-CN" altLang="en-US" sz="1700" b="1">
              <a:latin typeface="Times New Roman" panose="02020603050405020304" charset="0"/>
              <a:cs typeface="Times New Roman" panose="02020603050405020304" charset="0"/>
            </a:endParaRPr>
          </a:p>
          <a:p>
            <a:pPr lvl="1"/>
            <a:r>
              <a:rPr lang="en-US" altLang="en-US" sz="1700">
                <a:latin typeface="Times New Roman" panose="02020603050405020304" charset="0"/>
                <a:cs typeface="Times New Roman" panose="02020603050405020304" charset="0"/>
              </a:rPr>
              <a:t>Removes unnecessary boilerplate configuration and makes the codebase easier to read and maintain.</a:t>
            </a:r>
            <a:endParaRPr lang="en-US" altLang="en-US" sz="1700">
              <a:latin typeface="Times New Roman" panose="02020603050405020304" charset="0"/>
              <a:cs typeface="Times New Roman" panose="02020603050405020304"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pPr algn="ctr"/>
            <a:r>
              <a:rPr lang="en-US" altLang="en-US" b="1">
                <a:latin typeface="Times New Roman" panose="02020603050405020304" charset="0"/>
                <a:cs typeface="Times New Roman" panose="02020603050405020304" charset="0"/>
              </a:rPr>
              <a:t>Examples of Auto-Configuration</a:t>
            </a:r>
            <a:endParaRPr lang="en-US" altLang="en-US" b="1">
              <a:latin typeface="Times New Roman" panose="02020603050405020304" charset="0"/>
              <a:cs typeface="Times New Roman" panose="02020603050405020304" charset="0"/>
            </a:endParaRPr>
          </a:p>
        </p:txBody>
      </p:sp>
      <p:sp>
        <p:nvSpPr>
          <p:cNvPr id="3" name="Content Placeholder 2"/>
          <p:cNvSpPr>
            <a:spLocks noGrp="1"/>
          </p:cNvSpPr>
          <p:nvPr>
            <p:ph idx="1"/>
          </p:nvPr>
        </p:nvSpPr>
        <p:spPr>
          <a:xfrm>
            <a:off x="838200" y="1517650"/>
            <a:ext cx="10515600" cy="4659630"/>
          </a:xfrm>
        </p:spPr>
        <p:txBody>
          <a:bodyPr>
            <a:normAutofit fontScale="90000"/>
          </a:bodyPr>
          <a:p>
            <a:pPr marL="0" indent="0" algn="ctr">
              <a:buNone/>
            </a:pPr>
            <a:r>
              <a:rPr lang="en-US" altLang="en-US" b="1"/>
              <a:t>Real-Life Examples of Auto-Configuration</a:t>
            </a:r>
            <a:endParaRPr lang="en-US" altLang="en-US" b="1"/>
          </a:p>
          <a:p>
            <a:pPr algn="l"/>
            <a:r>
              <a:rPr lang="en-US" altLang="en-US" sz="2400" b="1"/>
              <a:t>Web Applications (</a:t>
            </a:r>
            <a:r>
              <a:rPr lang="en-US" altLang="en-US" sz="2400" b="1">
                <a:sym typeface="+mn-ea"/>
              </a:rPr>
              <a:t>Adding spring-boot-starter-web)</a:t>
            </a:r>
            <a:endParaRPr lang="en-US" altLang="en-US" sz="2400" b="1"/>
          </a:p>
          <a:p>
            <a:pPr lvl="1" algn="l"/>
            <a:r>
              <a:rPr lang="en-US" altLang="en-US" sz="2000"/>
              <a:t>Auto-configures DispatcherServlet, Jackson, MessageConverters, Embedded Tomcat/Jetty.</a:t>
            </a:r>
            <a:endParaRPr lang="en-US" altLang="en-US" sz="2000"/>
          </a:p>
          <a:p>
            <a:pPr lvl="1" algn="l"/>
            <a:r>
              <a:rPr lang="en-US" altLang="en-US" sz="2000"/>
              <a:t>You can start a REST API without writing servlet config.</a:t>
            </a:r>
            <a:endParaRPr lang="en-US" altLang="en-US" sz="2000"/>
          </a:p>
          <a:p>
            <a:pPr lvl="0" algn="l"/>
            <a:r>
              <a:rPr lang="en-US" altLang="en-US" sz="2330" b="1"/>
              <a:t>Data Applications (Adding spring-boot-starter-data-jpa)</a:t>
            </a:r>
            <a:endParaRPr lang="en-US" altLang="en-US" sz="2330" b="1"/>
          </a:p>
          <a:p>
            <a:pPr lvl="1" algn="l"/>
            <a:r>
              <a:rPr lang="en-US" altLang="en-US" sz="1995"/>
              <a:t>Auto-configures DataSource, EntityManagerFactory, JpaTransactionManager.</a:t>
            </a:r>
            <a:endParaRPr lang="en-US" altLang="en-US" sz="1995"/>
          </a:p>
          <a:p>
            <a:pPr lvl="1" algn="l"/>
            <a:r>
              <a:rPr lang="en-US" altLang="en-US" sz="1995"/>
              <a:t>Default database: H2 (in-memory) if nothing else provided.</a:t>
            </a:r>
            <a:endParaRPr lang="en-US" altLang="en-US" sz="1995"/>
          </a:p>
          <a:p>
            <a:pPr lvl="0" algn="l"/>
            <a:r>
              <a:rPr lang="en-US" altLang="en-US" sz="2325" b="1"/>
              <a:t>Messaging (Adding spring-boot-starter-amqp (RabbitMQ))</a:t>
            </a:r>
            <a:endParaRPr lang="en-US" altLang="en-US" sz="2325" b="1"/>
          </a:p>
          <a:p>
            <a:pPr lvl="1" algn="l"/>
            <a:r>
              <a:rPr lang="en-US" altLang="en-US" sz="1990"/>
              <a:t>Auto-configures ConnectionFactory, RabbitTemplate, and required infrastructure beans.</a:t>
            </a:r>
            <a:endParaRPr lang="en-US" altLang="en-US" sz="1990"/>
          </a:p>
          <a:p>
            <a:pPr lvl="1" algn="l"/>
            <a:r>
              <a:rPr lang="en-US" altLang="en-US" sz="1990"/>
              <a:t>Similarly for Kafka with spring-kafka.</a:t>
            </a:r>
            <a:endParaRPr lang="en-US" altLang="en-US" sz="1990"/>
          </a:p>
          <a:p>
            <a:pPr lvl="0" algn="l"/>
            <a:r>
              <a:rPr lang="en-US" altLang="en-US" sz="2320" b="1"/>
              <a:t>Security (Adding spring-boot-starter-security)</a:t>
            </a:r>
            <a:endParaRPr lang="en-US" altLang="en-US" sz="2320" b="1"/>
          </a:p>
          <a:p>
            <a:pPr lvl="1" algn="l"/>
            <a:r>
              <a:rPr lang="en-US" altLang="en-US" sz="1985"/>
              <a:t>Auto-configures login form, password encoder, and default security filter chain.</a:t>
            </a:r>
            <a:endParaRPr lang="en-US" altLang="en-US" sz="1985"/>
          </a:p>
          <a:p>
            <a:pPr lvl="1" algn="l"/>
            <a:r>
              <a:rPr lang="en-US" altLang="en-US" sz="1985"/>
              <a:t>Default user → user with a generated password (printed in logs).</a:t>
            </a:r>
            <a:endParaRPr lang="en-US" altLang="en-US" sz="1985"/>
          </a:p>
          <a:p>
            <a:pPr marL="0" indent="0" algn="ctr">
              <a:buNone/>
            </a:pPr>
            <a:endParaRPr lang="en-US" altLang="en-US" sz="232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838200" y="-229235"/>
            <a:ext cx="10515600" cy="1325563"/>
          </a:xfrm>
        </p:spPr>
        <p:txBody>
          <a:bodyPr/>
          <a:p>
            <a:pPr algn="ctr"/>
            <a:r>
              <a:rPr lang="en-US" altLang="en-US" sz="4000" b="1">
                <a:latin typeface="Times New Roman" panose="02020603050405020304" charset="0"/>
                <a:cs typeface="Times New Roman" panose="02020603050405020304" charset="0"/>
              </a:rPr>
              <a:t>Working of Auto-Configuration</a:t>
            </a:r>
            <a:endParaRPr lang="en-US" altLang="en-US" sz="4000" b="1">
              <a:latin typeface="Times New Roman" panose="02020603050405020304" charset="0"/>
              <a:cs typeface="Times New Roman" panose="02020603050405020304" charset="0"/>
            </a:endParaRPr>
          </a:p>
        </p:txBody>
      </p:sp>
      <p:sp>
        <p:nvSpPr>
          <p:cNvPr id="3" name="Content Placeholder 2"/>
          <p:cNvSpPr>
            <a:spLocks noGrp="1"/>
          </p:cNvSpPr>
          <p:nvPr>
            <p:ph idx="1"/>
          </p:nvPr>
        </p:nvSpPr>
        <p:spPr>
          <a:xfrm>
            <a:off x="375285" y="786765"/>
            <a:ext cx="11373485" cy="5725795"/>
          </a:xfrm>
        </p:spPr>
        <p:txBody>
          <a:bodyPr>
            <a:noAutofit/>
          </a:bodyPr>
          <a:p>
            <a:pPr lvl="0" algn="l"/>
            <a:r>
              <a:rPr lang="en-US" altLang="en-US" sz="1600" b="1"/>
              <a:t>Application Startup</a:t>
            </a:r>
            <a:endParaRPr lang="en-US" altLang="en-US" sz="1600" b="1"/>
          </a:p>
          <a:p>
            <a:pPr lvl="1" algn="l"/>
            <a:r>
              <a:rPr lang="en-US" altLang="en-US" sz="1600"/>
              <a:t>When you run a Spring Boot app, it starts with the SpringApplication class.</a:t>
            </a:r>
            <a:endParaRPr lang="en-US" altLang="en-US" sz="1600"/>
          </a:p>
          <a:p>
            <a:pPr lvl="1" algn="l"/>
            <a:r>
              <a:rPr lang="en-US" altLang="en-US" sz="1600"/>
              <a:t>This creates the Application Context (the container that holds all beans).</a:t>
            </a:r>
            <a:endParaRPr lang="en-US" altLang="en-US" sz="1600"/>
          </a:p>
          <a:p>
            <a:pPr lvl="0" algn="l"/>
            <a:r>
              <a:rPr lang="en-US" altLang="en-US" sz="1600" b="1"/>
              <a:t>Auto-Configuration Turned On</a:t>
            </a:r>
            <a:r>
              <a:rPr lang="" altLang="en-US" sz="1600"/>
              <a:t>️</a:t>
            </a:r>
            <a:endParaRPr lang="en-US" altLang="en-US" sz="1600"/>
          </a:p>
          <a:p>
            <a:pPr lvl="1" algn="l"/>
            <a:r>
              <a:rPr lang="en-US" altLang="en-US" sz="1600"/>
              <a:t>The @SpringBootApplication annotation automatically includes @EnableAutoConfiguration.</a:t>
            </a:r>
            <a:endParaRPr lang="en-US" altLang="en-US" sz="1600"/>
          </a:p>
          <a:p>
            <a:pPr lvl="1" algn="l"/>
            <a:r>
              <a:rPr lang="en-US" altLang="en-US" sz="1600"/>
              <a:t>This tells Spring Boot to “Check what dependencies are available, and configure them automatically.”</a:t>
            </a:r>
            <a:endParaRPr lang="en-US" altLang="en-US" sz="1600"/>
          </a:p>
          <a:p>
            <a:pPr lvl="0" algn="l"/>
            <a:r>
              <a:rPr lang="en-US" altLang="en-US" sz="1600" b="1"/>
              <a:t>Spring Factories File</a:t>
            </a:r>
            <a:endParaRPr lang="en-US" altLang="en-US" sz="1600" b="1"/>
          </a:p>
          <a:p>
            <a:pPr lvl="1" algn="l"/>
            <a:r>
              <a:rPr lang="en-US" altLang="en-US" sz="1600"/>
              <a:t>Spring Boot looks into a special file: META-INF/spring.factories.</a:t>
            </a:r>
            <a:endParaRPr lang="en-US" altLang="en-US" sz="1600"/>
          </a:p>
          <a:p>
            <a:pPr lvl="1" algn="l"/>
            <a:r>
              <a:rPr lang="en-US" altLang="en-US" sz="1600"/>
              <a:t>This file has a list of all auto-configuration classes (like DataSourceAutoConfiguration, WebMvcAutoConfiguration).</a:t>
            </a:r>
            <a:endParaRPr lang="en-US" altLang="en-US" sz="1600"/>
          </a:p>
          <a:p>
            <a:pPr lvl="0" algn="l"/>
            <a:r>
              <a:rPr lang="en-US" altLang="en-US" sz="1600" b="1"/>
              <a:t>Conditional Checks</a:t>
            </a:r>
            <a:endParaRPr lang="en-US" altLang="en-US" sz="1600" b="1"/>
          </a:p>
          <a:p>
            <a:pPr lvl="1" algn="l"/>
            <a:r>
              <a:rPr lang="en-US" altLang="en-US" sz="1600"/>
              <a:t>Before applying a configuration, Spring Boot checks conditions:</a:t>
            </a:r>
            <a:endParaRPr lang="en-US" altLang="en-US" sz="1600"/>
          </a:p>
          <a:p>
            <a:pPr lvl="2" algn="l"/>
            <a:r>
              <a:rPr lang="en-US" altLang="en-US" sz="1600"/>
              <a:t>@ConditionalOnClass → Does a certain class exist? (e.g., DataSource)</a:t>
            </a:r>
            <a:endParaRPr lang="en-US" altLang="en-US" sz="1600"/>
          </a:p>
          <a:p>
            <a:pPr lvl="2" algn="l"/>
            <a:r>
              <a:rPr lang="en-US" altLang="en-US" sz="1600"/>
              <a:t>@ConditionalOnMissingBean → Has the developer already defined this bean?</a:t>
            </a:r>
            <a:endParaRPr lang="en-US" altLang="en-US" sz="1600"/>
          </a:p>
          <a:p>
            <a:pPr lvl="2" algn="l"/>
            <a:r>
              <a:rPr lang="en-US" altLang="en-US" sz="1600"/>
              <a:t>@ConditionalOnProperty → Is a property set in application.properties?</a:t>
            </a:r>
            <a:endParaRPr lang="en-US" altLang="en-US" sz="1600"/>
          </a:p>
          <a:p>
            <a:pPr lvl="0" algn="l"/>
            <a:r>
              <a:rPr lang="en-US" altLang="en-US" sz="1600" b="1"/>
              <a:t>Bean Registration</a:t>
            </a:r>
            <a:endParaRPr lang="en-US" altLang="en-US" sz="1600" b="1"/>
          </a:p>
          <a:p>
            <a:pPr lvl="1" algn="l"/>
            <a:r>
              <a:rPr lang="en-US" altLang="en-US" sz="1600"/>
              <a:t>If conditions match → Spring Boot creates and registers the bean automatically.</a:t>
            </a:r>
            <a:endParaRPr lang="en-US" altLang="en-US" sz="1600"/>
          </a:p>
          <a:p>
            <a:pPr lvl="1" algn="l"/>
            <a:r>
              <a:rPr lang="en-US" altLang="en-US" sz="1600"/>
              <a:t>If you already defined your own bean → Auto-Config steps back (does not override).</a:t>
            </a:r>
            <a:endParaRPr lang="en-US" altLang="en-US" sz="1600"/>
          </a:p>
          <a:p>
            <a:pPr lvl="0" algn="l"/>
            <a:r>
              <a:rPr lang="en-US" altLang="en-US" sz="1600" b="1"/>
              <a:t>Application Ready</a:t>
            </a:r>
            <a:endParaRPr lang="en-US" altLang="en-US" sz="1600" b="1"/>
          </a:p>
          <a:p>
            <a:pPr lvl="1" algn="l"/>
            <a:r>
              <a:rPr lang="en-US" altLang="en-US" sz="1600"/>
              <a:t>After all auto-config classes are checked and beans are registered, the Application Context is ready.</a:t>
            </a:r>
            <a:endParaRPr lang="en-US" altLang="en-US" sz="1600"/>
          </a:p>
          <a:p>
            <a:pPr lvl="1" algn="l"/>
            <a:r>
              <a:rPr lang="en-US" altLang="en-US" sz="1600"/>
              <a:t>Now your app can serve requests immediately without manual setup.</a:t>
            </a:r>
            <a:endParaRPr lang="en-US" altLang="en-US" sz="160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pPr algn="ctr"/>
            <a:r>
              <a:rPr lang="en-US" altLang="en-US" b="1"/>
              <a:t>Spring Annotations – Introduction</a:t>
            </a:r>
            <a:endParaRPr lang="en-US" altLang="en-US" b="1"/>
          </a:p>
        </p:txBody>
      </p:sp>
      <p:sp>
        <p:nvSpPr>
          <p:cNvPr id="3" name="Content Placeholder 2"/>
          <p:cNvSpPr>
            <a:spLocks noGrp="1"/>
          </p:cNvSpPr>
          <p:nvPr>
            <p:ph idx="1"/>
          </p:nvPr>
        </p:nvSpPr>
        <p:spPr/>
        <p:txBody>
          <a:bodyPr>
            <a:normAutofit lnSpcReduction="10000"/>
          </a:bodyPr>
          <a:p>
            <a:r>
              <a:rPr lang="en-US" altLang="en-US"/>
              <a:t>Annotations are small pieces of metadata you add to Java code (classes, methods, fields, parameters) that tell a framework — like Spring — how to treat that piece of code. </a:t>
            </a:r>
            <a:endParaRPr lang="en-US" altLang="en-US"/>
          </a:p>
          <a:p>
            <a:r>
              <a:rPr lang="en-US" altLang="en-US"/>
              <a:t>Instead of external XML, annotations let you declare behavior inline, and Spring reads them at runtime to wire everything together.</a:t>
            </a:r>
            <a:endParaRPr lang="en-US" altLang="en-US"/>
          </a:p>
          <a:p>
            <a:r>
              <a:rPr lang="en-US" altLang="en-US"/>
              <a:t>Java annotations have retention policies (SOURCE, CLASS, RUNTIME). Spring needs annotations with RUNTIME retention so it can read them at runtime.</a:t>
            </a:r>
            <a:endParaRPr lang="en-US" altLang="en-US"/>
          </a:p>
          <a:p>
            <a:r>
              <a:rPr lang="en-US" altLang="en-US"/>
              <a:t>Annotations that annotate other annotations (e.g., @Transactional is processed specially; @GetMapping is a meta-annotation on @RequestMapping).</a:t>
            </a:r>
            <a:endParaRPr lang="en-US" alt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pPr algn="ctr"/>
            <a:r>
              <a:rPr lang="en-US" b="1">
                <a:latin typeface="Times New Roman" panose="02020603050405020304" charset="0"/>
                <a:cs typeface="Times New Roman" panose="02020603050405020304" charset="0"/>
              </a:rPr>
              <a:t>Categories of Spring Annotations</a:t>
            </a:r>
            <a:endParaRPr lang="en-US" b="1">
              <a:latin typeface="Times New Roman" panose="02020603050405020304" charset="0"/>
              <a:cs typeface="Times New Roman" panose="02020603050405020304" charset="0"/>
            </a:endParaRPr>
          </a:p>
        </p:txBody>
      </p:sp>
      <p:sp>
        <p:nvSpPr>
          <p:cNvPr id="3" name="Content Placeholder 2"/>
          <p:cNvSpPr>
            <a:spLocks noGrp="1"/>
          </p:cNvSpPr>
          <p:nvPr>
            <p:ph idx="1"/>
          </p:nvPr>
        </p:nvSpPr>
        <p:spPr>
          <a:xfrm>
            <a:off x="838200" y="1825625"/>
            <a:ext cx="5876925" cy="4351655"/>
          </a:xfrm>
        </p:spPr>
        <p:txBody>
          <a:bodyPr>
            <a:normAutofit fontScale="95000" lnSpcReduction="20000"/>
          </a:bodyPr>
          <a:p>
            <a:r>
              <a:rPr lang="en-US" altLang="en-US" b="1"/>
              <a:t>Spring annotations can be grouped into these categories</a:t>
            </a:r>
            <a:r>
              <a:rPr lang="en-US" altLang="en-US"/>
              <a:t>.</a:t>
            </a:r>
            <a:endParaRPr lang="en-US" altLang="en-US"/>
          </a:p>
          <a:p>
            <a:pPr lvl="1"/>
            <a:r>
              <a:rPr lang="en-US" altLang="en-US"/>
              <a:t>Core stereotype annotations</a:t>
            </a:r>
            <a:endParaRPr lang="en-US" altLang="en-US"/>
          </a:p>
          <a:p>
            <a:pPr lvl="1"/>
            <a:r>
              <a:rPr lang="en-US" altLang="en-US"/>
              <a:t>Dependency injection &amp; bean management</a:t>
            </a:r>
            <a:endParaRPr lang="en-US" altLang="en-US"/>
          </a:p>
          <a:p>
            <a:pPr lvl="1"/>
            <a:r>
              <a:rPr lang="en-US" altLang="en-US"/>
              <a:t>Boot &amp; auto-configuration</a:t>
            </a:r>
            <a:endParaRPr lang="en-US" altLang="en-US"/>
          </a:p>
          <a:p>
            <a:pPr lvl="1"/>
            <a:r>
              <a:rPr lang="en-US" altLang="en-US"/>
              <a:t>Web/MVC</a:t>
            </a:r>
            <a:endParaRPr lang="en-US" altLang="en-US"/>
          </a:p>
          <a:p>
            <a:pPr lvl="1"/>
            <a:r>
              <a:rPr lang="en-US" altLang="en-US"/>
              <a:t>Data/JPA</a:t>
            </a:r>
            <a:endParaRPr lang="en-US" altLang="en-US"/>
          </a:p>
          <a:p>
            <a:pPr lvl="1"/>
            <a:r>
              <a:rPr lang="en-US" altLang="en-US"/>
              <a:t>Validation</a:t>
            </a:r>
            <a:endParaRPr lang="en-US" altLang="en-US"/>
          </a:p>
          <a:p>
            <a:pPr lvl="1"/>
            <a:r>
              <a:rPr lang="en-US" altLang="en-US"/>
              <a:t>Exception handling</a:t>
            </a:r>
            <a:endParaRPr lang="en-US" altLang="en-US"/>
          </a:p>
          <a:p>
            <a:pPr lvl="1"/>
            <a:r>
              <a:rPr lang="en-US" altLang="en-US"/>
              <a:t>Lifecycle &amp; AOP</a:t>
            </a:r>
            <a:endParaRPr lang="en-US" altLang="en-US"/>
          </a:p>
          <a:p>
            <a:pPr lvl="1"/>
            <a:r>
              <a:rPr lang="en-US" altLang="en-US"/>
              <a:t>Scheduling &amp; Async</a:t>
            </a:r>
            <a:endParaRPr lang="en-US" altLang="en-US"/>
          </a:p>
          <a:p>
            <a:pPr lvl="1"/>
            <a:r>
              <a:rPr lang="en-US" altLang="en-US"/>
              <a:t>Security &amp; Caching</a:t>
            </a:r>
            <a:endParaRPr lang="en-US" altLang="en-US"/>
          </a:p>
        </p:txBody>
      </p:sp>
      <p:pic>
        <p:nvPicPr>
          <p:cNvPr id="4" name="Picture 3"/>
          <p:cNvPicPr/>
          <p:nvPr/>
        </p:nvPicPr>
        <p:blipFill>
          <a:blip r:embed="rId1"/>
          <a:stretch>
            <a:fillRect/>
          </a:stretch>
        </p:blipFill>
        <p:spPr>
          <a:xfrm>
            <a:off x="6616065" y="1632585"/>
            <a:ext cx="5184140" cy="3819525"/>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838200" y="365125"/>
            <a:ext cx="10515600" cy="795655"/>
          </a:xfrm>
        </p:spPr>
        <p:txBody>
          <a:bodyPr/>
          <a:p>
            <a:pPr algn="ctr"/>
            <a:r>
              <a:rPr lang="en-US" altLang="en-US" b="1">
                <a:latin typeface="Times New Roman" panose="02020603050405020304" charset="0"/>
                <a:cs typeface="Times New Roman" panose="02020603050405020304" charset="0"/>
              </a:rPr>
              <a:t>Core Stereotype Annotations</a:t>
            </a:r>
            <a:endParaRPr lang="en-US" altLang="en-US" b="1">
              <a:latin typeface="Times New Roman" panose="02020603050405020304" charset="0"/>
              <a:cs typeface="Times New Roman" panose="02020603050405020304" charset="0"/>
            </a:endParaRPr>
          </a:p>
        </p:txBody>
      </p:sp>
      <p:sp>
        <p:nvSpPr>
          <p:cNvPr id="3" name="Content Placeholder 2"/>
          <p:cNvSpPr>
            <a:spLocks noGrp="1"/>
          </p:cNvSpPr>
          <p:nvPr>
            <p:ph idx="1"/>
          </p:nvPr>
        </p:nvSpPr>
        <p:spPr>
          <a:xfrm>
            <a:off x="838200" y="1160780"/>
            <a:ext cx="10756900" cy="5527040"/>
          </a:xfrm>
        </p:spPr>
        <p:txBody>
          <a:bodyPr>
            <a:noAutofit/>
          </a:bodyPr>
          <a:p>
            <a:pPr algn="just"/>
            <a:r>
              <a:rPr lang="en-US" altLang="en-US" sz="2400">
                <a:latin typeface="Times New Roman" panose="02020603050405020304" charset="0"/>
                <a:cs typeface="Times New Roman" panose="02020603050405020304" charset="0"/>
              </a:rPr>
              <a:t>These tell Spring what kind of component a class is, so that Spring can detect and manage it as a bean.</a:t>
            </a:r>
            <a:endParaRPr lang="en-US" altLang="en-US" sz="2400">
              <a:latin typeface="Times New Roman" panose="02020603050405020304" charset="0"/>
              <a:cs typeface="Times New Roman" panose="02020603050405020304" charset="0"/>
            </a:endParaRPr>
          </a:p>
          <a:p>
            <a:pPr lvl="1" algn="just"/>
            <a:r>
              <a:rPr lang="en-US" altLang="en-US" sz="2000" b="1">
                <a:latin typeface="Times New Roman" panose="02020603050405020304" charset="0"/>
                <a:cs typeface="Times New Roman" panose="02020603050405020304" charset="0"/>
              </a:rPr>
              <a:t>@Component</a:t>
            </a:r>
            <a:r>
              <a:rPr lang="en-US" altLang="en-US" sz="2000">
                <a:latin typeface="Times New Roman" panose="02020603050405020304" charset="0"/>
                <a:cs typeface="Times New Roman" panose="02020603050405020304" charset="0"/>
              </a:rPr>
              <a:t> → A generic stereotype annotation used to mark a </a:t>
            </a:r>
            <a:r>
              <a:rPr lang="en-US" altLang="en-US" sz="2000" b="1">
                <a:latin typeface="Times New Roman" panose="02020603050405020304" charset="0"/>
                <a:cs typeface="Times New Roman" panose="02020603050405020304" charset="0"/>
              </a:rPr>
              <a:t>class as a Spring bean</a:t>
            </a:r>
            <a:r>
              <a:rPr lang="en-US" altLang="en-US" sz="2000">
                <a:latin typeface="Times New Roman" panose="02020603050405020304" charset="0"/>
                <a:cs typeface="Times New Roman" panose="02020603050405020304" charset="0"/>
              </a:rPr>
              <a:t>. It is the base for all specialized stereotypes (@Service, @Controller, @Repository). Used for utility or helper classes that </a:t>
            </a:r>
            <a:r>
              <a:rPr lang="en-US" altLang="en-US" sz="2000" b="1">
                <a:latin typeface="Times New Roman" panose="02020603050405020304" charset="0"/>
                <a:cs typeface="Times New Roman" panose="02020603050405020304" charset="0"/>
              </a:rPr>
              <a:t>don’t belong to a specific layer</a:t>
            </a:r>
            <a:r>
              <a:rPr lang="en-US" altLang="en-US" sz="2000">
                <a:latin typeface="Times New Roman" panose="02020603050405020304" charset="0"/>
                <a:cs typeface="Times New Roman" panose="02020603050405020304" charset="0"/>
              </a:rPr>
              <a:t>.</a:t>
            </a:r>
            <a:endParaRPr lang="en-US" altLang="en-US" sz="2000">
              <a:latin typeface="Times New Roman" panose="02020603050405020304" charset="0"/>
              <a:cs typeface="Times New Roman" panose="02020603050405020304" charset="0"/>
            </a:endParaRPr>
          </a:p>
          <a:p>
            <a:pPr lvl="1" algn="just"/>
            <a:r>
              <a:rPr lang="en-US" altLang="en-US" sz="2000" b="1">
                <a:latin typeface="Times New Roman" panose="02020603050405020304" charset="0"/>
                <a:cs typeface="Times New Roman" panose="02020603050405020304" charset="0"/>
              </a:rPr>
              <a:t>@Controller</a:t>
            </a:r>
            <a:r>
              <a:rPr lang="en-US" altLang="en-US" sz="2000">
                <a:latin typeface="Times New Roman" panose="02020603050405020304" charset="0"/>
                <a:cs typeface="Times New Roman" panose="02020603050405020304" charset="0"/>
              </a:rPr>
              <a:t> → </a:t>
            </a:r>
            <a:r>
              <a:rPr lang="en-US" altLang="en-US" sz="2000" b="1">
                <a:latin typeface="Times New Roman" panose="02020603050405020304" charset="0"/>
                <a:cs typeface="Times New Roman" panose="02020603050405020304" charset="0"/>
              </a:rPr>
              <a:t>Marks a class as a Spring MVC controller</a:t>
            </a:r>
            <a:r>
              <a:rPr lang="en-US" altLang="en-US" sz="2000">
                <a:latin typeface="Times New Roman" panose="02020603050405020304" charset="0"/>
                <a:cs typeface="Times New Roman" panose="02020603050405020304" charset="0"/>
              </a:rPr>
              <a:t>. It handles incoming </a:t>
            </a:r>
            <a:r>
              <a:rPr lang="en-US" altLang="en-US" sz="2000" b="1">
                <a:latin typeface="Times New Roman" panose="02020603050405020304" charset="0"/>
                <a:cs typeface="Times New Roman" panose="02020603050405020304" charset="0"/>
              </a:rPr>
              <a:t>web requests and typically returns a view</a:t>
            </a:r>
            <a:r>
              <a:rPr lang="en-US" altLang="en-US" sz="2000">
                <a:latin typeface="Times New Roman" panose="02020603050405020304" charset="0"/>
                <a:cs typeface="Times New Roman" panose="02020603050405020304" charset="0"/>
              </a:rPr>
              <a:t> (like HTML via Thymeleaf/JSP). Best suited for traditional MVC web applications.</a:t>
            </a:r>
            <a:endParaRPr lang="en-US" altLang="en-US" sz="2000">
              <a:latin typeface="Times New Roman" panose="02020603050405020304" charset="0"/>
              <a:cs typeface="Times New Roman" panose="02020603050405020304" charset="0"/>
            </a:endParaRPr>
          </a:p>
          <a:p>
            <a:pPr lvl="1" algn="just"/>
            <a:r>
              <a:rPr lang="en-US" altLang="en-US" sz="2000" b="1">
                <a:latin typeface="Times New Roman" panose="02020603050405020304" charset="0"/>
                <a:cs typeface="Times New Roman" panose="02020603050405020304" charset="0"/>
              </a:rPr>
              <a:t>@RestController</a:t>
            </a:r>
            <a:r>
              <a:rPr lang="en-US" altLang="en-US" sz="2000">
                <a:latin typeface="Times New Roman" panose="02020603050405020304" charset="0"/>
                <a:cs typeface="Times New Roman" panose="02020603050405020304" charset="0"/>
              </a:rPr>
              <a:t> → A shorthand for </a:t>
            </a:r>
            <a:r>
              <a:rPr lang="en-US" altLang="en-US" sz="2000" b="1">
                <a:latin typeface="Times New Roman" panose="02020603050405020304" charset="0"/>
                <a:cs typeface="Times New Roman" panose="02020603050405020304" charset="0"/>
              </a:rPr>
              <a:t>@Controller + @ResponseBody</a:t>
            </a:r>
            <a:r>
              <a:rPr lang="en-US" altLang="en-US" sz="2000">
                <a:latin typeface="Times New Roman" panose="02020603050405020304" charset="0"/>
                <a:cs typeface="Times New Roman" panose="02020603050405020304" charset="0"/>
              </a:rPr>
              <a:t>. It is mainly used for building REST APIs where </a:t>
            </a:r>
            <a:r>
              <a:rPr lang="en-US" altLang="en-US" sz="2000" b="1">
                <a:latin typeface="Times New Roman" panose="02020603050405020304" charset="0"/>
                <a:cs typeface="Times New Roman" panose="02020603050405020304" charset="0"/>
              </a:rPr>
              <a:t>methods return JSON or XML data directly to the client instead of a view</a:t>
            </a:r>
            <a:r>
              <a:rPr lang="en-US" altLang="en-US" sz="2000">
                <a:latin typeface="Times New Roman" panose="02020603050405020304" charset="0"/>
                <a:cs typeface="Times New Roman" panose="02020603050405020304" charset="0"/>
              </a:rPr>
              <a:t>.</a:t>
            </a:r>
            <a:endParaRPr lang="en-US" altLang="en-US" sz="2000">
              <a:latin typeface="Times New Roman" panose="02020603050405020304" charset="0"/>
              <a:cs typeface="Times New Roman" panose="02020603050405020304" charset="0"/>
            </a:endParaRPr>
          </a:p>
          <a:p>
            <a:pPr lvl="1" algn="just"/>
            <a:r>
              <a:rPr lang="en-US" altLang="en-US" sz="2000" b="1">
                <a:latin typeface="Times New Roman" panose="02020603050405020304" charset="0"/>
                <a:cs typeface="Times New Roman" panose="02020603050405020304" charset="0"/>
              </a:rPr>
              <a:t>@Service</a:t>
            </a:r>
            <a:r>
              <a:rPr lang="en-US" altLang="en-US" sz="2000">
                <a:latin typeface="Times New Roman" panose="02020603050405020304" charset="0"/>
                <a:cs typeface="Times New Roman" panose="02020603050405020304" charset="0"/>
              </a:rPr>
              <a:t> → Used to </a:t>
            </a:r>
            <a:r>
              <a:rPr lang="en-US" altLang="en-US" sz="2000" b="1">
                <a:latin typeface="Times New Roman" panose="02020603050405020304" charset="0"/>
                <a:cs typeface="Times New Roman" panose="02020603050405020304" charset="0"/>
              </a:rPr>
              <a:t>mark classes that hold business logic</a:t>
            </a:r>
            <a:r>
              <a:rPr lang="en-US" altLang="en-US" sz="2000">
                <a:latin typeface="Times New Roman" panose="02020603050405020304" charset="0"/>
                <a:cs typeface="Times New Roman" panose="02020603050405020304" charset="0"/>
              </a:rPr>
              <a:t>. It makes the code more </a:t>
            </a:r>
            <a:r>
              <a:rPr lang="en-US" altLang="en-US" sz="2000" b="1">
                <a:latin typeface="Times New Roman" panose="02020603050405020304" charset="0"/>
                <a:cs typeface="Times New Roman" panose="02020603050405020304" charset="0"/>
              </a:rPr>
              <a:t>readable, signals intent</a:t>
            </a:r>
            <a:r>
              <a:rPr lang="en-US" altLang="en-US" sz="2000">
                <a:latin typeface="Times New Roman" panose="02020603050405020304" charset="0"/>
                <a:cs typeface="Times New Roman" panose="02020603050405020304" charset="0"/>
              </a:rPr>
              <a:t>, and is often used with @Transactional to manage transactions in the service layer.</a:t>
            </a:r>
            <a:endParaRPr lang="en-US" altLang="en-US" sz="2000">
              <a:latin typeface="Times New Roman" panose="02020603050405020304" charset="0"/>
              <a:cs typeface="Times New Roman" panose="02020603050405020304" charset="0"/>
            </a:endParaRPr>
          </a:p>
          <a:p>
            <a:pPr lvl="1" algn="just"/>
            <a:r>
              <a:rPr lang="en-US" altLang="en-US" sz="2000" b="1">
                <a:latin typeface="Times New Roman" panose="02020603050405020304" charset="0"/>
                <a:cs typeface="Times New Roman" panose="02020603050405020304" charset="0"/>
              </a:rPr>
              <a:t>@Repository</a:t>
            </a:r>
            <a:r>
              <a:rPr lang="en-US" altLang="en-US" sz="2000">
                <a:latin typeface="Times New Roman" panose="02020603050405020304" charset="0"/>
                <a:cs typeface="Times New Roman" panose="02020603050405020304" charset="0"/>
              </a:rPr>
              <a:t> → </a:t>
            </a:r>
            <a:r>
              <a:rPr lang="en-US" altLang="en-US" sz="2000" b="1">
                <a:latin typeface="Times New Roman" panose="02020603050405020304" charset="0"/>
                <a:cs typeface="Times New Roman" panose="02020603050405020304" charset="0"/>
              </a:rPr>
              <a:t>Indicates DAO (Data Access Object)</a:t>
            </a:r>
            <a:r>
              <a:rPr lang="en-US" altLang="en-US" sz="2000">
                <a:latin typeface="Times New Roman" panose="02020603050405020304" charset="0"/>
                <a:cs typeface="Times New Roman" panose="02020603050405020304" charset="0"/>
              </a:rPr>
              <a:t> classes that </a:t>
            </a:r>
            <a:r>
              <a:rPr lang="en-US" altLang="en-US" sz="2000" b="1">
                <a:latin typeface="Times New Roman" panose="02020603050405020304" charset="0"/>
                <a:cs typeface="Times New Roman" panose="02020603050405020304" charset="0"/>
              </a:rPr>
              <a:t>directly interact with the database</a:t>
            </a:r>
            <a:r>
              <a:rPr lang="en-US" altLang="en-US" sz="2000">
                <a:latin typeface="Times New Roman" panose="02020603050405020304" charset="0"/>
                <a:cs typeface="Times New Roman" panose="02020603050405020304" charset="0"/>
              </a:rPr>
              <a:t>. It not only marks the bean but also enables Spring to </a:t>
            </a:r>
            <a:r>
              <a:rPr lang="en-US" altLang="en-US" sz="2000" b="1">
                <a:latin typeface="Times New Roman" panose="02020603050405020304" charset="0"/>
                <a:cs typeface="Times New Roman" panose="02020603050405020304" charset="0"/>
              </a:rPr>
              <a:t>translate persistence exceptions into a consistent DataAccessException</a:t>
            </a:r>
            <a:r>
              <a:rPr lang="en-US" altLang="en-US" sz="2000">
                <a:latin typeface="Times New Roman" panose="02020603050405020304" charset="0"/>
                <a:cs typeface="Times New Roman" panose="02020603050405020304" charset="0"/>
              </a:rPr>
              <a:t> hierarchy.</a:t>
            </a:r>
            <a:endParaRPr lang="en-US" altLang="en-US" sz="2000">
              <a:latin typeface="Times New Roman" panose="02020603050405020304" charset="0"/>
              <a:cs typeface="Times New Roman" panose="02020603050405020304"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pPr algn="ctr"/>
            <a:r>
              <a:rPr lang="en-US" altLang="en-US" b="1"/>
              <a:t>Dependency Injection Annotations</a:t>
            </a:r>
            <a:endParaRPr lang="en-US" altLang="en-US" b="1"/>
          </a:p>
        </p:txBody>
      </p:sp>
      <p:sp>
        <p:nvSpPr>
          <p:cNvPr id="3" name="Content Placeholder 2"/>
          <p:cNvSpPr>
            <a:spLocks noGrp="1"/>
          </p:cNvSpPr>
          <p:nvPr>
            <p:ph idx="1"/>
          </p:nvPr>
        </p:nvSpPr>
        <p:spPr/>
        <p:txBody>
          <a:bodyPr>
            <a:noAutofit/>
          </a:bodyPr>
          <a:p>
            <a:r>
              <a:rPr lang="en-US" altLang="en-US" sz="1700">
                <a:latin typeface="Times New Roman" panose="02020603050405020304" charset="0"/>
                <a:cs typeface="Times New Roman" panose="02020603050405020304" charset="0"/>
              </a:rPr>
              <a:t>These annotations help in injecting dependencies and managing bean creation.</a:t>
            </a:r>
            <a:endParaRPr lang="en-US" altLang="en-US" sz="1700">
              <a:latin typeface="Times New Roman" panose="02020603050405020304" charset="0"/>
              <a:cs typeface="Times New Roman" panose="02020603050405020304" charset="0"/>
            </a:endParaRPr>
          </a:p>
          <a:p>
            <a:pPr lvl="1"/>
            <a:r>
              <a:rPr lang="en-US" altLang="en-US" sz="1700" b="1">
                <a:latin typeface="Times New Roman" panose="02020603050405020304" charset="0"/>
                <a:cs typeface="Times New Roman" panose="02020603050405020304" charset="0"/>
              </a:rPr>
              <a:t>@Autowired</a:t>
            </a:r>
            <a:r>
              <a:rPr lang="en-US" altLang="en-US" sz="1700">
                <a:latin typeface="Times New Roman" panose="02020603050405020304" charset="0"/>
                <a:cs typeface="Times New Roman" panose="02020603050405020304" charset="0"/>
              </a:rPr>
              <a:t> → Automatically injects a bean by type. Spring resolves the dependency and populates the field, constructor, or setter.</a:t>
            </a:r>
            <a:endParaRPr lang="en-US" altLang="en-US" sz="1700">
              <a:latin typeface="Times New Roman" panose="02020603050405020304" charset="0"/>
              <a:cs typeface="Times New Roman" panose="02020603050405020304" charset="0"/>
            </a:endParaRPr>
          </a:p>
          <a:p>
            <a:pPr lvl="1"/>
            <a:r>
              <a:rPr lang="en-US" altLang="en-US" sz="1700" b="1">
                <a:latin typeface="Times New Roman" panose="02020603050405020304" charset="0"/>
                <a:cs typeface="Times New Roman" panose="02020603050405020304" charset="0"/>
              </a:rPr>
              <a:t>@Qualifier("beanName")</a:t>
            </a:r>
            <a:r>
              <a:rPr lang="en-US" altLang="en-US" sz="1700">
                <a:latin typeface="Times New Roman" panose="02020603050405020304" charset="0"/>
                <a:cs typeface="Times New Roman" panose="02020603050405020304" charset="0"/>
              </a:rPr>
              <a:t> → Used with @Autowired to specify which bean to inject when multiple candidates of the same type exist.</a:t>
            </a:r>
            <a:endParaRPr lang="en-US" altLang="en-US" sz="1700">
              <a:latin typeface="Times New Roman" panose="02020603050405020304" charset="0"/>
              <a:cs typeface="Times New Roman" panose="02020603050405020304" charset="0"/>
            </a:endParaRPr>
          </a:p>
          <a:p>
            <a:pPr lvl="1"/>
            <a:r>
              <a:rPr lang="en-US" altLang="en-US" sz="1700" b="1">
                <a:latin typeface="Times New Roman" panose="02020603050405020304" charset="0"/>
                <a:cs typeface="Times New Roman" panose="02020603050405020304" charset="0"/>
              </a:rPr>
              <a:t>@Inject</a:t>
            </a:r>
            <a:r>
              <a:rPr lang="en-US" altLang="en-US" sz="1700">
                <a:latin typeface="Times New Roman" panose="02020603050405020304" charset="0"/>
                <a:cs typeface="Times New Roman" panose="02020603050405020304" charset="0"/>
              </a:rPr>
              <a:t> → Standard Java dependency injection annotation, similar to @Autowired. Works with Spring for type-based injection.</a:t>
            </a:r>
            <a:endParaRPr lang="en-US" altLang="en-US" sz="1700">
              <a:latin typeface="Times New Roman" panose="02020603050405020304" charset="0"/>
              <a:cs typeface="Times New Roman" panose="02020603050405020304" charset="0"/>
            </a:endParaRPr>
          </a:p>
          <a:p>
            <a:pPr lvl="1"/>
            <a:r>
              <a:rPr lang="en-US" altLang="en-US" sz="1700" b="1">
                <a:latin typeface="Times New Roman" panose="02020603050405020304" charset="0"/>
                <a:cs typeface="Times New Roman" panose="02020603050405020304" charset="0"/>
              </a:rPr>
              <a:t>@Value("${property}")</a:t>
            </a:r>
            <a:r>
              <a:rPr lang="en-US" altLang="en-US" sz="1700">
                <a:latin typeface="Times New Roman" panose="02020603050405020304" charset="0"/>
                <a:cs typeface="Times New Roman" panose="02020603050405020304" charset="0"/>
              </a:rPr>
              <a:t> → Injects values from application.properties or application.yml into fields or method parameters.</a:t>
            </a:r>
            <a:endParaRPr lang="en-US" altLang="en-US" sz="1700">
              <a:latin typeface="Times New Roman" panose="02020603050405020304" charset="0"/>
              <a:cs typeface="Times New Roman" panose="02020603050405020304" charset="0"/>
            </a:endParaRPr>
          </a:p>
          <a:p>
            <a:pPr lvl="1"/>
            <a:r>
              <a:rPr lang="en-US" altLang="en-US" sz="1700" b="1">
                <a:latin typeface="Times New Roman" panose="02020603050405020304" charset="0"/>
                <a:cs typeface="Times New Roman" panose="02020603050405020304" charset="0"/>
              </a:rPr>
              <a:t>@Configuration</a:t>
            </a:r>
            <a:r>
              <a:rPr lang="en-US" altLang="en-US" sz="1700">
                <a:latin typeface="Times New Roman" panose="02020603050405020304" charset="0"/>
                <a:cs typeface="Times New Roman" panose="02020603050405020304" charset="0"/>
              </a:rPr>
              <a:t> → Marks a class as a source of bean definitions. Spring processes it to generate beans at runtime.</a:t>
            </a:r>
            <a:endParaRPr lang="en-US" altLang="en-US" sz="1700">
              <a:latin typeface="Times New Roman" panose="02020603050405020304" charset="0"/>
              <a:cs typeface="Times New Roman" panose="02020603050405020304" charset="0"/>
            </a:endParaRPr>
          </a:p>
          <a:p>
            <a:pPr lvl="1"/>
            <a:r>
              <a:rPr lang="en-US" altLang="en-US" sz="1700" b="1">
                <a:latin typeface="Times New Roman" panose="02020603050405020304" charset="0"/>
                <a:cs typeface="Times New Roman" panose="02020603050405020304" charset="0"/>
              </a:rPr>
              <a:t>@Bean</a:t>
            </a:r>
            <a:r>
              <a:rPr lang="en-US" altLang="en-US" sz="1700">
                <a:latin typeface="Times New Roman" panose="02020603050405020304" charset="0"/>
                <a:cs typeface="Times New Roman" panose="02020603050405020304" charset="0"/>
              </a:rPr>
              <a:t> → Declares a method that returns a Spring-managed bean. Used inside @Configuration classes.</a:t>
            </a:r>
            <a:endParaRPr lang="en-US" altLang="en-US" sz="1700">
              <a:latin typeface="Times New Roman" panose="02020603050405020304" charset="0"/>
              <a:cs typeface="Times New Roman" panose="02020603050405020304" charset="0"/>
            </a:endParaRPr>
          </a:p>
          <a:p>
            <a:pPr lvl="1"/>
            <a:r>
              <a:rPr lang="en-US" altLang="en-US" sz="1700" b="1">
                <a:latin typeface="Times New Roman" panose="02020603050405020304" charset="0"/>
                <a:cs typeface="Times New Roman" panose="02020603050405020304" charset="0"/>
              </a:rPr>
              <a:t>@Lazy</a:t>
            </a:r>
            <a:r>
              <a:rPr lang="en-US" altLang="en-US" sz="1700">
                <a:latin typeface="Times New Roman" panose="02020603050405020304" charset="0"/>
                <a:cs typeface="Times New Roman" panose="02020603050405020304" charset="0"/>
              </a:rPr>
              <a:t> → Defers bean initialization until it is first needed, rather than at application startup.</a:t>
            </a:r>
            <a:endParaRPr lang="en-US" altLang="en-US" sz="1700">
              <a:latin typeface="Times New Roman" panose="02020603050405020304" charset="0"/>
              <a:cs typeface="Times New Roman" panose="02020603050405020304" charset="0"/>
            </a:endParaRPr>
          </a:p>
          <a:p>
            <a:pPr lvl="1"/>
            <a:r>
              <a:rPr lang="en-US" altLang="en-US" sz="1700" b="1">
                <a:latin typeface="Times New Roman" panose="02020603050405020304" charset="0"/>
                <a:cs typeface="Times New Roman" panose="02020603050405020304" charset="0"/>
              </a:rPr>
              <a:t>@Primary</a:t>
            </a:r>
            <a:r>
              <a:rPr lang="en-US" altLang="en-US" sz="1700">
                <a:latin typeface="Times New Roman" panose="02020603050405020304" charset="0"/>
                <a:cs typeface="Times New Roman" panose="02020603050405020304" charset="0"/>
              </a:rPr>
              <a:t> → Marks a bean as the default candidate when multiple beans of the same type exist.</a:t>
            </a:r>
            <a:endParaRPr lang="en-US" altLang="en-US" sz="1700">
              <a:latin typeface="Times New Roman" panose="02020603050405020304" charset="0"/>
              <a:cs typeface="Times New Roman" panose="02020603050405020304" charset="0"/>
            </a:endParaRPr>
          </a:p>
          <a:p>
            <a:pPr lvl="1"/>
            <a:r>
              <a:rPr lang="en-US" altLang="en-US" sz="1700" b="1">
                <a:latin typeface="Times New Roman" panose="02020603050405020304" charset="0"/>
                <a:cs typeface="Times New Roman" panose="02020603050405020304" charset="0"/>
              </a:rPr>
              <a:t>@Scope("prototype"/"singleton")</a:t>
            </a:r>
            <a:r>
              <a:rPr lang="en-US" altLang="en-US" sz="1700">
                <a:latin typeface="Times New Roman" panose="02020603050405020304" charset="0"/>
                <a:cs typeface="Times New Roman" panose="02020603050405020304" charset="0"/>
              </a:rPr>
              <a:t> → Defines bean lifecycle: singleton (one shared instance) or prototype (new instance per injection).</a:t>
            </a:r>
            <a:endParaRPr lang="en-US" altLang="en-US" sz="1700">
              <a:latin typeface="Times New Roman" panose="02020603050405020304" charset="0"/>
              <a:cs typeface="Times New Roman" panose="02020603050405020304"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normAutofit fontScale="90000"/>
          </a:bodyPr>
          <a:p>
            <a:pPr algn="ctr"/>
            <a:r>
              <a:rPr lang="en-US" altLang="en-US" b="1"/>
              <a:t>Spring Boot &amp; Auto-Configuration Annotations</a:t>
            </a:r>
            <a:endParaRPr lang="en-US" altLang="en-US" b="1"/>
          </a:p>
        </p:txBody>
      </p:sp>
      <p:sp>
        <p:nvSpPr>
          <p:cNvPr id="3" name="Content Placeholder 2"/>
          <p:cNvSpPr>
            <a:spLocks noGrp="1"/>
          </p:cNvSpPr>
          <p:nvPr>
            <p:ph idx="1"/>
          </p:nvPr>
        </p:nvSpPr>
        <p:spPr/>
        <p:txBody>
          <a:bodyPr>
            <a:normAutofit fontScale="70000"/>
          </a:bodyPr>
          <a:p>
            <a:r>
              <a:rPr lang="en-US" altLang="en-US"/>
              <a:t>Marks the main class of a Spring Boot application and enables auto-configuration, component scanning, and configuration.</a:t>
            </a:r>
            <a:endParaRPr lang="en-US" altLang="en-US"/>
          </a:p>
          <a:p>
            <a:pPr lvl="1"/>
            <a:r>
              <a:rPr lang="en-US" altLang="en-US" b="1"/>
              <a:t>@SpringBootApplication</a:t>
            </a:r>
            <a:r>
              <a:rPr lang="en-US" altLang="en-US"/>
              <a:t> → Marks the main class of a Spring Boot app. Combines @Configuration, @EnableAutoConfiguration, and @ComponentScan. Enables auto-configuration and component scanning in one annotation.</a:t>
            </a:r>
            <a:endParaRPr lang="en-US" altLang="en-US"/>
          </a:p>
          <a:p>
            <a:pPr lvl="1"/>
            <a:r>
              <a:rPr lang="en-US" altLang="en-US" b="1"/>
              <a:t>@EnableAutoConfiguration</a:t>
            </a:r>
            <a:r>
              <a:rPr lang="en-US" altLang="en-US"/>
              <a:t> → Tells Spring Boot to automatically configure beans based on classpath and property settings. Reduces manual configuration by creating default beans when possible.</a:t>
            </a:r>
            <a:endParaRPr lang="en-US" altLang="en-US"/>
          </a:p>
          <a:p>
            <a:pPr lvl="1"/>
            <a:r>
              <a:rPr lang="en-US" altLang="en-US" b="1"/>
              <a:t>@ComponentScan</a:t>
            </a:r>
            <a:r>
              <a:rPr lang="en-US" altLang="en-US"/>
              <a:t> → Instructs Spring which packages to scan for components like @Controller, @Service, and @Repository. Ensures Spring detects and registers all beans automatically.</a:t>
            </a:r>
            <a:endParaRPr lang="en-US" altLang="en-US"/>
          </a:p>
          <a:p>
            <a:pPr lvl="1"/>
            <a:r>
              <a:rPr lang="en-US" altLang="en-US" b="1"/>
              <a:t>@ConditionalOnClass</a:t>
            </a:r>
            <a:r>
              <a:rPr lang="en-US" altLang="en-US"/>
              <a:t> → Creates a bean only if the specified class is present on the classpath. Helps make auto-configuration conditional on dependencies.</a:t>
            </a:r>
            <a:endParaRPr lang="en-US" altLang="en-US"/>
          </a:p>
          <a:p>
            <a:pPr lvl="1"/>
            <a:r>
              <a:rPr lang="en-US" altLang="en-US" b="1"/>
              <a:t>@ConditionalOnMissingBean </a:t>
            </a:r>
            <a:r>
              <a:rPr lang="en-US" altLang="en-US"/>
              <a:t>→ Creates a bean only if no other bean of the same type is already defined. Ensures default beans don’t override custom beans.</a:t>
            </a:r>
            <a:endParaRPr lang="en-US" altLang="en-US"/>
          </a:p>
          <a:p>
            <a:pPr lvl="1"/>
            <a:r>
              <a:rPr lang="en-US" altLang="en-US" b="1"/>
              <a:t>@ConditionalOnProperty</a:t>
            </a:r>
            <a:r>
              <a:rPr lang="en-US" altLang="en-US"/>
              <a:t> → Creates a bean only if a specific property is set or has a particular value in application.properties or application.yml. Allows configuration-driven conditional beans.</a:t>
            </a:r>
            <a:endParaRPr lang="en-US" alt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934720" y="0"/>
            <a:ext cx="10515600" cy="1325563"/>
          </a:xfrm>
        </p:spPr>
        <p:txBody>
          <a:bodyPr/>
          <a:p>
            <a:pPr algn="ctr"/>
            <a:r>
              <a:rPr lang="en-US" altLang="en-US" b="1"/>
              <a:t>Web &amp; MVC Annotations</a:t>
            </a:r>
            <a:endParaRPr lang="en-US" altLang="en-US" b="1"/>
          </a:p>
        </p:txBody>
      </p:sp>
      <p:sp>
        <p:nvSpPr>
          <p:cNvPr id="3" name="Content Placeholder 2"/>
          <p:cNvSpPr>
            <a:spLocks noGrp="1"/>
          </p:cNvSpPr>
          <p:nvPr>
            <p:ph idx="1"/>
          </p:nvPr>
        </p:nvSpPr>
        <p:spPr>
          <a:xfrm>
            <a:off x="838200" y="1041400"/>
            <a:ext cx="10515600" cy="4775835"/>
          </a:xfrm>
        </p:spPr>
        <p:txBody>
          <a:bodyPr>
            <a:noAutofit/>
          </a:bodyPr>
          <a:p>
            <a:r>
              <a:rPr lang="en-US" altLang="en-US" sz="2000"/>
              <a:t>Handle web requests, routing, and data binding.</a:t>
            </a:r>
            <a:endParaRPr lang="en-US" altLang="en-US" sz="2000"/>
          </a:p>
          <a:p>
            <a:pPr lvl="1"/>
            <a:r>
              <a:rPr lang="en-US" altLang="en-US" sz="1800" b="1"/>
              <a:t>@Controller</a:t>
            </a:r>
            <a:r>
              <a:rPr lang="en-US" altLang="en-US" sz="1800"/>
              <a:t> → Marks a class as a Spring MVC controller. Handles HTTP requests and returns view names.</a:t>
            </a:r>
            <a:endParaRPr lang="en-US" altLang="en-US" sz="1800"/>
          </a:p>
          <a:p>
            <a:pPr lvl="1"/>
            <a:r>
              <a:rPr lang="en-US" altLang="en-US" sz="1800" b="1"/>
              <a:t>@RestController</a:t>
            </a:r>
            <a:r>
              <a:rPr lang="en-US" altLang="en-US" sz="1800"/>
              <a:t> → Combines @Controller and @ResponseBody. Returns JSON/XML directly instead of a view.</a:t>
            </a:r>
            <a:endParaRPr lang="en-US" altLang="en-US" sz="1800"/>
          </a:p>
          <a:p>
            <a:pPr lvl="1"/>
            <a:r>
              <a:rPr lang="en-US" altLang="en-US" sz="1800" b="1"/>
              <a:t>@RequestMapping</a:t>
            </a:r>
            <a:r>
              <a:rPr lang="en-US" altLang="en-US" sz="1800"/>
              <a:t> → Maps HTTP requests to controller methods. Can specify URL path, method, headers, and params.</a:t>
            </a:r>
            <a:endParaRPr lang="en-US" altLang="en-US" sz="1800"/>
          </a:p>
          <a:p>
            <a:pPr lvl="1"/>
            <a:r>
              <a:rPr lang="en-US" altLang="en-US" sz="1800" b="1"/>
              <a:t>@GetMapping / @PostMapping / @PutMapping / @DeleteMapping</a:t>
            </a:r>
            <a:r>
              <a:rPr lang="en-US" altLang="en-US" sz="1800"/>
              <a:t> → Shortcut annotations for @RequestMapping with specific HTTP methods (GET, POST, PUT, DELETE).</a:t>
            </a:r>
            <a:endParaRPr lang="en-US" altLang="en-US" sz="1800"/>
          </a:p>
          <a:p>
            <a:pPr lvl="1"/>
            <a:r>
              <a:rPr lang="en-US" altLang="en-US" sz="1800" b="1"/>
              <a:t>@PathVariable</a:t>
            </a:r>
            <a:r>
              <a:rPr lang="en-US" altLang="en-US" sz="1800"/>
              <a:t> → Binds dynamic values from URL path segments to method parameters.</a:t>
            </a:r>
            <a:endParaRPr lang="en-US" altLang="en-US" sz="1800"/>
          </a:p>
          <a:p>
            <a:pPr lvl="1"/>
            <a:r>
              <a:rPr lang="en-US" altLang="en-US" sz="1800" b="1"/>
              <a:t>@RequestParam</a:t>
            </a:r>
            <a:r>
              <a:rPr lang="en-US" altLang="en-US" sz="1800"/>
              <a:t> → Binds query parameters or form data to method parameters.</a:t>
            </a:r>
            <a:endParaRPr lang="en-US" altLang="en-US" sz="1800"/>
          </a:p>
          <a:p>
            <a:pPr lvl="1"/>
            <a:r>
              <a:rPr lang="en-US" altLang="en-US" sz="1800" b="1"/>
              <a:t>@RequestBody</a:t>
            </a:r>
            <a:r>
              <a:rPr lang="en-US" altLang="en-US" sz="1800"/>
              <a:t> → Binds the HTTP request body (usually JSON/XML) to a Java object.</a:t>
            </a:r>
            <a:endParaRPr lang="en-US" altLang="en-US" sz="1800"/>
          </a:p>
          <a:p>
            <a:pPr lvl="1"/>
            <a:r>
              <a:rPr lang="en-US" altLang="en-US" sz="1800" b="1"/>
              <a:t>@ResponseBody </a:t>
            </a:r>
            <a:r>
              <a:rPr lang="en-US" altLang="en-US" sz="1800"/>
              <a:t>→ Sends return value of a method directly in HTTP response (JSON/XML).</a:t>
            </a:r>
            <a:endParaRPr lang="en-US" altLang="en-US" sz="1800"/>
          </a:p>
          <a:p>
            <a:pPr lvl="1"/>
            <a:r>
              <a:rPr lang="en-US" altLang="en-US" sz="1800" b="1"/>
              <a:t>@ExceptionHandler</a:t>
            </a:r>
            <a:r>
              <a:rPr lang="en-US" altLang="en-US" sz="1800"/>
              <a:t> → Handles exceptions thrown in a controller, allowing custom error responses.</a:t>
            </a:r>
            <a:endParaRPr lang="en-US" altLang="en-US" sz="1800"/>
          </a:p>
          <a:p>
            <a:pPr lvl="1"/>
            <a:r>
              <a:rPr lang="en-US" altLang="en-US" sz="1800" b="1"/>
              <a:t>@ControllerAdvice</a:t>
            </a:r>
            <a:r>
              <a:rPr lang="en-US" altLang="en-US" sz="1800"/>
              <a:t> → Global exception handling across multiple controllers. Can also provide global data binding.</a:t>
            </a:r>
            <a:endParaRPr lang="en-US" altLang="en-US" sz="1800"/>
          </a:p>
          <a:p>
            <a:pPr lvl="1"/>
            <a:r>
              <a:rPr lang="en-US" altLang="en-US" sz="1800" b="1"/>
              <a:t>@ModelAttribute</a:t>
            </a:r>
            <a:r>
              <a:rPr lang="en-US" altLang="en-US" sz="1800"/>
              <a:t> → Binds method parameters or adds attributes to the model for views.</a:t>
            </a:r>
            <a:endParaRPr lang="en-US" altLang="en-US" sz="1800"/>
          </a:p>
          <a:p>
            <a:pPr lvl="1"/>
            <a:r>
              <a:rPr lang="en-US" altLang="en-US" sz="1800" b="1"/>
              <a:t>@SessionAttributes</a:t>
            </a:r>
            <a:r>
              <a:rPr lang="en-US" altLang="en-US" sz="1800"/>
              <a:t> → Stores model attributes in HTTP session across multiple requests.</a:t>
            </a:r>
            <a:endParaRPr lang="en-US" altLang="en-US" sz="180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pPr algn="ctr"/>
            <a:r>
              <a:rPr lang="en-US" altLang="en-US" b="1"/>
              <a:t>Data Access / JPA Annotations</a:t>
            </a:r>
            <a:endParaRPr lang="en-US" altLang="en-US" b="1"/>
          </a:p>
        </p:txBody>
      </p:sp>
      <p:sp>
        <p:nvSpPr>
          <p:cNvPr id="3" name="Content Placeholder 2"/>
          <p:cNvSpPr>
            <a:spLocks noGrp="1"/>
          </p:cNvSpPr>
          <p:nvPr>
            <p:ph idx="1"/>
          </p:nvPr>
        </p:nvSpPr>
        <p:spPr>
          <a:xfrm>
            <a:off x="838200" y="1584960"/>
            <a:ext cx="10515600" cy="4592320"/>
          </a:xfrm>
        </p:spPr>
        <p:txBody>
          <a:bodyPr>
            <a:noAutofit/>
          </a:bodyPr>
          <a:p>
            <a:r>
              <a:rPr lang="en-US" altLang="en-US" sz="1800"/>
              <a:t>Used with Spring Data and JPA for persistence.</a:t>
            </a:r>
            <a:endParaRPr lang="en-US" altLang="en-US" sz="1800"/>
          </a:p>
          <a:p>
            <a:pPr lvl="1"/>
            <a:r>
              <a:rPr lang="en-US" altLang="en-US" sz="1800" b="1"/>
              <a:t>@Entity</a:t>
            </a:r>
            <a:r>
              <a:rPr lang="en-US" altLang="en-US" sz="1800"/>
              <a:t> → Marks a class as a JPA entity mapped to a database table. Required for ORM persistence.</a:t>
            </a:r>
            <a:endParaRPr lang="en-US" altLang="en-US" sz="1800"/>
          </a:p>
          <a:p>
            <a:pPr lvl="1"/>
            <a:r>
              <a:rPr lang="en-US" altLang="en-US" sz="1800" b="1"/>
              <a:t>@Table</a:t>
            </a:r>
            <a:r>
              <a:rPr lang="en-US" altLang="en-US" sz="1800"/>
              <a:t> → Specifies the database table name and schema for an entity. Optional if the table name matches the class.</a:t>
            </a:r>
            <a:endParaRPr lang="en-US" altLang="en-US" sz="1800"/>
          </a:p>
          <a:p>
            <a:pPr lvl="1"/>
            <a:r>
              <a:rPr lang="en-US" altLang="en-US" sz="1800" b="1"/>
              <a:t>@Id</a:t>
            </a:r>
            <a:r>
              <a:rPr lang="en-US" altLang="en-US" sz="1800"/>
              <a:t> → Marks a field as the primary key of the entity. Required for entity identification.</a:t>
            </a:r>
            <a:endParaRPr lang="en-US" altLang="en-US" sz="1800"/>
          </a:p>
          <a:p>
            <a:pPr lvl="1"/>
            <a:r>
              <a:rPr lang="en-US" altLang="en-US" sz="1800" b="1"/>
              <a:t>@GeneratedValue</a:t>
            </a:r>
            <a:r>
              <a:rPr lang="en-US" altLang="en-US" sz="1800"/>
              <a:t> → Configures how the primary key value is generated (AUTO, IDENTITY, SEQUENCE, TABLE).</a:t>
            </a:r>
            <a:endParaRPr lang="en-US" altLang="en-US" sz="1800"/>
          </a:p>
          <a:p>
            <a:pPr lvl="1"/>
            <a:r>
              <a:rPr lang="en-US" altLang="en-US" sz="1800" b="1"/>
              <a:t>@Column</a:t>
            </a:r>
            <a:r>
              <a:rPr lang="en-US" altLang="en-US" sz="1800"/>
              <a:t> → Maps a field to a table column. Can specify name, length, nullable, and unique constraints.</a:t>
            </a:r>
            <a:endParaRPr lang="en-US" altLang="en-US" sz="1800"/>
          </a:p>
          <a:p>
            <a:pPr lvl="1"/>
            <a:r>
              <a:rPr lang="en-US" altLang="en-US" sz="1800" b="1"/>
              <a:t>@OneToOne / @OneToMany / @ManyToOne / @ManyToMany</a:t>
            </a:r>
            <a:r>
              <a:rPr lang="en-US" altLang="en-US" sz="1800"/>
              <a:t> → Defines relationships between entities, including cardinality and fetch type.</a:t>
            </a:r>
            <a:endParaRPr lang="en-US" altLang="en-US" sz="1800"/>
          </a:p>
          <a:p>
            <a:pPr lvl="1"/>
            <a:r>
              <a:rPr lang="en-US" altLang="en-US" sz="1800" b="1"/>
              <a:t>@JoinColumn</a:t>
            </a:r>
            <a:r>
              <a:rPr lang="en-US" altLang="en-US" sz="1800"/>
              <a:t> → Specifies the foreign key column for entity relationships.</a:t>
            </a:r>
            <a:endParaRPr lang="en-US" altLang="en-US" sz="1800"/>
          </a:p>
          <a:p>
            <a:pPr lvl="1"/>
            <a:r>
              <a:rPr lang="en-US" altLang="en-US" sz="1800" b="1"/>
              <a:t>@Repository</a:t>
            </a:r>
            <a:r>
              <a:rPr lang="en-US" altLang="en-US" sz="1800"/>
              <a:t> → Marks a DAO or repository class and enables exception translation to Spring’s DataAccessException.</a:t>
            </a:r>
            <a:endParaRPr lang="en-US" altLang="en-US" sz="1800"/>
          </a:p>
          <a:p>
            <a:pPr lvl="1"/>
            <a:r>
              <a:rPr lang="en-US" altLang="en-US" sz="1800" b="1"/>
              <a:t>@Transactional</a:t>
            </a:r>
            <a:r>
              <a:rPr lang="en-US" altLang="en-US" sz="1800"/>
              <a:t> → Declares that methods or classes should execute within a database transaction.</a:t>
            </a:r>
            <a:endParaRPr lang="en-US" altLang="en-US" sz="1800"/>
          </a:p>
          <a:p>
            <a:pPr lvl="1"/>
            <a:r>
              <a:rPr lang="en-US" altLang="en-US" sz="1800" b="1"/>
              <a:t>@Embeddable / @Embedded</a:t>
            </a:r>
            <a:r>
              <a:rPr lang="en-US" altLang="en-US" sz="1800"/>
              <a:t> → Allows embedding value-type objects within entities for reusable component mapping.</a:t>
            </a:r>
            <a:endParaRPr lang="en-US" altLang="en-US" sz="1800"/>
          </a:p>
          <a:p>
            <a:endParaRPr lang="en-US" altLang="en-US" sz="110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pPr algn="ctr"/>
            <a:r>
              <a:rPr lang="en-US" altLang="en-US" b="1"/>
              <a:t>Validation &amp; Binding Annotations</a:t>
            </a:r>
            <a:endParaRPr lang="en-US" altLang="en-US" b="1"/>
          </a:p>
        </p:txBody>
      </p:sp>
      <p:sp>
        <p:nvSpPr>
          <p:cNvPr id="3" name="Content Placeholder 2"/>
          <p:cNvSpPr>
            <a:spLocks noGrp="1"/>
          </p:cNvSpPr>
          <p:nvPr>
            <p:ph idx="1"/>
          </p:nvPr>
        </p:nvSpPr>
        <p:spPr/>
        <p:txBody>
          <a:bodyPr>
            <a:noAutofit/>
          </a:bodyPr>
          <a:p>
            <a:pPr algn="just"/>
            <a:r>
              <a:rPr lang="en-US" altLang="en-US" sz="2000" b="1"/>
              <a:t>Validate and sanitize input using Bean Validation</a:t>
            </a:r>
            <a:r>
              <a:rPr lang="en-US" altLang="en-US" sz="2000"/>
              <a:t>.</a:t>
            </a:r>
            <a:endParaRPr lang="en-US" altLang="en-US" sz="2000"/>
          </a:p>
          <a:p>
            <a:pPr lvl="1" algn="just"/>
            <a:r>
              <a:rPr lang="en-US" altLang="en-US" sz="1800" b="1"/>
              <a:t>@Valid</a:t>
            </a:r>
            <a:r>
              <a:rPr lang="en-US" altLang="en-US" sz="1800"/>
              <a:t> → Triggers validation on an object (DTO, form, or entity) using JSR-303/JSR-380 annotations.</a:t>
            </a:r>
            <a:endParaRPr lang="en-US" altLang="en-US" sz="1800"/>
          </a:p>
          <a:p>
            <a:pPr lvl="1" algn="just"/>
            <a:r>
              <a:rPr lang="en-US" altLang="en-US" sz="1800" b="1"/>
              <a:t>@Validated </a:t>
            </a:r>
            <a:r>
              <a:rPr lang="en-US" altLang="en-US" sz="1800"/>
              <a:t>→ Spring-specific variant of @Valid that supports validation groups for more fine-grained control.</a:t>
            </a:r>
            <a:endParaRPr lang="en-US" altLang="en-US" sz="1800"/>
          </a:p>
          <a:p>
            <a:pPr lvl="1" algn="just"/>
            <a:r>
              <a:rPr lang="en-US" altLang="en-US" sz="1800" b="1"/>
              <a:t>@NotNull / @NotEmpty / @NotBlank</a:t>
            </a:r>
            <a:r>
              <a:rPr lang="en-US" altLang="en-US" sz="1800"/>
              <a:t> → Standard bean validation annotations to enforce non-null or non-empty values.</a:t>
            </a:r>
            <a:endParaRPr lang="en-US" altLang="en-US" sz="1800"/>
          </a:p>
          <a:p>
            <a:pPr lvl="1" algn="just"/>
            <a:r>
              <a:rPr lang="en-US" altLang="en-US" sz="1800" b="1"/>
              <a:t>@Size(min=, max=)</a:t>
            </a:r>
            <a:r>
              <a:rPr lang="en-US" altLang="en-US" sz="1800"/>
              <a:t> → Validates the length of a String, Collection, Map, or array within specified bounds.</a:t>
            </a:r>
            <a:endParaRPr lang="en-US" altLang="en-US" sz="1800"/>
          </a:p>
          <a:p>
            <a:pPr lvl="1" algn="just"/>
            <a:r>
              <a:rPr lang="en-US" altLang="en-US" sz="1800" b="1"/>
              <a:t>@Min / @Max</a:t>
            </a:r>
            <a:r>
              <a:rPr lang="en-US" altLang="en-US" sz="1800"/>
              <a:t> → Validates numeric values against minimum or maximum limits.</a:t>
            </a:r>
            <a:endParaRPr lang="en-US" altLang="en-US" sz="1800"/>
          </a:p>
          <a:p>
            <a:pPr lvl="1" algn="just"/>
            <a:r>
              <a:rPr lang="en-US" altLang="en-US" sz="1800" b="1"/>
              <a:t>@Email</a:t>
            </a:r>
            <a:r>
              <a:rPr lang="en-US" altLang="en-US" sz="1800"/>
              <a:t> → Validates that a string conforms to a standard email format.</a:t>
            </a:r>
            <a:endParaRPr lang="en-US" altLang="en-US" sz="1800"/>
          </a:p>
          <a:p>
            <a:pPr lvl="1" algn="just"/>
            <a:r>
              <a:rPr lang="en-US" altLang="en-US" sz="1800" b="1"/>
              <a:t>@Pattern(regexp=)</a:t>
            </a:r>
            <a:r>
              <a:rPr lang="en-US" altLang="en-US" sz="1800"/>
              <a:t> → Validates that a string matches a specified regular expression.</a:t>
            </a:r>
            <a:endParaRPr lang="en-US" altLang="en-US" sz="1800"/>
          </a:p>
          <a:p>
            <a:pPr lvl="1" algn="just"/>
            <a:r>
              <a:rPr lang="en-US" altLang="en-US" sz="1800" b="1"/>
              <a:t>@InitBinder</a:t>
            </a:r>
            <a:r>
              <a:rPr lang="en-US" altLang="en-US" sz="1800"/>
              <a:t> → Customizes data binding for web request parameters, e.g., date formatting or trimming strings.</a:t>
            </a:r>
            <a:endParaRPr lang="en-US" altLang="en-US" sz="1800"/>
          </a:p>
          <a:p>
            <a:pPr lvl="1" algn="just"/>
            <a:r>
              <a:rPr lang="en-US" altLang="en-US" sz="1800" b="1"/>
              <a:t>@ModelAttribute</a:t>
            </a:r>
            <a:r>
              <a:rPr lang="en-US" altLang="en-US" sz="1800"/>
              <a:t> → Binds request parameters to method arguments or adds attributes to the model for views.</a:t>
            </a:r>
            <a:endParaRPr lang="en-US" altLang="en-US" sz="1800"/>
          </a:p>
          <a:p>
            <a:pPr lvl="1" algn="just"/>
            <a:r>
              <a:rPr lang="en-US" altLang="en-US" sz="1800" b="1"/>
              <a:t>@BindingResult</a:t>
            </a:r>
            <a:r>
              <a:rPr lang="en-US" altLang="en-US" sz="1800"/>
              <a:t> → Holds validation errors when using @Valid or @Validated, allowing error handling in controllers.</a:t>
            </a:r>
            <a:endParaRPr lang="en-US" altLang="en-US" sz="180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normAutofit fontScale="90000"/>
          </a:bodyPr>
          <a:p>
            <a:pPr algn="ctr"/>
            <a:r>
              <a:rPr lang="en-US" altLang="en-US" b="1"/>
              <a:t>Exception Handling &amp; Cross-Cutting Annotations</a:t>
            </a:r>
            <a:endParaRPr lang="en-US" altLang="en-US" b="1"/>
          </a:p>
        </p:txBody>
      </p:sp>
      <p:sp>
        <p:nvSpPr>
          <p:cNvPr id="3" name="Content Placeholder 2"/>
          <p:cNvSpPr>
            <a:spLocks noGrp="1"/>
          </p:cNvSpPr>
          <p:nvPr>
            <p:ph idx="1"/>
          </p:nvPr>
        </p:nvSpPr>
        <p:spPr/>
        <p:txBody>
          <a:bodyPr>
            <a:normAutofit fontScale="80000"/>
          </a:bodyPr>
          <a:p>
            <a:r>
              <a:rPr lang="en-US" altLang="en-US" b="1"/>
              <a:t>Centralized error handling and cross-cutting logic</a:t>
            </a:r>
            <a:r>
              <a:rPr lang="en-US" altLang="en-US"/>
              <a:t>.</a:t>
            </a:r>
            <a:endParaRPr lang="en-US" altLang="en-US"/>
          </a:p>
          <a:p>
            <a:pPr lvl="1"/>
            <a:r>
              <a:rPr lang="en-US" altLang="en-US" b="1"/>
              <a:t>@ExceptionHandler</a:t>
            </a:r>
            <a:r>
              <a:rPr lang="en-US" altLang="en-US"/>
              <a:t> → Handles exceptions thrown within a controller. Allows defining custom responses for specific exception types.</a:t>
            </a:r>
            <a:endParaRPr lang="en-US" altLang="en-US"/>
          </a:p>
          <a:p>
            <a:pPr lvl="1"/>
            <a:r>
              <a:rPr lang="en-US" altLang="en-US" b="1"/>
              <a:t>@ControllerAdvice</a:t>
            </a:r>
            <a:r>
              <a:rPr lang="en-US" altLang="en-US"/>
              <a:t> → Provides global exception handling across multiple controllers. Can also define global data binding and model attributes.</a:t>
            </a:r>
            <a:endParaRPr lang="en-US" altLang="en-US"/>
          </a:p>
          <a:p>
            <a:pPr lvl="1"/>
            <a:r>
              <a:rPr lang="en-US" altLang="en-US" b="1"/>
              <a:t>@ResponseStatus</a:t>
            </a:r>
            <a:r>
              <a:rPr lang="en-US" altLang="en-US"/>
              <a:t> → Assigns a specific HTTP status code to a response or exception. Useful for returning meaningful status codes.</a:t>
            </a:r>
            <a:endParaRPr lang="en-US" altLang="en-US"/>
          </a:p>
          <a:p>
            <a:pPr lvl="1"/>
            <a:r>
              <a:rPr lang="en-US" altLang="en-US" b="1"/>
              <a:t>@RestControllerAdvice</a:t>
            </a:r>
            <a:r>
              <a:rPr lang="en-US" altLang="en-US"/>
              <a:t> → Combines @ControllerAdvice and @ResponseBody. Handles exceptions globally and returns JSON/XML responses.</a:t>
            </a:r>
            <a:endParaRPr lang="en-US" altLang="en-US"/>
          </a:p>
          <a:p>
            <a:pPr lvl="1"/>
            <a:r>
              <a:rPr lang="en-US" altLang="en-US" b="1"/>
              <a:t>@Aspect</a:t>
            </a:r>
            <a:r>
              <a:rPr lang="en-US" altLang="en-US"/>
              <a:t> → Marks a class as an aspect in Spring AOP. Used to define cross-cutting concerns like logging, transactions, or security.</a:t>
            </a:r>
            <a:endParaRPr lang="en-US" altLang="en-US"/>
          </a:p>
          <a:p>
            <a:pPr lvl="1"/>
            <a:r>
              <a:rPr lang="en-US" altLang="en-US" b="1"/>
              <a:t>@Before / @After / @Around / @AfterReturning / @AfterThrowing</a:t>
            </a:r>
            <a:r>
              <a:rPr lang="en-US" altLang="en-US"/>
              <a:t> → Define advice that executes before, after, or around method executions in aspects.</a:t>
            </a:r>
            <a:endParaRPr lang="en-US" altLang="en-US"/>
          </a:p>
          <a:p>
            <a:pPr lvl="1"/>
            <a:r>
              <a:rPr lang="en-US" altLang="en-US" b="1"/>
              <a:t>@Pointcut</a:t>
            </a:r>
            <a:r>
              <a:rPr lang="en-US" altLang="en-US"/>
              <a:t> → Defines a reusable pointcut expression to specify join points for advice in an aspect.</a:t>
            </a:r>
            <a:endParaRPr lang="en-US" alt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838200" y="142875"/>
            <a:ext cx="10515600" cy="1325563"/>
          </a:xfrm>
        </p:spPr>
        <p:txBody>
          <a:bodyPr/>
          <a:p>
            <a:pPr algn="ctr"/>
            <a:r>
              <a:rPr lang="en-US" altLang="en-US" b="1"/>
              <a:t>Lifecycle flow + AOP flow,</a:t>
            </a:r>
            <a:endParaRPr lang="en-US" altLang="en-US" b="1"/>
          </a:p>
        </p:txBody>
      </p:sp>
      <p:sp>
        <p:nvSpPr>
          <p:cNvPr id="3" name="Content Placeholder 2"/>
          <p:cNvSpPr>
            <a:spLocks noGrp="1"/>
          </p:cNvSpPr>
          <p:nvPr>
            <p:ph idx="1"/>
          </p:nvPr>
        </p:nvSpPr>
        <p:spPr>
          <a:xfrm>
            <a:off x="838200" y="1121410"/>
            <a:ext cx="10515600" cy="5055870"/>
          </a:xfrm>
        </p:spPr>
        <p:txBody>
          <a:bodyPr>
            <a:noAutofit/>
          </a:bodyPr>
          <a:p>
            <a:pPr algn="just"/>
            <a:r>
              <a:rPr lang="en-US" altLang="en-US" sz="2000" b="1"/>
              <a:t>Manages the creation, initialization, and destruction of beans, while also allowing cross-cutting concerns like logging or transactions to be applied declaratively via aspects.</a:t>
            </a:r>
            <a:endParaRPr lang="en-US" altLang="en-US" sz="2000" b="1"/>
          </a:p>
          <a:p>
            <a:pPr lvl="1" algn="just"/>
            <a:r>
              <a:rPr lang="en-US" altLang="en-US" sz="1800" b="1"/>
              <a:t>@PostConstruct</a:t>
            </a:r>
            <a:r>
              <a:rPr lang="en-US" altLang="en-US" sz="1800"/>
              <a:t> → Marks a method to be executed after bean initialization. Used to perform any setup or initialization logic.</a:t>
            </a:r>
            <a:endParaRPr lang="en-US" altLang="en-US" sz="1800"/>
          </a:p>
          <a:p>
            <a:pPr lvl="1" algn="just"/>
            <a:r>
              <a:rPr lang="en-US" altLang="en-US" sz="1800" b="1"/>
              <a:t>@PreDestroy</a:t>
            </a:r>
            <a:r>
              <a:rPr lang="en-US" altLang="en-US" sz="1800"/>
              <a:t> → Marks a method to be executed before bean destruction. Used to release resources or cleanup tasks.</a:t>
            </a:r>
            <a:endParaRPr lang="en-US" altLang="en-US" sz="1800"/>
          </a:p>
          <a:p>
            <a:pPr lvl="1" algn="just"/>
            <a:r>
              <a:rPr lang="en-US" altLang="en-US" sz="1800" b="1"/>
              <a:t>@Autowired</a:t>
            </a:r>
            <a:r>
              <a:rPr lang="en-US" altLang="en-US" sz="1800"/>
              <a:t> → Injects dependencies automatically by type into a bean. Can be applied on fields, constructors, or methods.</a:t>
            </a:r>
            <a:endParaRPr lang="en-US" altLang="en-US" sz="1800"/>
          </a:p>
          <a:p>
            <a:pPr lvl="1" algn="just"/>
            <a:r>
              <a:rPr lang="en-US" altLang="en-US" sz="1800" b="1"/>
              <a:t>@Value("${property}")</a:t>
            </a:r>
            <a:r>
              <a:rPr lang="en-US" altLang="en-US" sz="1800"/>
              <a:t> → Injects property values from application.properties or application.yml into a bean.</a:t>
            </a:r>
            <a:endParaRPr lang="en-US" altLang="en-US" sz="1800"/>
          </a:p>
          <a:p>
            <a:pPr lvl="1" algn="just"/>
            <a:r>
              <a:rPr lang="en-US" altLang="en-US" sz="1800" b="1"/>
              <a:t>@Aspect</a:t>
            </a:r>
            <a:r>
              <a:rPr lang="en-US" altLang="en-US" sz="1800"/>
              <a:t> → Marks a class as an aspect containing cross-cutting concerns like logging, security, or transactions.</a:t>
            </a:r>
            <a:endParaRPr lang="en-US" altLang="en-US" sz="1800"/>
          </a:p>
          <a:p>
            <a:pPr lvl="1" algn="just"/>
            <a:r>
              <a:rPr lang="en-US" altLang="en-US" sz="1800" b="1"/>
              <a:t>@Before</a:t>
            </a:r>
            <a:r>
              <a:rPr lang="en-US" altLang="en-US" sz="1800"/>
              <a:t> → Defines advice that runs before the execution of a matched method.</a:t>
            </a:r>
            <a:endParaRPr lang="en-US" altLang="en-US" sz="1800"/>
          </a:p>
          <a:p>
            <a:pPr lvl="1" algn="just"/>
            <a:r>
              <a:rPr lang="en-US" altLang="en-US" sz="1800" b="1"/>
              <a:t>@After</a:t>
            </a:r>
            <a:r>
              <a:rPr lang="en-US" altLang="en-US" sz="1800"/>
              <a:t> → Defines advice that runs after the execution of a matched method, regardless of outcome.</a:t>
            </a:r>
            <a:endParaRPr lang="en-US" altLang="en-US" sz="1800"/>
          </a:p>
          <a:p>
            <a:pPr lvl="1" algn="just"/>
            <a:r>
              <a:rPr lang="en-US" altLang="en-US" sz="1800" b="1"/>
              <a:t>@AfterReturning</a:t>
            </a:r>
            <a:r>
              <a:rPr lang="en-US" altLang="en-US" sz="1800"/>
              <a:t> → Runs advice only after a method successfully returns.</a:t>
            </a:r>
            <a:endParaRPr lang="en-US" altLang="en-US" sz="1800"/>
          </a:p>
          <a:p>
            <a:pPr lvl="1" algn="just"/>
            <a:r>
              <a:rPr lang="en-US" altLang="en-US" sz="1800" b="1"/>
              <a:t>@AfterThrowing</a:t>
            </a:r>
            <a:r>
              <a:rPr lang="en-US" altLang="en-US" sz="1800"/>
              <a:t> → Runs advice only if a method throws an exception.</a:t>
            </a:r>
            <a:endParaRPr lang="en-US" altLang="en-US" sz="1800"/>
          </a:p>
          <a:p>
            <a:pPr lvl="1" algn="just"/>
            <a:r>
              <a:rPr lang="en-US" altLang="en-US" sz="1800" b="1"/>
              <a:t>@Around</a:t>
            </a:r>
            <a:r>
              <a:rPr lang="en-US" altLang="en-US" sz="1800"/>
              <a:t> → Defines advice that runs before and after a method execution, allowing custom behavior and controlling method execution.</a:t>
            </a:r>
            <a:endParaRPr lang="en-US" altLang="en-US" sz="1800"/>
          </a:p>
          <a:p>
            <a:pPr lvl="1" algn="just"/>
            <a:r>
              <a:rPr lang="en-US" altLang="en-US" sz="1800" b="1"/>
              <a:t>@Pointcut</a:t>
            </a:r>
            <a:r>
              <a:rPr lang="en-US" altLang="en-US" sz="1800"/>
              <a:t> → Defines a reusable expression specifying join points where advice should be applied.</a:t>
            </a:r>
            <a:endParaRPr lang="en-US" altLang="en-US" sz="180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pPr algn="ctr"/>
            <a:r>
              <a:rPr lang="en-US" altLang="en-US" b="1"/>
              <a:t>Scheduling &amp; Async Annotations</a:t>
            </a:r>
            <a:endParaRPr lang="en-US" altLang="en-US" b="1"/>
          </a:p>
        </p:txBody>
      </p:sp>
      <p:sp>
        <p:nvSpPr>
          <p:cNvPr id="3" name="Content Placeholder 2"/>
          <p:cNvSpPr>
            <a:spLocks noGrp="1"/>
          </p:cNvSpPr>
          <p:nvPr>
            <p:ph idx="1"/>
          </p:nvPr>
        </p:nvSpPr>
        <p:spPr/>
        <p:txBody>
          <a:bodyPr>
            <a:noAutofit/>
          </a:bodyPr>
          <a:p>
            <a:r>
              <a:rPr lang="en-US" altLang="en-US" sz="2400"/>
              <a:t>For background tasks and async processing.</a:t>
            </a:r>
            <a:endParaRPr lang="en-US" altLang="en-US" sz="2400"/>
          </a:p>
          <a:p>
            <a:endParaRPr lang="en-US" altLang="en-US" sz="2400"/>
          </a:p>
          <a:p>
            <a:pPr lvl="1"/>
            <a:r>
              <a:rPr lang="en-US" altLang="en-US" sz="2400" b="1"/>
              <a:t>Scheduling Annotations</a:t>
            </a:r>
            <a:endParaRPr lang="en-US" altLang="en-US" sz="2400" b="1"/>
          </a:p>
          <a:p>
            <a:pPr lvl="2"/>
            <a:r>
              <a:rPr lang="en-US" altLang="en-US" sz="2400" b="1"/>
              <a:t>@EnableScheduling</a:t>
            </a:r>
            <a:r>
              <a:rPr lang="en-US" altLang="en-US" sz="2400"/>
              <a:t> → Enables Spring’s scheduling support.</a:t>
            </a:r>
            <a:endParaRPr lang="en-US" altLang="en-US" sz="2400"/>
          </a:p>
          <a:p>
            <a:pPr lvl="2"/>
            <a:r>
              <a:rPr lang="en-US" altLang="en-US" sz="2400" b="1"/>
              <a:t>@Scheduled</a:t>
            </a:r>
            <a:r>
              <a:rPr lang="en-US" altLang="en-US" sz="2400"/>
              <a:t> → Marks a method to run automatically at a fixed rate, fixed delay, or cron expression.</a:t>
            </a:r>
            <a:endParaRPr lang="en-US" altLang="en-US" sz="2400"/>
          </a:p>
          <a:p>
            <a:pPr marL="914400" lvl="2" indent="0">
              <a:buNone/>
            </a:pPr>
            <a:endParaRPr lang="en-US" altLang="en-US" sz="2400"/>
          </a:p>
          <a:p>
            <a:pPr lvl="1"/>
            <a:r>
              <a:rPr lang="en-US" altLang="en-US" sz="2400" b="1"/>
              <a:t>Async Annotations</a:t>
            </a:r>
            <a:endParaRPr lang="en-US" altLang="en-US" sz="2400" b="1"/>
          </a:p>
          <a:p>
            <a:pPr lvl="2"/>
            <a:r>
              <a:rPr lang="en-US" altLang="en-US" sz="2400" b="1"/>
              <a:t>@EnableAsync</a:t>
            </a:r>
            <a:r>
              <a:rPr lang="en-US" altLang="en-US" sz="2400"/>
              <a:t> → Enables Spring’s asynchronous method execution.</a:t>
            </a:r>
            <a:endParaRPr lang="en-US" altLang="en-US" sz="2400"/>
          </a:p>
          <a:p>
            <a:pPr lvl="2"/>
            <a:r>
              <a:rPr lang="en-US" altLang="en-US" sz="2400" b="1"/>
              <a:t>@Async</a:t>
            </a:r>
            <a:r>
              <a:rPr lang="en-US" altLang="en-US" sz="2400"/>
              <a:t> → Marks a method to execute in a separate thread, optionally returning Future or CompletableFuture.</a:t>
            </a:r>
            <a:endParaRPr lang="en-US" altLang="en-US" sz="240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pPr algn="ctr"/>
            <a:r>
              <a:rPr lang="en-US" b="1"/>
              <a:t>S</a:t>
            </a:r>
            <a:r>
              <a:rPr lang="en-US" altLang="en-US" b="1"/>
              <a:t>ecurity &amp; Caching Annotations</a:t>
            </a:r>
            <a:endParaRPr lang="en-US" altLang="en-US" b="1"/>
          </a:p>
        </p:txBody>
      </p:sp>
      <p:sp>
        <p:nvSpPr>
          <p:cNvPr id="3" name="Content Placeholder 2"/>
          <p:cNvSpPr>
            <a:spLocks noGrp="1"/>
          </p:cNvSpPr>
          <p:nvPr>
            <p:ph idx="1"/>
          </p:nvPr>
        </p:nvSpPr>
        <p:spPr/>
        <p:txBody>
          <a:bodyPr>
            <a:normAutofit fontScale="85000"/>
          </a:bodyPr>
          <a:p>
            <a:r>
              <a:rPr lang="en-US" altLang="en-US" b="1"/>
              <a:t>Spring Security Annotations</a:t>
            </a:r>
            <a:endParaRPr lang="en-US" altLang="en-US" b="1"/>
          </a:p>
          <a:p>
            <a:pPr lvl="1"/>
            <a:r>
              <a:rPr lang="en-US" altLang="en-US" b="1"/>
              <a:t>@EnableWebSecurity</a:t>
            </a:r>
            <a:r>
              <a:rPr lang="en-US" altLang="en-US"/>
              <a:t> → Enables Spring Security configuration.</a:t>
            </a:r>
            <a:endParaRPr lang="en-US" altLang="en-US"/>
          </a:p>
          <a:p>
            <a:pPr lvl="1"/>
            <a:r>
              <a:rPr lang="en-US" altLang="en-US" b="1"/>
              <a:t>@PreAuthorize </a:t>
            </a:r>
            <a:r>
              <a:rPr lang="en-US" altLang="en-US"/>
              <a:t>→ Checks authorization before method execution using an expression.</a:t>
            </a:r>
            <a:endParaRPr lang="en-US" altLang="en-US"/>
          </a:p>
          <a:p>
            <a:pPr lvl="1"/>
            <a:r>
              <a:rPr lang="en-US" altLang="en-US" b="1"/>
              <a:t>@PostAuthorize</a:t>
            </a:r>
            <a:r>
              <a:rPr lang="en-US" altLang="en-US"/>
              <a:t> → Checks authorization after method execution based on return value.</a:t>
            </a:r>
            <a:endParaRPr lang="en-US" altLang="en-US"/>
          </a:p>
          <a:p>
            <a:pPr lvl="1"/>
            <a:r>
              <a:rPr lang="en-US" altLang="en-US" b="1"/>
              <a:t>@Secured</a:t>
            </a:r>
            <a:r>
              <a:rPr lang="en-US" altLang="en-US"/>
              <a:t> → Restricts access to a method for specific roles.</a:t>
            </a:r>
            <a:endParaRPr lang="en-US" altLang="en-US"/>
          </a:p>
          <a:p>
            <a:pPr lvl="1"/>
            <a:r>
              <a:rPr lang="en-US" altLang="en-US" b="1"/>
              <a:t>@RolesAllowed</a:t>
            </a:r>
            <a:r>
              <a:rPr lang="en-US" altLang="en-US"/>
              <a:t> → Java-standard annotation for role-based method access.</a:t>
            </a:r>
            <a:endParaRPr lang="en-US" altLang="en-US"/>
          </a:p>
          <a:p>
            <a:r>
              <a:rPr lang="en-US" altLang="en-US" b="1"/>
              <a:t>Spring Caching Annotations</a:t>
            </a:r>
            <a:endParaRPr lang="en-US" altLang="en-US"/>
          </a:p>
          <a:p>
            <a:pPr lvl="1"/>
            <a:r>
              <a:rPr lang="en-US" altLang="en-US" b="1"/>
              <a:t>@EnableCaching</a:t>
            </a:r>
            <a:r>
              <a:rPr lang="en-US" altLang="en-US"/>
              <a:t> → Enables Spring’s caching support.</a:t>
            </a:r>
            <a:endParaRPr lang="en-US" altLang="en-US"/>
          </a:p>
          <a:p>
            <a:pPr lvl="1"/>
            <a:r>
              <a:rPr lang="en-US" altLang="en-US" b="1"/>
              <a:t>@Cacheable</a:t>
            </a:r>
            <a:r>
              <a:rPr lang="en-US" altLang="en-US"/>
              <a:t> → Caches the result of a method to avoid repeated computation.</a:t>
            </a:r>
            <a:endParaRPr lang="en-US" altLang="en-US"/>
          </a:p>
          <a:p>
            <a:pPr lvl="1"/>
            <a:r>
              <a:rPr lang="en-US" altLang="en-US" b="1"/>
              <a:t>@CachePut</a:t>
            </a:r>
            <a:r>
              <a:rPr lang="en-US" altLang="en-US"/>
              <a:t> → Updates the cache while still executing the method.</a:t>
            </a:r>
            <a:endParaRPr lang="en-US" altLang="en-US"/>
          </a:p>
          <a:p>
            <a:pPr lvl="1"/>
            <a:r>
              <a:rPr lang="en-US" altLang="en-US" b="1"/>
              <a:t>@CacheEvict</a:t>
            </a:r>
            <a:r>
              <a:rPr lang="en-US" altLang="en-US"/>
              <a:t> → Removes one or more entries from the cache.</a:t>
            </a:r>
            <a:endParaRPr lang="en-US" alt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 name="Picture 3"/>
          <p:cNvPicPr/>
          <p:nvPr/>
        </p:nvPicPr>
        <p:blipFill>
          <a:blip r:embed="rId1"/>
          <a:stretch>
            <a:fillRect/>
          </a:stretch>
        </p:blipFill>
        <p:spPr>
          <a:xfrm>
            <a:off x="-635" y="-635"/>
            <a:ext cx="12192635" cy="6858635"/>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normAutofit/>
          </a:bodyPr>
          <a:p>
            <a:pPr algn="ctr"/>
            <a:r>
              <a:rPr lang="en-US" altLang="en-US" b="1"/>
              <a:t>What are Spring Boot Starters?</a:t>
            </a:r>
            <a:endParaRPr lang="en-US" altLang="en-US" b="1"/>
          </a:p>
        </p:txBody>
      </p:sp>
      <p:sp>
        <p:nvSpPr>
          <p:cNvPr id="6" name="Text Placeholder 5"/>
          <p:cNvSpPr>
            <a:spLocks noGrp="1"/>
          </p:cNvSpPr>
          <p:nvPr>
            <p:ph type="body" idx="1"/>
          </p:nvPr>
        </p:nvSpPr>
        <p:spPr/>
        <p:txBody>
          <a:bodyPr/>
          <a:p>
            <a:r>
              <a:rPr lang="en-US" altLang="en-US"/>
              <a:t>What are Starters?</a:t>
            </a:r>
            <a:endParaRPr lang="en-US" altLang="en-US"/>
          </a:p>
        </p:txBody>
      </p:sp>
      <p:sp>
        <p:nvSpPr>
          <p:cNvPr id="3" name="Content Placeholder 2"/>
          <p:cNvSpPr>
            <a:spLocks noGrp="1"/>
          </p:cNvSpPr>
          <p:nvPr>
            <p:ph sz="half" idx="2"/>
          </p:nvPr>
        </p:nvSpPr>
        <p:spPr/>
        <p:txBody>
          <a:bodyPr>
            <a:normAutofit fontScale="70000"/>
          </a:bodyPr>
          <a:p>
            <a:r>
              <a:rPr lang="en-US" altLang="en-US"/>
              <a:t>Starters are pre-configured dependencies provided by Spring Boot to simplify project setup.</a:t>
            </a:r>
            <a:endParaRPr lang="en-US" altLang="en-US"/>
          </a:p>
          <a:p>
            <a:r>
              <a:rPr lang="en-US" altLang="en-US"/>
              <a:t>Each starter brings in a group of related libraries for a specific feature, so you don’t need to search and configure each library manually.They are convenient entry points for different Spring technologies.</a:t>
            </a:r>
            <a:endParaRPr lang="en-US" altLang="en-US"/>
          </a:p>
          <a:p>
            <a:r>
              <a:rPr lang="en-US" altLang="en-US"/>
              <a:t>Instead of figuring out which library versions to use, you just include one starter, and Spring Boot brings in the right libraries with compatible versions.</a:t>
            </a:r>
            <a:endParaRPr lang="en-US" altLang="en-US"/>
          </a:p>
        </p:txBody>
      </p:sp>
      <p:sp>
        <p:nvSpPr>
          <p:cNvPr id="7" name="Text Placeholder 6"/>
          <p:cNvSpPr>
            <a:spLocks noGrp="1"/>
          </p:cNvSpPr>
          <p:nvPr>
            <p:ph type="body" sz="quarter" idx="3"/>
          </p:nvPr>
        </p:nvSpPr>
        <p:spPr/>
        <p:txBody>
          <a:bodyPr/>
          <a:p>
            <a:r>
              <a:rPr lang="en-US" altLang="en-US"/>
              <a:t>Why do we need Starters?</a:t>
            </a:r>
            <a:endParaRPr lang="en-US" altLang="en-US"/>
          </a:p>
        </p:txBody>
      </p:sp>
      <p:sp>
        <p:nvSpPr>
          <p:cNvPr id="8" name="Content Placeholder 7"/>
          <p:cNvSpPr>
            <a:spLocks noGrp="1"/>
          </p:cNvSpPr>
          <p:nvPr>
            <p:ph sz="quarter" idx="4"/>
          </p:nvPr>
        </p:nvSpPr>
        <p:spPr/>
        <p:txBody>
          <a:bodyPr/>
          <a:p>
            <a:r>
              <a:rPr lang="en-US" altLang="en-US" sz="2400"/>
              <a:t>Saves time – No need to search for individual dependencies.</a:t>
            </a:r>
            <a:endParaRPr lang="en-US" altLang="en-US" sz="2400"/>
          </a:p>
          <a:p>
            <a:r>
              <a:rPr lang="en-US" altLang="en-US" sz="2400"/>
              <a:t>No version conflicts – Spring Boot manages versions.</a:t>
            </a:r>
            <a:endParaRPr lang="en-US" altLang="en-US" sz="2400"/>
          </a:p>
          <a:p>
            <a:r>
              <a:rPr lang="en-US" altLang="en-US" sz="2400"/>
              <a:t>Standardized setup – Everyone uses the same dependency sets.</a:t>
            </a:r>
            <a:endParaRPr lang="en-US" altLang="en-US" sz="2400"/>
          </a:p>
          <a:p>
            <a:r>
              <a:rPr lang="en-US" altLang="en-US" sz="2400"/>
              <a:t>Convention over configuration – sensible defaults are included.</a:t>
            </a:r>
            <a:endParaRPr lang="en-US" altLang="en-US" sz="240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2870835" y="194310"/>
            <a:ext cx="6744970" cy="1162050"/>
          </a:xfrm>
        </p:spPr>
        <p:txBody>
          <a:bodyPr anchor="ctr" anchorCtr="0"/>
          <a:p>
            <a:pPr algn="ctr"/>
            <a:r>
              <a:rPr lang="en-US" sz="3600"/>
              <a:t>Types of Starters</a:t>
            </a:r>
            <a:endParaRPr lang="en-US" sz="3600"/>
          </a:p>
        </p:txBody>
      </p:sp>
      <p:pic>
        <p:nvPicPr>
          <p:cNvPr id="17" name="Content Placeholder 16" descr="ChatGPT Image Sep 7, 2025, 06_33_54 PM"/>
          <p:cNvPicPr>
            <a:picLocks noChangeAspect="1"/>
          </p:cNvPicPr>
          <p:nvPr>
            <p:ph idx="1"/>
          </p:nvPr>
        </p:nvPicPr>
        <p:blipFill>
          <a:blip r:embed="rId1"/>
          <a:srcRect l="-227" r="192"/>
          <a:stretch>
            <a:fillRect/>
          </a:stretch>
        </p:blipFill>
        <p:spPr>
          <a:xfrm>
            <a:off x="5171440" y="1435100"/>
            <a:ext cx="6332855" cy="4221480"/>
          </a:xfrm>
        </p:spPr>
      </p:pic>
      <p:sp>
        <p:nvSpPr>
          <p:cNvPr id="16" name="Text Placeholder 15"/>
          <p:cNvSpPr>
            <a:spLocks noGrp="1"/>
          </p:cNvSpPr>
          <p:nvPr>
            <p:ph type="body" sz="half" idx="2"/>
          </p:nvPr>
        </p:nvSpPr>
        <p:spPr/>
        <p:txBody>
          <a:bodyPr>
            <a:normAutofit lnSpcReduction="20000"/>
          </a:bodyPr>
          <a:p>
            <a:pPr marL="342900" lvl="0" indent="-342900" algn="l">
              <a:buFont typeface="Arial" panose="020B0604020202020204" pitchFamily="34" charset="0"/>
              <a:buAutoNum type="arabicPeriod"/>
            </a:pPr>
            <a:r>
              <a:rPr lang="en-US" altLang="en-US"/>
              <a:t>Core Starter: Essential Spring Boot features, logging, YAML config.</a:t>
            </a:r>
            <a:endParaRPr lang="en-US" altLang="en-US"/>
          </a:p>
          <a:p>
            <a:pPr marL="342900" lvl="0" indent="-342900" algn="l">
              <a:buFont typeface="Arial" panose="020B0604020202020204" pitchFamily="34" charset="0"/>
              <a:buAutoNum type="arabicPeriod"/>
            </a:pPr>
            <a:r>
              <a:rPr lang="en-US" altLang="en-US"/>
              <a:t>Web Starter: REST APIs and web apps (MVC, Tomcat, Jackson).</a:t>
            </a:r>
            <a:endParaRPr lang="en-US" altLang="en-US"/>
          </a:p>
          <a:p>
            <a:pPr marL="342900" lvl="0" indent="-342900" algn="l">
              <a:buFont typeface="Arial" panose="020B0604020202020204" pitchFamily="34" charset="0"/>
              <a:buAutoNum type="arabicPeriod"/>
            </a:pPr>
            <a:r>
              <a:rPr lang="en-US" altLang="en-US"/>
              <a:t>Data JPA Starter: JPA/Hibernate ORM for relational databases.</a:t>
            </a:r>
            <a:endParaRPr lang="en-US" altLang="en-US"/>
          </a:p>
          <a:p>
            <a:pPr marL="342900" lvl="0" indent="-342900" algn="l">
              <a:buFont typeface="Arial" panose="020B0604020202020204" pitchFamily="34" charset="0"/>
              <a:buAutoNum type="arabicPeriod"/>
            </a:pPr>
            <a:r>
              <a:rPr lang="en-US" altLang="en-US"/>
              <a:t>JDBC Starter: Direct JDBC connection, no ORM.</a:t>
            </a:r>
            <a:endParaRPr lang="en-US" altLang="en-US"/>
          </a:p>
          <a:p>
            <a:pPr marL="342900" lvl="0" indent="-342900" algn="l">
              <a:buFont typeface="Arial" panose="020B0604020202020204" pitchFamily="34" charset="0"/>
              <a:buAutoNum type="arabicPeriod"/>
            </a:pPr>
            <a:r>
              <a:rPr lang="en-US" altLang="en-US"/>
              <a:t>MongoDB Starter: NoSQL data access via MongoDB.</a:t>
            </a:r>
            <a:endParaRPr lang="en-US" altLang="en-US"/>
          </a:p>
          <a:p>
            <a:pPr marL="342900" lvl="0" indent="-342900" algn="l">
              <a:buFont typeface="Arial" panose="020B0604020202020204" pitchFamily="34" charset="0"/>
              <a:buAutoNum type="arabicPeriod"/>
            </a:pPr>
            <a:r>
              <a:rPr lang="en-US" altLang="en-US"/>
              <a:t>Security Starter: Authentication and role-based authorization.</a:t>
            </a:r>
            <a:endParaRPr lang="en-US" altLang="en-US"/>
          </a:p>
          <a:p>
            <a:pPr marL="342900" lvl="0" indent="-342900" algn="l">
              <a:buFont typeface="Arial" panose="020B0604020202020204" pitchFamily="34" charset="0"/>
              <a:buAutoNum type="arabicPeriod"/>
            </a:pPr>
            <a:r>
              <a:rPr lang="en-US" altLang="en-US"/>
              <a:t>Actuator Starter: Production monitoring (health, metrics, info).</a:t>
            </a:r>
            <a:endParaRPr lang="en-US" altLang="en-US"/>
          </a:p>
          <a:p>
            <a:pPr marL="342900" lvl="0" indent="-342900" algn="l">
              <a:buFont typeface="Arial" panose="020B0604020202020204" pitchFamily="34" charset="0"/>
              <a:buAutoNum type="arabicPeriod"/>
            </a:pPr>
            <a:r>
              <a:rPr lang="en-US" altLang="en-US"/>
              <a:t>Test Starter: Bundled test tools (JUnit, Mockito, AssertJ).</a:t>
            </a:r>
            <a:endParaRPr lang="en-US" alt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Title 4"/>
          <p:cNvSpPr>
            <a:spLocks noGrp="1"/>
          </p:cNvSpPr>
          <p:nvPr>
            <p:ph type="title"/>
          </p:nvPr>
        </p:nvSpPr>
        <p:spPr/>
        <p:txBody>
          <a:bodyPr/>
          <a:p>
            <a:pPr algn="ctr"/>
            <a:r>
              <a:rPr lang="en-US" altLang="en-US" b="1"/>
              <a:t>Web &amp; MVC Starters</a:t>
            </a:r>
            <a:endParaRPr lang="en-US" altLang="en-US" b="1"/>
          </a:p>
        </p:txBody>
      </p:sp>
      <p:graphicFrame>
        <p:nvGraphicFramePr>
          <p:cNvPr id="7" name="Content Placeholder 6"/>
          <p:cNvGraphicFramePr/>
          <p:nvPr>
            <p:ph sz="half" idx="1"/>
            <p:custDataLst>
              <p:tags r:id="rId1"/>
            </p:custDataLst>
          </p:nvPr>
        </p:nvGraphicFramePr>
        <p:xfrm>
          <a:off x="838200" y="1825625"/>
          <a:ext cx="10516235" cy="2645410"/>
        </p:xfrm>
        <a:graphic>
          <a:graphicData uri="http://schemas.openxmlformats.org/drawingml/2006/table">
            <a:tbl>
              <a:tblPr firstRow="1" bandRow="1">
                <a:tableStyleId>{5C22544A-7EE6-4342-B048-85BDC9FD1C3A}</a:tableStyleId>
              </a:tblPr>
              <a:tblGrid>
                <a:gridCol w="2296795"/>
                <a:gridCol w="8219440"/>
              </a:tblGrid>
              <a:tr h="365760">
                <a:tc>
                  <a:txBody>
                    <a:bodyPr/>
                    <a:p>
                      <a:pPr algn="ctr"/>
                      <a:r>
                        <a:rPr sz="2400"/>
                        <a:t>Starter</a:t>
                      </a:r>
                      <a:endParaRPr sz="2400"/>
                    </a:p>
                  </a:txBody>
                  <a:tcPr marL="0" marR="0" marT="0" marB="0" anchor="ctr" anchorCtr="0"/>
                </a:tc>
                <a:tc>
                  <a:txBody>
                    <a:bodyPr/>
                    <a:p>
                      <a:pPr algn="ctr"/>
                      <a:r>
                        <a:rPr sz="2400"/>
                        <a:t>Purpose</a:t>
                      </a:r>
                      <a:endParaRPr sz="2400"/>
                    </a:p>
                  </a:txBody>
                  <a:tcPr marL="0" marR="0" marT="0" marB="0" anchor="ctr" anchorCtr="0"/>
                </a:tc>
              </a:tr>
              <a:tr h="731520">
                <a:tc>
                  <a:txBody>
                    <a:bodyPr/>
                    <a:p>
                      <a:pPr algn="ctr"/>
                      <a:r>
                        <a:rPr sz="2400"/>
                        <a:t>spring-boot-starter-web</a:t>
                      </a:r>
                      <a:endParaRPr sz="2400"/>
                    </a:p>
                  </a:txBody>
                  <a:tcPr marL="0" marR="0" marT="0" marB="0" anchor="ctr" anchorCtr="0"/>
                </a:tc>
                <a:tc>
                  <a:txBody>
                    <a:bodyPr/>
                    <a:p>
                      <a:pPr algn="ctr"/>
                      <a:r>
                        <a:rPr sz="2400"/>
                        <a:t>Build REST APIs &amp; MVC apps (Tomcat + Spring MVC + Jackson)</a:t>
                      </a:r>
                      <a:endParaRPr sz="2400"/>
                    </a:p>
                  </a:txBody>
                  <a:tcPr marL="0" marR="0" marT="0" marB="0" anchor="ctr" anchorCtr="0"/>
                </a:tc>
              </a:tr>
              <a:tr h="774065">
                <a:tc>
                  <a:txBody>
                    <a:bodyPr/>
                    <a:p>
                      <a:pPr algn="ctr"/>
                      <a:r>
                        <a:rPr sz="2400"/>
                        <a:t>spring-boot-starter-thymeleaf</a:t>
                      </a:r>
                      <a:endParaRPr sz="2400"/>
                    </a:p>
                  </a:txBody>
                  <a:tcPr marL="0" marR="0" marT="0" marB="0" anchor="ctr" anchorCtr="0"/>
                </a:tc>
                <a:tc>
                  <a:txBody>
                    <a:bodyPr/>
                    <a:p>
                      <a:pPr algn="ctr"/>
                      <a:r>
                        <a:rPr sz="2400"/>
                        <a:t>Server-side HTML rendering with Thymeleaf</a:t>
                      </a:r>
                      <a:endParaRPr sz="2400"/>
                    </a:p>
                  </a:txBody>
                  <a:tcPr marL="0" marR="0" marT="0" marB="0" anchor="ctr" anchorCtr="0"/>
                </a:tc>
              </a:tr>
              <a:tr h="774065">
                <a:tc>
                  <a:txBody>
                    <a:bodyPr/>
                    <a:p>
                      <a:pPr algn="ctr"/>
                      <a:r>
                        <a:rPr sz="2400"/>
                        <a:t>spring-boot-starter-validation</a:t>
                      </a:r>
                      <a:endParaRPr sz="2400"/>
                    </a:p>
                  </a:txBody>
                  <a:tcPr marL="0" marR="0" marT="0" marB="0" anchor="ctr" anchorCtr="0"/>
                </a:tc>
                <a:tc>
                  <a:txBody>
                    <a:bodyPr/>
                    <a:p>
                      <a:pPr algn="ctr"/>
                      <a:r>
                        <a:rPr sz="2400"/>
                        <a:t>Bean Validation support (JSR-380 / Hibernate Validator)</a:t>
                      </a:r>
                      <a:endParaRPr sz="2400"/>
                    </a:p>
                  </a:txBody>
                  <a:tcPr marL="0" marR="0" marT="0" marB="0" anchor="ctr" anchorCtr="0"/>
                </a:tc>
              </a:tr>
            </a:tbl>
          </a:graphicData>
        </a:graphic>
      </p:graphicFrame>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 name="Title 8"/>
          <p:cNvSpPr>
            <a:spLocks noGrp="1"/>
          </p:cNvSpPr>
          <p:nvPr>
            <p:ph type="title"/>
          </p:nvPr>
        </p:nvSpPr>
        <p:spPr/>
        <p:txBody>
          <a:bodyPr/>
          <a:p>
            <a:pPr algn="ctr"/>
            <a:r>
              <a:rPr lang="en-US" altLang="en-US" b="1"/>
              <a:t>Data &amp; Security Starters</a:t>
            </a:r>
            <a:endParaRPr lang="en-US" altLang="en-US" b="1"/>
          </a:p>
        </p:txBody>
      </p:sp>
      <p:graphicFrame>
        <p:nvGraphicFramePr>
          <p:cNvPr id="10" name="Content Placeholder 9"/>
          <p:cNvGraphicFramePr/>
          <p:nvPr>
            <p:ph idx="1"/>
            <p:custDataLst>
              <p:tags r:id="rId1"/>
            </p:custDataLst>
          </p:nvPr>
        </p:nvGraphicFramePr>
        <p:xfrm>
          <a:off x="838200" y="1825625"/>
          <a:ext cx="10515600" cy="2645410"/>
        </p:xfrm>
        <a:graphic>
          <a:graphicData uri="http://schemas.openxmlformats.org/drawingml/2006/table">
            <a:tbl>
              <a:tblPr firstRow="1" bandRow="1">
                <a:tableStyleId>{5C22544A-7EE6-4342-B048-85BDC9FD1C3A}</a:tableStyleId>
              </a:tblPr>
              <a:tblGrid>
                <a:gridCol w="2296795"/>
                <a:gridCol w="8218805"/>
              </a:tblGrid>
              <a:tr h="365760">
                <a:tc>
                  <a:txBody>
                    <a:bodyPr/>
                    <a:p>
                      <a:pPr algn="ctr"/>
                      <a:r>
                        <a:rPr sz="2400"/>
                        <a:t>Starter</a:t>
                      </a:r>
                      <a:endParaRPr sz="2400"/>
                    </a:p>
                  </a:txBody>
                  <a:tcPr marL="0" marR="0" marT="0" marB="0" anchor="ctr" anchorCtr="0"/>
                </a:tc>
                <a:tc>
                  <a:txBody>
                    <a:bodyPr/>
                    <a:p>
                      <a:pPr algn="ctr"/>
                      <a:r>
                        <a:rPr sz="2400"/>
                        <a:t>Purpose</a:t>
                      </a:r>
                      <a:endParaRPr sz="2400"/>
                    </a:p>
                  </a:txBody>
                  <a:tcPr marL="0" marR="0" marT="0" marB="0" anchor="ctr" anchorCtr="0"/>
                </a:tc>
              </a:tr>
              <a:tr h="731520">
                <a:tc>
                  <a:txBody>
                    <a:bodyPr/>
                    <a:p>
                      <a:pPr algn="ctr"/>
                      <a:r>
                        <a:rPr sz="2400"/>
                        <a:t>spring-boot-starter-data-jpa</a:t>
                      </a:r>
                      <a:endParaRPr sz="2400"/>
                    </a:p>
                  </a:txBody>
                  <a:tcPr marL="0" marR="0" marT="0" marB="0" anchor="ctr" anchorCtr="0"/>
                </a:tc>
                <a:tc>
                  <a:txBody>
                    <a:bodyPr/>
                    <a:p>
                      <a:pPr algn="ctr"/>
                      <a:r>
                        <a:rPr sz="2400"/>
                        <a:t>Database access using JPA &amp; Hibernate</a:t>
                      </a:r>
                      <a:endParaRPr sz="2400"/>
                    </a:p>
                  </a:txBody>
                  <a:tcPr marL="0" marR="0" marT="0" marB="0" anchor="ctr" anchorCtr="0"/>
                </a:tc>
              </a:tr>
              <a:tr h="774065">
                <a:tc>
                  <a:txBody>
                    <a:bodyPr/>
                    <a:p>
                      <a:pPr algn="ctr"/>
                      <a:r>
                        <a:rPr sz="2400"/>
                        <a:t>spring-boot-starter-security</a:t>
                      </a:r>
                      <a:endParaRPr sz="2400"/>
                    </a:p>
                  </a:txBody>
                  <a:tcPr marL="0" marR="0" marT="0" marB="0" anchor="ctr" anchorCtr="0"/>
                </a:tc>
                <a:tc>
                  <a:txBody>
                    <a:bodyPr/>
                    <a:p>
                      <a:pPr algn="ctr"/>
                      <a:r>
                        <a:rPr sz="2400"/>
                        <a:t>Authentication &amp; authorization</a:t>
                      </a:r>
                      <a:endParaRPr sz="2400"/>
                    </a:p>
                  </a:txBody>
                  <a:tcPr marL="0" marR="0" marT="0" marB="0" anchor="ctr" anchorCtr="0"/>
                </a:tc>
              </a:tr>
              <a:tr h="774065">
                <a:tc>
                  <a:txBody>
                    <a:bodyPr/>
                    <a:p>
                      <a:pPr algn="ctr"/>
                      <a:r>
                        <a:rPr sz="2400"/>
                        <a:t>spring-boot-starter-cache</a:t>
                      </a:r>
                      <a:endParaRPr sz="2400"/>
                    </a:p>
                  </a:txBody>
                  <a:tcPr marL="0" marR="0" marT="0" marB="0" anchor="ctr" anchorCtr="0"/>
                </a:tc>
                <a:tc>
                  <a:txBody>
                    <a:bodyPr/>
                    <a:p>
                      <a:pPr algn="ctr"/>
                      <a:r>
                        <a:rPr sz="2400"/>
                        <a:t>Caching support for apps</a:t>
                      </a:r>
                      <a:endParaRPr sz="2400"/>
                    </a:p>
                  </a:txBody>
                  <a:tcPr marL="0" marR="0" marT="0" marB="0" anchor="ctr" anchorCtr="0"/>
                </a:tc>
              </a:tr>
            </a:tbl>
          </a:graphicData>
        </a:graphic>
      </p:graphicFrame>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 name="Title 8"/>
          <p:cNvSpPr>
            <a:spLocks noGrp="1"/>
          </p:cNvSpPr>
          <p:nvPr>
            <p:ph type="title"/>
          </p:nvPr>
        </p:nvSpPr>
        <p:spPr/>
        <p:txBody>
          <a:bodyPr/>
          <a:p>
            <a:pPr algn="ctr"/>
            <a:r>
              <a:rPr lang="en-US" altLang="en-US" b="1"/>
              <a:t>Testing &amp; Utility Starters</a:t>
            </a:r>
            <a:endParaRPr lang="en-US" altLang="en-US" b="1"/>
          </a:p>
        </p:txBody>
      </p:sp>
      <p:graphicFrame>
        <p:nvGraphicFramePr>
          <p:cNvPr id="10" name="Content Placeholder 9"/>
          <p:cNvGraphicFramePr/>
          <p:nvPr>
            <p:ph idx="1"/>
            <p:custDataLst>
              <p:tags r:id="rId1"/>
            </p:custDataLst>
          </p:nvPr>
        </p:nvGraphicFramePr>
        <p:xfrm>
          <a:off x="838200" y="1825625"/>
          <a:ext cx="10515600" cy="2645410"/>
        </p:xfrm>
        <a:graphic>
          <a:graphicData uri="http://schemas.openxmlformats.org/drawingml/2006/table">
            <a:tbl>
              <a:tblPr firstRow="1" bandRow="1">
                <a:tableStyleId>{5C22544A-7EE6-4342-B048-85BDC9FD1C3A}</a:tableStyleId>
              </a:tblPr>
              <a:tblGrid>
                <a:gridCol w="2296795"/>
                <a:gridCol w="8218805"/>
              </a:tblGrid>
              <a:tr h="365760">
                <a:tc>
                  <a:txBody>
                    <a:bodyPr/>
                    <a:p>
                      <a:pPr algn="ctr"/>
                      <a:r>
                        <a:rPr sz="2400"/>
                        <a:t>Starter</a:t>
                      </a:r>
                      <a:endParaRPr sz="2400"/>
                    </a:p>
                  </a:txBody>
                  <a:tcPr marL="0" marR="0" marT="0" marB="0" anchor="ctr" anchorCtr="0"/>
                </a:tc>
                <a:tc>
                  <a:txBody>
                    <a:bodyPr/>
                    <a:p>
                      <a:pPr algn="ctr"/>
                      <a:r>
                        <a:rPr sz="2400"/>
                        <a:t>Purpose</a:t>
                      </a:r>
                      <a:endParaRPr sz="2400"/>
                    </a:p>
                  </a:txBody>
                  <a:tcPr marL="0" marR="0" marT="0" marB="0" anchor="ctr" anchorCtr="0"/>
                </a:tc>
              </a:tr>
              <a:tr h="731520">
                <a:tc>
                  <a:txBody>
                    <a:bodyPr/>
                    <a:p>
                      <a:pPr algn="ctr"/>
                      <a:r>
                        <a:rPr sz="2400"/>
                        <a:t>spring-boot-starter</a:t>
                      </a:r>
                      <a:r>
                        <a:rPr sz="2400"/>
                        <a:t>-test</a:t>
                      </a:r>
                      <a:endParaRPr sz="2400"/>
                    </a:p>
                  </a:txBody>
                  <a:tcPr marL="0" marR="0" marT="0" marB="0" anchor="ctr" anchorCtr="0"/>
                </a:tc>
                <a:tc>
                  <a:txBody>
                    <a:bodyPr/>
                    <a:p>
                      <a:pPr algn="ctr"/>
                      <a:r>
                        <a:rPr sz="2400"/>
                        <a:t>Unit &amp; integration testing (JUnit, Mockito, Spring Test)</a:t>
                      </a:r>
                      <a:endParaRPr sz="2400"/>
                    </a:p>
                  </a:txBody>
                  <a:tcPr marL="0" marR="0" marT="0" marB="0" anchor="ctr" anchorCtr="0"/>
                </a:tc>
              </a:tr>
              <a:tr h="774065">
                <a:tc>
                  <a:txBody>
                    <a:bodyPr/>
                    <a:p>
                      <a:pPr algn="ctr"/>
                      <a:r>
                        <a:rPr sz="2400"/>
                        <a:t>spring-boot-starter-actuator</a:t>
                      </a:r>
                      <a:endParaRPr sz="2400"/>
                    </a:p>
                  </a:txBody>
                  <a:tcPr marL="0" marR="0" marT="0" marB="0" anchor="ctr" anchorCtr="0"/>
                </a:tc>
                <a:tc>
                  <a:txBody>
                    <a:bodyPr/>
                    <a:p>
                      <a:pPr algn="ctr"/>
                      <a:r>
                        <a:rPr sz="2400"/>
                        <a:t>Monitoring &amp; management endpoints (health, metrics)</a:t>
                      </a:r>
                      <a:endParaRPr sz="2400"/>
                    </a:p>
                  </a:txBody>
                  <a:tcPr marL="0" marR="0" marT="0" marB="0" anchor="ctr" anchorCtr="0"/>
                </a:tc>
              </a:tr>
              <a:tr h="774065">
                <a:tc>
                  <a:txBody>
                    <a:bodyPr/>
                    <a:p>
                      <a:pPr algn="ctr"/>
                      <a:r>
                        <a:rPr sz="2400"/>
                        <a:t>spring-boot-starter-mail</a:t>
                      </a:r>
                      <a:endParaRPr sz="2400"/>
                    </a:p>
                  </a:txBody>
                  <a:tcPr marL="0" marR="0" marT="0" marB="0" anchor="ctr" anchorCtr="0"/>
                </a:tc>
                <a:tc>
                  <a:txBody>
                    <a:bodyPr/>
                    <a:p>
                      <a:pPr algn="ctr"/>
                      <a:r>
                        <a:rPr sz="2400"/>
                        <a:t>Email sending support</a:t>
                      </a:r>
                      <a:endParaRPr sz="2400"/>
                    </a:p>
                  </a:txBody>
                  <a:tcPr marL="0" marR="0" marT="0" marB="0" anchor="ctr" anchorCtr="0"/>
                </a:tc>
              </a:tr>
            </a:tbl>
          </a:graphicData>
        </a:graphic>
      </p:graphicFrame>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 name="Picture 3"/>
          <p:cNvPicPr/>
          <p:nvPr/>
        </p:nvPicPr>
        <p:blipFill>
          <a:blip r:embed="rId1"/>
          <a:stretch>
            <a:fillRect/>
          </a:stretch>
        </p:blipFill>
        <p:spPr>
          <a:xfrm>
            <a:off x="-635" y="0"/>
            <a:ext cx="12192635" cy="6858000"/>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noAutofit/>
          </a:bodyPr>
          <a:p>
            <a:pPr algn="ctr"/>
            <a:r>
              <a:rPr lang="en-US" altLang="en-US" sz="3600" b="1"/>
              <a:t>Application Properties / YAML in Spring Boot</a:t>
            </a:r>
            <a:endParaRPr lang="en-US" altLang="en-US" sz="3600" b="1"/>
          </a:p>
        </p:txBody>
      </p:sp>
      <p:sp>
        <p:nvSpPr>
          <p:cNvPr id="4" name="Content Placeholder 3"/>
          <p:cNvSpPr>
            <a:spLocks noGrp="1"/>
          </p:cNvSpPr>
          <p:nvPr>
            <p:ph idx="1"/>
          </p:nvPr>
        </p:nvSpPr>
        <p:spPr/>
        <p:txBody>
          <a:bodyPr/>
          <a:p>
            <a:pPr marL="285750" indent="-285750">
              <a:buFont typeface="Arial" panose="020B0604020202020204" pitchFamily="34" charset="0"/>
              <a:buChar char="•"/>
            </a:pPr>
            <a:r>
              <a:rPr lang="en-US" altLang="en-US" sz="2000" b="1">
                <a:sym typeface="+mn-ea"/>
              </a:rPr>
              <a:t>Defination</a:t>
            </a:r>
            <a:endParaRPr lang="en-US" altLang="en-US" sz="2000">
              <a:sym typeface="+mn-ea"/>
            </a:endParaRPr>
          </a:p>
          <a:p>
            <a:pPr marL="742950" lvl="1" indent="-285750">
              <a:buFont typeface="Arial" panose="020B0604020202020204" pitchFamily="34" charset="0"/>
              <a:buChar char="•"/>
            </a:pPr>
            <a:r>
              <a:rPr lang="en-US" altLang="en-US" sz="2000">
                <a:sym typeface="+mn-ea"/>
              </a:rPr>
              <a:t>In Spring Boot, Application Properties (application.properties) and YAML (application.yml) files are external configuration files used to define application settings such as server ports, database connections, logging levels, and custom properties. They allow developers to centralize configuration, manage environment-specific settings, and avoid hardcoding values in the application code.</a:t>
            </a:r>
            <a:endParaRPr lang="en-US" altLang="en-US" sz="2000">
              <a:sym typeface="+mn-ea"/>
            </a:endParaRPr>
          </a:p>
          <a:p>
            <a:pPr marL="285750" indent="-285750">
              <a:buFont typeface="Arial" panose="020B0604020202020204" pitchFamily="34" charset="0"/>
              <a:buChar char="•"/>
            </a:pPr>
            <a:endParaRPr lang="en-US" altLang="en-US" sz="2000">
              <a:sym typeface="+mn-ea"/>
            </a:endParaRPr>
          </a:p>
          <a:p>
            <a:pPr marL="285750" indent="-285750">
              <a:buFont typeface="Arial" panose="020B0604020202020204" pitchFamily="34" charset="0"/>
              <a:buChar char="•"/>
            </a:pPr>
            <a:r>
              <a:rPr lang="en-US" altLang="en-US" sz="2000" b="1">
                <a:sym typeface="+mn-ea"/>
              </a:rPr>
              <a:t>Key Points</a:t>
            </a:r>
            <a:r>
              <a:rPr lang="en-US" altLang="en-US" sz="2000">
                <a:sym typeface="+mn-ea"/>
              </a:rPr>
              <a:t>:</a:t>
            </a:r>
            <a:endParaRPr lang="en-US" altLang="en-US" sz="2000">
              <a:sym typeface="+mn-ea"/>
            </a:endParaRPr>
          </a:p>
          <a:p>
            <a:pPr marL="742950" lvl="1" indent="-285750">
              <a:buFont typeface="Arial" panose="020B0604020202020204" pitchFamily="34" charset="0"/>
              <a:buChar char="•"/>
            </a:pPr>
            <a:r>
              <a:rPr lang="en-US" altLang="en-US" sz="2000">
                <a:sym typeface="+mn-ea"/>
              </a:rPr>
              <a:t>application.properties → simple key-value pairs (key=value)</a:t>
            </a:r>
            <a:endParaRPr lang="en-US" altLang="en-US" sz="2000">
              <a:sym typeface="+mn-ea"/>
            </a:endParaRPr>
          </a:p>
          <a:p>
            <a:pPr marL="742950" lvl="1" indent="-285750">
              <a:buFont typeface="Arial" panose="020B0604020202020204" pitchFamily="34" charset="0"/>
              <a:buChar char="•"/>
            </a:pPr>
            <a:r>
              <a:rPr lang="en-US" altLang="en-US" sz="2000">
                <a:sym typeface="+mn-ea"/>
              </a:rPr>
              <a:t>application.yml → hierarchical and human-readable format (key: value)</a:t>
            </a:r>
            <a:endParaRPr lang="en-US" altLang="en-US" sz="2000">
              <a:sym typeface="+mn-ea"/>
            </a:endParaRPr>
          </a:p>
          <a:p>
            <a:pPr marL="742950" lvl="1" indent="-285750">
              <a:buFont typeface="Arial" panose="020B0604020202020204" pitchFamily="34" charset="0"/>
              <a:buChar char="•"/>
            </a:pPr>
            <a:r>
              <a:rPr lang="en-US" altLang="en-US" sz="2000">
                <a:sym typeface="+mn-ea"/>
              </a:rPr>
              <a:t>Both support Spring Profiles for environment-specific configurations.</a:t>
            </a:r>
            <a:endParaRPr lang="en-US" altLang="en-US" sz="2000">
              <a:sym typeface="+mn-ea"/>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pPr algn="ctr"/>
            <a:r>
              <a:rPr lang="en-US" altLang="en-US" b="1"/>
              <a:t>Difference Between Properties and YAML</a:t>
            </a:r>
            <a:endParaRPr lang="en-US" altLang="en-US" b="1"/>
          </a:p>
        </p:txBody>
      </p:sp>
      <p:graphicFrame>
        <p:nvGraphicFramePr>
          <p:cNvPr id="4" name="Content Placeholder 3"/>
          <p:cNvGraphicFramePr/>
          <p:nvPr>
            <p:ph idx="1"/>
          </p:nvPr>
        </p:nvGraphicFramePr>
        <p:xfrm>
          <a:off x="838200" y="1825625"/>
          <a:ext cx="10515600" cy="3048000"/>
        </p:xfrm>
        <a:graphic>
          <a:graphicData uri="http://schemas.openxmlformats.org/drawingml/2006/table">
            <a:tbl>
              <a:tblPr firstRow="1" bandRow="1">
                <a:tableStyleId>{5C22544A-7EE6-4342-B048-85BDC9FD1C3A}</a:tableStyleId>
              </a:tblPr>
              <a:tblGrid>
                <a:gridCol w="3505200"/>
                <a:gridCol w="3505200"/>
                <a:gridCol w="3505200"/>
              </a:tblGrid>
              <a:tr h="381000">
                <a:tc>
                  <a:txBody>
                    <a:bodyPr/>
                    <a:p>
                      <a:pPr algn="ctr"/>
                      <a:r>
                        <a:rPr sz="2400" b="1"/>
                        <a:t>Feature / Aspect</a:t>
                      </a:r>
                      <a:endParaRPr sz="2400" b="1"/>
                    </a:p>
                  </a:txBody>
                  <a:tcPr marL="0" marR="0" marT="0" marB="0" anchor="ctr" anchorCtr="0"/>
                </a:tc>
                <a:tc>
                  <a:txBody>
                    <a:bodyPr/>
                    <a:p>
                      <a:pPr algn="ctr"/>
                      <a:r>
                        <a:rPr sz="2400" b="1"/>
                        <a:t>application.properties</a:t>
                      </a:r>
                      <a:endParaRPr sz="2400" b="1"/>
                    </a:p>
                  </a:txBody>
                  <a:tcPr marL="0" marR="0" marT="0" marB="0" anchor="ctr" anchorCtr="0"/>
                </a:tc>
                <a:tc>
                  <a:txBody>
                    <a:bodyPr/>
                    <a:p>
                      <a:pPr algn="ctr"/>
                      <a:r>
                        <a:rPr sz="2400" b="1"/>
                        <a:t>application.yml</a:t>
                      </a:r>
                      <a:endParaRPr sz="2400" b="1"/>
                    </a:p>
                  </a:txBody>
                  <a:tcPr marL="0" marR="0" marT="0" marB="0" anchor="ctr" anchorCtr="0"/>
                </a:tc>
              </a:tr>
              <a:tr h="381000">
                <a:tc>
                  <a:txBody>
                    <a:bodyPr/>
                    <a:p>
                      <a:pPr algn="ctr"/>
                      <a:r>
                        <a:rPr sz="2400"/>
                        <a:t>Format</a:t>
                      </a:r>
                      <a:endParaRPr sz="2400"/>
                    </a:p>
                  </a:txBody>
                  <a:tcPr marL="0" marR="0" marT="0" marB="0" anchor="ctr" anchorCtr="0"/>
                </a:tc>
                <a:tc>
                  <a:txBody>
                    <a:bodyPr/>
                    <a:p>
                      <a:pPr algn="ctr"/>
                      <a:r>
                        <a:rPr sz="2400"/>
                        <a:t>Key-Value (key=value)</a:t>
                      </a:r>
                      <a:endParaRPr sz="2400"/>
                    </a:p>
                  </a:txBody>
                  <a:tcPr marL="0" marR="0" marT="0" marB="0" anchor="ctr" anchorCtr="0"/>
                </a:tc>
                <a:tc>
                  <a:txBody>
                    <a:bodyPr/>
                    <a:p>
                      <a:pPr algn="ctr"/>
                      <a:r>
                        <a:rPr sz="2400"/>
                        <a:t>Hierarchical, structured (key: value)</a:t>
                      </a:r>
                      <a:endParaRPr sz="2400"/>
                    </a:p>
                  </a:txBody>
                  <a:tcPr marL="0" marR="0" marT="0" marB="0" anchor="ctr" anchorCtr="0"/>
                </a:tc>
              </a:tr>
              <a:tr h="381000">
                <a:tc>
                  <a:txBody>
                    <a:bodyPr/>
                    <a:p>
                      <a:pPr algn="ctr"/>
                      <a:r>
                        <a:rPr sz="2400"/>
                        <a:t>Readability</a:t>
                      </a:r>
                      <a:endParaRPr sz="2400"/>
                    </a:p>
                  </a:txBody>
                  <a:tcPr marL="0" marR="0" marT="0" marB="0" anchor="ctr" anchorCtr="0"/>
                </a:tc>
                <a:tc>
                  <a:txBody>
                    <a:bodyPr/>
                    <a:p>
                      <a:pPr algn="ctr"/>
                      <a:r>
                        <a:rPr sz="2400"/>
                        <a:t>Simple for small apps</a:t>
                      </a:r>
                      <a:endParaRPr sz="2400"/>
                    </a:p>
                  </a:txBody>
                  <a:tcPr marL="0" marR="0" marT="0" marB="0" anchor="ctr" anchorCtr="0"/>
                </a:tc>
                <a:tc>
                  <a:txBody>
                    <a:bodyPr/>
                    <a:p>
                      <a:pPr algn="ctr"/>
                      <a:r>
                        <a:rPr sz="2400"/>
                        <a:t>Better for complex/nested configurations</a:t>
                      </a:r>
                      <a:endParaRPr sz="2400"/>
                    </a:p>
                  </a:txBody>
                  <a:tcPr marL="0" marR="0" marT="0" marB="0" anchor="ctr" anchorCtr="0"/>
                </a:tc>
              </a:tr>
              <a:tr h="381000">
                <a:tc>
                  <a:txBody>
                    <a:bodyPr/>
                    <a:p>
                      <a:pPr algn="ctr"/>
                      <a:r>
                        <a:rPr sz="2400"/>
                        <a:t>Ease of Use</a:t>
                      </a:r>
                      <a:endParaRPr sz="2400"/>
                    </a:p>
                  </a:txBody>
                  <a:tcPr marL="0" marR="0" marT="0" marB="0" anchor="ctr" anchorCtr="0"/>
                </a:tc>
                <a:tc>
                  <a:txBody>
                    <a:bodyPr/>
                    <a:p>
                      <a:pPr algn="ctr"/>
                      <a:r>
                        <a:rPr sz="2400"/>
                        <a:t>Easy for beginners</a:t>
                      </a:r>
                      <a:endParaRPr sz="2400"/>
                    </a:p>
                  </a:txBody>
                  <a:tcPr marL="0" marR="0" marT="0" marB="0" anchor="ctr" anchorCtr="0"/>
                </a:tc>
                <a:tc>
                  <a:txBody>
                    <a:bodyPr/>
                    <a:p>
                      <a:pPr algn="ctr"/>
                      <a:r>
                        <a:rPr sz="2400"/>
                        <a:t>Slightly steeper learning curve</a:t>
                      </a:r>
                      <a:endParaRPr sz="2400"/>
                    </a:p>
                  </a:txBody>
                  <a:tcPr marL="0" marR="0" marT="0" marB="0" anchor="ctr" anchorCtr="0"/>
                </a:tc>
              </a:tr>
              <a:tr h="381000">
                <a:tc>
                  <a:txBody>
                    <a:bodyPr/>
                    <a:p>
                      <a:pPr algn="ctr"/>
                      <a:r>
                        <a:rPr sz="2400"/>
                        <a:t>Nested Configurations</a:t>
                      </a:r>
                      <a:endParaRPr sz="2400"/>
                    </a:p>
                  </a:txBody>
                  <a:tcPr marL="0" marR="0" marT="0" marB="0" anchor="ctr" anchorCtr="0"/>
                </a:tc>
                <a:tc>
                  <a:txBody>
                    <a:bodyPr/>
                    <a:p>
                      <a:pPr algn="ctr"/>
                      <a:r>
                        <a:rPr sz="2400"/>
                        <a:t>Requires dot notation (spring.datasource.url)</a:t>
                      </a:r>
                      <a:endParaRPr sz="2400"/>
                    </a:p>
                  </a:txBody>
                  <a:tcPr marL="0" marR="0" marT="0" marB="0" anchor="ctr" anchorCtr="0"/>
                </a:tc>
                <a:tc>
                  <a:txBody>
                    <a:bodyPr/>
                    <a:p>
                      <a:pPr algn="ctr"/>
                      <a:r>
                        <a:rPr sz="2400"/>
                        <a:t>Natural nesting using indentation</a:t>
                      </a:r>
                      <a:endParaRPr sz="2400"/>
                    </a:p>
                  </a:txBody>
                  <a:tcPr marL="0" marR="0" marT="0" marB="0" anchor="ctr" anchorCtr="0"/>
                </a:tc>
              </a:tr>
              <a:tr h="381000">
                <a:tc>
                  <a:txBody>
                    <a:bodyPr/>
                    <a:p>
                      <a:pPr algn="ctr"/>
                      <a:r>
                        <a:rPr sz="2400"/>
                        <a:t>Environment Profiles</a:t>
                      </a:r>
                      <a:endParaRPr sz="2400"/>
                    </a:p>
                  </a:txBody>
                  <a:tcPr marL="0" marR="0" marT="0" marB="0" anchor="ctr" anchorCtr="0"/>
                </a:tc>
                <a:tc>
                  <a:txBody>
                    <a:bodyPr/>
                    <a:p>
                      <a:pPr algn="ctr"/>
                      <a:r>
                        <a:rPr sz="2400"/>
                        <a:t>Supported via application-{profile}.properties</a:t>
                      </a:r>
                      <a:endParaRPr sz="2400"/>
                    </a:p>
                  </a:txBody>
                  <a:tcPr marL="0" marR="0" marT="0" marB="0" anchor="ctr" anchorCtr="0"/>
                </a:tc>
                <a:tc>
                  <a:txBody>
                    <a:bodyPr/>
                    <a:p>
                      <a:pPr algn="ctr"/>
                      <a:r>
                        <a:rPr sz="2400"/>
                        <a:t>Supported via application-{profile}.yml</a:t>
                      </a:r>
                      <a:endParaRPr sz="2400"/>
                    </a:p>
                  </a:txBody>
                  <a:tcPr marL="0" marR="0" marT="0" marB="0" anchor="ctr" anchorCtr="0"/>
                </a:tc>
              </a:tr>
            </a:tbl>
          </a:graphicData>
        </a:graphic>
      </p:graphicFrame>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pPr algn="ctr"/>
            <a:r>
              <a:rPr lang="en-US" altLang="en-US" b="1"/>
              <a:t>Pros &amp; Cons of application.properties</a:t>
            </a:r>
            <a:endParaRPr lang="en-US" altLang="en-US" b="1"/>
          </a:p>
        </p:txBody>
      </p:sp>
      <p:sp>
        <p:nvSpPr>
          <p:cNvPr id="3" name="Content Placeholder 2"/>
          <p:cNvSpPr>
            <a:spLocks noGrp="1"/>
          </p:cNvSpPr>
          <p:nvPr>
            <p:ph idx="1"/>
          </p:nvPr>
        </p:nvSpPr>
        <p:spPr/>
        <p:txBody>
          <a:bodyPr>
            <a:normAutofit/>
          </a:bodyPr>
          <a:p>
            <a:r>
              <a:rPr lang="en-US" altLang="en-US"/>
              <a:t>Pros:</a:t>
            </a:r>
            <a:endParaRPr lang="en-US" altLang="en-US"/>
          </a:p>
          <a:p>
            <a:pPr lvl="1"/>
            <a:r>
              <a:rPr lang="en-US" altLang="en-US"/>
              <a:t>Lightweight and simple to use</a:t>
            </a:r>
            <a:endParaRPr lang="en-US" altLang="en-US"/>
          </a:p>
          <a:p>
            <a:pPr lvl="1"/>
            <a:r>
              <a:rPr lang="en-US" altLang="en-US"/>
              <a:t>Easy for beginners and small applications</a:t>
            </a:r>
            <a:endParaRPr lang="en-US" altLang="en-US"/>
          </a:p>
          <a:p>
            <a:pPr lvl="1"/>
            <a:r>
              <a:rPr lang="en-US" altLang="en-US"/>
              <a:t>Widely used and supported in Spring Boot</a:t>
            </a:r>
            <a:endParaRPr lang="en-US" altLang="en-US"/>
          </a:p>
          <a:p>
            <a:pPr lvl="1"/>
            <a:r>
              <a:rPr lang="en-US" altLang="en-US"/>
              <a:t>Works well for flat/simple configuration</a:t>
            </a:r>
            <a:endParaRPr lang="en-US" altLang="en-US"/>
          </a:p>
          <a:p>
            <a:r>
              <a:rPr lang="en-US" altLang="en-US"/>
              <a:t>Cons:</a:t>
            </a:r>
            <a:endParaRPr lang="en-US" altLang="en-US"/>
          </a:p>
          <a:p>
            <a:pPr lvl="1"/>
            <a:r>
              <a:rPr lang="en-US" altLang="en-US"/>
              <a:t>Difficult to manage deeply nested or hierarchical configurations</a:t>
            </a:r>
            <a:endParaRPr lang="en-US" altLang="en-US"/>
          </a:p>
          <a:p>
            <a:pPr lvl="1"/>
            <a:r>
              <a:rPr lang="en-US" altLang="en-US"/>
              <a:t>Can become cluttered for large projects</a:t>
            </a:r>
            <a:endParaRPr lang="en-US" altLang="en-US"/>
          </a:p>
          <a:p>
            <a:pPr lvl="1"/>
            <a:r>
              <a:rPr lang="en-US" altLang="en-US"/>
              <a:t>Less readable for multi-level configurations</a:t>
            </a:r>
            <a:endParaRPr lang="en-US" alt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pPr algn="ctr"/>
            <a:r>
              <a:rPr lang="en-US" altLang="en-US" b="1"/>
              <a:t>Pros &amp; Cons of application.yml</a:t>
            </a:r>
            <a:endParaRPr lang="en-US" altLang="en-US" b="1"/>
          </a:p>
        </p:txBody>
      </p:sp>
      <p:sp>
        <p:nvSpPr>
          <p:cNvPr id="3" name="Content Placeholder 2"/>
          <p:cNvSpPr>
            <a:spLocks noGrp="1"/>
          </p:cNvSpPr>
          <p:nvPr>
            <p:ph idx="1"/>
          </p:nvPr>
        </p:nvSpPr>
        <p:spPr/>
        <p:txBody>
          <a:bodyPr>
            <a:normAutofit/>
          </a:bodyPr>
          <a:p>
            <a:r>
              <a:rPr lang="en-US" altLang="en-US"/>
              <a:t>Pros:</a:t>
            </a:r>
            <a:endParaRPr lang="en-US" altLang="en-US"/>
          </a:p>
          <a:p>
            <a:pPr lvl="1"/>
            <a:r>
              <a:rPr lang="en-US" altLang="en-US"/>
              <a:t>Supports hierarchical, nested configurations naturally</a:t>
            </a:r>
            <a:endParaRPr lang="en-US" altLang="en-US"/>
          </a:p>
          <a:p>
            <a:pPr lvl="1"/>
            <a:r>
              <a:rPr lang="en-US" altLang="en-US"/>
              <a:t>More readable for complex or multi-level settings</a:t>
            </a:r>
            <a:endParaRPr lang="en-US" altLang="en-US"/>
          </a:p>
          <a:p>
            <a:pPr lvl="1"/>
            <a:r>
              <a:rPr lang="en-US" altLang="en-US"/>
              <a:t>Good for managing multiple environment profiles</a:t>
            </a:r>
            <a:endParaRPr lang="en-US" altLang="en-US"/>
          </a:p>
          <a:p>
            <a:pPr lvl="1"/>
            <a:r>
              <a:rPr lang="en-US" altLang="en-US"/>
              <a:t>Easier to maintain in large projects</a:t>
            </a:r>
            <a:endParaRPr lang="en-US" altLang="en-US"/>
          </a:p>
          <a:p>
            <a:r>
              <a:rPr lang="en-US" altLang="en-US"/>
              <a:t>Cons:</a:t>
            </a:r>
            <a:endParaRPr lang="en-US" altLang="en-US"/>
          </a:p>
          <a:p>
            <a:pPr lvl="1"/>
            <a:r>
              <a:rPr lang="en-US" altLang="en-US"/>
              <a:t>Indentation-sensitive; errors can break configuration</a:t>
            </a:r>
            <a:endParaRPr lang="en-US" altLang="en-US"/>
          </a:p>
          <a:p>
            <a:pPr lvl="1"/>
            <a:r>
              <a:rPr lang="en-US" altLang="en-US"/>
              <a:t>Slightly steeper learning curve for beginners</a:t>
            </a:r>
            <a:endParaRPr lang="en-US" altLang="en-US"/>
          </a:p>
          <a:p>
            <a:pPr lvl="1"/>
            <a:r>
              <a:rPr lang="en-US" altLang="en-US"/>
              <a:t>Can be verbose for very simple settings</a:t>
            </a:r>
            <a:endParaRPr lang="en-US" alt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pPr algn="ctr"/>
            <a:r>
              <a:rPr lang="en-US" altLang="en-US" b="1"/>
              <a:t>Actuator</a:t>
            </a:r>
            <a:endParaRPr lang="en-US" altLang="en-US" b="1"/>
          </a:p>
        </p:txBody>
      </p:sp>
      <p:sp>
        <p:nvSpPr>
          <p:cNvPr id="3" name="Content Placeholder 2"/>
          <p:cNvSpPr>
            <a:spLocks noGrp="1"/>
          </p:cNvSpPr>
          <p:nvPr>
            <p:ph idx="1"/>
          </p:nvPr>
        </p:nvSpPr>
        <p:spPr/>
        <p:txBody>
          <a:bodyPr>
            <a:normAutofit/>
          </a:bodyPr>
          <a:p>
            <a:r>
              <a:rPr lang="en-US" altLang="en-US"/>
              <a:t>Provides production-ready features for monitoring and managing Spring Boot apps.</a:t>
            </a:r>
            <a:endParaRPr lang="en-US" altLang="en-US"/>
          </a:p>
          <a:p>
            <a:r>
              <a:rPr lang="en-US" altLang="en-US"/>
              <a:t>Exposes endpoints that provide insights into application health, metrics, and environment.</a:t>
            </a:r>
            <a:endParaRPr lang="en-US" altLang="en-US"/>
          </a:p>
          <a:p>
            <a:r>
              <a:rPr lang="en-US" altLang="en-US"/>
              <a:t>Helps in debugging, monitoring, and operational management without writing custom code.</a:t>
            </a:r>
            <a:endParaRPr lang="en-US" alt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pPr algn="ctr"/>
            <a:r>
              <a:rPr lang="en-US" altLang="en-US" b="1"/>
              <a:t>Actuator Endpoints</a:t>
            </a:r>
            <a:endParaRPr lang="en-US" altLang="en-US" b="1"/>
          </a:p>
        </p:txBody>
      </p:sp>
      <p:graphicFrame>
        <p:nvGraphicFramePr>
          <p:cNvPr id="4" name="Content Placeholder 3"/>
          <p:cNvGraphicFramePr/>
          <p:nvPr>
            <p:ph idx="1"/>
          </p:nvPr>
        </p:nvGraphicFramePr>
        <p:xfrm>
          <a:off x="838200" y="1825625"/>
          <a:ext cx="10515600" cy="2667000"/>
        </p:xfrm>
        <a:graphic>
          <a:graphicData uri="http://schemas.openxmlformats.org/drawingml/2006/table">
            <a:tbl>
              <a:tblPr firstRow="1" bandRow="1">
                <a:tableStyleId>{5C22544A-7EE6-4342-B048-85BDC9FD1C3A}</a:tableStyleId>
              </a:tblPr>
              <a:tblGrid>
                <a:gridCol w="5257800"/>
                <a:gridCol w="5257800"/>
              </a:tblGrid>
              <a:tr h="381000">
                <a:tc>
                  <a:txBody>
                    <a:bodyPr/>
                    <a:p>
                      <a:pPr algn="ctr"/>
                      <a:r>
                        <a:rPr sz="2400" b="1"/>
                        <a:t>Endpoint</a:t>
                      </a:r>
                      <a:endParaRPr sz="2400" b="1"/>
                    </a:p>
                  </a:txBody>
                  <a:tcPr marL="0" marR="0" marT="0" marB="0" anchor="ctr" anchorCtr="0"/>
                </a:tc>
                <a:tc>
                  <a:txBody>
                    <a:bodyPr/>
                    <a:p>
                      <a:pPr algn="ctr"/>
                      <a:r>
                        <a:rPr sz="2400" b="1"/>
                        <a:t>Description</a:t>
                      </a:r>
                      <a:endParaRPr sz="2400" b="1"/>
                    </a:p>
                  </a:txBody>
                  <a:tcPr marL="0" marR="0" marT="0" marB="0" anchor="ctr" anchorCtr="0"/>
                </a:tc>
              </a:tr>
              <a:tr h="381000">
                <a:tc>
                  <a:txBody>
                    <a:bodyPr/>
                    <a:p>
                      <a:pPr algn="ctr"/>
                      <a:r>
                        <a:rPr sz="2400"/>
                        <a:t>/actuator/health</a:t>
                      </a:r>
                      <a:endParaRPr sz="2400"/>
                    </a:p>
                  </a:txBody>
                  <a:tcPr marL="0" marR="0" marT="0" marB="0" anchor="ctr" anchorCtr="0"/>
                </a:tc>
                <a:tc>
                  <a:txBody>
                    <a:bodyPr/>
                    <a:p>
                      <a:pPr algn="ctr"/>
                      <a:r>
                        <a:rPr sz="2400"/>
                        <a:t>Shows application health (UP/DOWN)</a:t>
                      </a:r>
                      <a:endParaRPr sz="2400"/>
                    </a:p>
                  </a:txBody>
                  <a:tcPr marL="0" marR="0" marT="0" marB="0" anchor="ctr" anchorCtr="0"/>
                </a:tc>
              </a:tr>
              <a:tr h="381000">
                <a:tc>
                  <a:txBody>
                    <a:bodyPr/>
                    <a:p>
                      <a:pPr algn="ctr"/>
                      <a:r>
                        <a:rPr sz="2400"/>
                        <a:t>/actuator/metrics</a:t>
                      </a:r>
                      <a:endParaRPr sz="2400"/>
                    </a:p>
                  </a:txBody>
                  <a:tcPr marL="0" marR="0" marT="0" marB="0" anchor="ctr" anchorCtr="0"/>
                </a:tc>
                <a:tc>
                  <a:txBody>
                    <a:bodyPr/>
                    <a:p>
                      <a:pPr algn="ctr"/>
                      <a:r>
                        <a:rPr sz="2400"/>
                        <a:t>Provides JVM and app metrics like memory, CPU, HTTP requests</a:t>
                      </a:r>
                      <a:endParaRPr sz="2400"/>
                    </a:p>
                  </a:txBody>
                  <a:tcPr marL="0" marR="0" marT="0" marB="0" anchor="ctr" anchorCtr="0"/>
                </a:tc>
              </a:tr>
              <a:tr h="381000">
                <a:tc>
                  <a:txBody>
                    <a:bodyPr/>
                    <a:p>
                      <a:pPr algn="ctr"/>
                      <a:r>
                        <a:rPr sz="2400"/>
                        <a:t>/actuator/env</a:t>
                      </a:r>
                      <a:endParaRPr sz="2400"/>
                    </a:p>
                  </a:txBody>
                  <a:tcPr marL="0" marR="0" marT="0" marB="0" anchor="ctr" anchorCtr="0"/>
                </a:tc>
                <a:tc>
                  <a:txBody>
                    <a:bodyPr/>
                    <a:p>
                      <a:pPr algn="ctr"/>
                      <a:r>
                        <a:rPr sz="2400"/>
                        <a:t>Displays environment properties and config values</a:t>
                      </a:r>
                      <a:endParaRPr sz="2400"/>
                    </a:p>
                  </a:txBody>
                  <a:tcPr marL="0" marR="0" marT="0" marB="0" anchor="ctr" anchorCtr="0"/>
                </a:tc>
              </a:tr>
              <a:tr h="381000">
                <a:tc>
                  <a:txBody>
                    <a:bodyPr/>
                    <a:p>
                      <a:pPr algn="ctr"/>
                      <a:r>
                        <a:rPr sz="2400"/>
                        <a:t>/actuator/info</a:t>
                      </a:r>
                      <a:endParaRPr sz="2400"/>
                    </a:p>
                  </a:txBody>
                  <a:tcPr marL="0" marR="0" marT="0" marB="0" anchor="ctr" anchorCtr="0"/>
                </a:tc>
                <a:tc>
                  <a:txBody>
                    <a:bodyPr/>
                    <a:p>
                      <a:pPr algn="ctr"/>
                      <a:r>
                        <a:rPr sz="2400"/>
                        <a:t>Custom application information (version, description)</a:t>
                      </a:r>
                      <a:endParaRPr sz="2400"/>
                    </a:p>
                  </a:txBody>
                  <a:tcPr marL="0" marR="0" marT="0" marB="0" anchor="ctr" anchorCtr="0"/>
                </a:tc>
              </a:tr>
              <a:tr h="381000">
                <a:tc>
                  <a:txBody>
                    <a:bodyPr/>
                    <a:p>
                      <a:pPr algn="ctr"/>
                      <a:r>
                        <a:rPr sz="2400"/>
                        <a:t>/actuator/loggers</a:t>
                      </a:r>
                      <a:endParaRPr sz="2400"/>
                    </a:p>
                  </a:txBody>
                  <a:tcPr marL="0" marR="0" marT="0" marB="0" anchor="ctr" anchorCtr="0"/>
                </a:tc>
                <a:tc>
                  <a:txBody>
                    <a:bodyPr/>
                    <a:p>
                      <a:pPr algn="ctr"/>
                      <a:r>
                        <a:rPr sz="2400"/>
                        <a:t>View and configure logging levels at runtime</a:t>
                      </a:r>
                      <a:endParaRPr sz="2400"/>
                    </a:p>
                  </a:txBody>
                  <a:tcPr marL="0" marR="0" marT="0" marB="0" anchor="ctr" anchorCtr="0"/>
                </a:tc>
              </a:tr>
              <a:tr h="381000">
                <a:tc>
                  <a:txBody>
                    <a:bodyPr/>
                    <a:p>
                      <a:pPr algn="ctr"/>
                      <a:r>
                        <a:rPr sz="2400"/>
                        <a:t>/actuator/beans</a:t>
                      </a:r>
                      <a:endParaRPr sz="2400"/>
                    </a:p>
                  </a:txBody>
                  <a:tcPr marL="0" marR="0" marT="0" marB="0" anchor="ctr" anchorCtr="0"/>
                </a:tc>
                <a:tc>
                  <a:txBody>
                    <a:bodyPr/>
                    <a:p>
                      <a:pPr algn="ctr"/>
                      <a:r>
                        <a:rPr sz="2400"/>
                        <a:t>Lists all Spring Beans loaded in the application context</a:t>
                      </a:r>
                      <a:endParaRPr sz="2400"/>
                    </a:p>
                  </a:txBody>
                  <a:tcPr marL="0" marR="0" marT="0" marB="0" anchor="ctr" anchorCtr="0"/>
                </a:tc>
              </a:tr>
            </a:tbl>
          </a:graphicData>
        </a:graphic>
      </p:graphicFrame>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pPr algn="ctr"/>
            <a:r>
              <a:rPr lang="en-US" b="1"/>
              <a:t>Benifits</a:t>
            </a:r>
            <a:endParaRPr lang="en-US" b="1"/>
          </a:p>
        </p:txBody>
      </p:sp>
      <p:sp>
        <p:nvSpPr>
          <p:cNvPr id="3" name="Content Placeholder 2"/>
          <p:cNvSpPr>
            <a:spLocks noGrp="1"/>
          </p:cNvSpPr>
          <p:nvPr>
            <p:ph idx="1"/>
          </p:nvPr>
        </p:nvSpPr>
        <p:spPr/>
        <p:txBody>
          <a:bodyPr>
            <a:normAutofit lnSpcReduction="10000"/>
          </a:bodyPr>
          <a:p>
            <a:r>
              <a:rPr lang="en-US" altLang="en-US"/>
              <a:t>Monitor application health in real-time.</a:t>
            </a:r>
            <a:endParaRPr lang="en-US" altLang="en-US"/>
          </a:p>
          <a:p>
            <a:r>
              <a:rPr lang="en-US" altLang="en-US"/>
              <a:t>Track metrics for JVM, memory, CPU, HTTP requests.</a:t>
            </a:r>
            <a:endParaRPr lang="en-US" altLang="en-US"/>
          </a:p>
          <a:p>
            <a:r>
              <a:rPr lang="en-US" altLang="en-US"/>
              <a:t>Quick debugging without extra code.</a:t>
            </a:r>
            <a:endParaRPr lang="en-US" altLang="en-US"/>
          </a:p>
          <a:p>
            <a:r>
              <a:rPr lang="en-US" altLang="en-US"/>
              <a:t>Secure sensitive endpoints using Spring Security.</a:t>
            </a:r>
            <a:endParaRPr lang="en-US" altLang="en-US"/>
          </a:p>
          <a:p>
            <a:r>
              <a:rPr lang="en-US" altLang="en-US"/>
              <a:t>Supports custom endpoints for application-specific insights.</a:t>
            </a:r>
            <a:endParaRPr lang="en-US" alt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 name="Title 6"/>
          <p:cNvSpPr>
            <a:spLocks noGrp="1"/>
          </p:cNvSpPr>
          <p:nvPr>
            <p:ph type="title"/>
          </p:nvPr>
        </p:nvSpPr>
        <p:spPr/>
        <p:txBody>
          <a:bodyPr/>
          <a:p>
            <a:pPr algn="ctr"/>
            <a:r>
              <a:rPr lang="en-US" b="1"/>
              <a:t>What is Spring </a:t>
            </a:r>
            <a:r>
              <a:rPr lang="en-US" b="1"/>
              <a:t>CLI</a:t>
            </a:r>
            <a:endParaRPr lang="en-US" b="1"/>
          </a:p>
        </p:txBody>
      </p:sp>
      <p:sp>
        <p:nvSpPr>
          <p:cNvPr id="8" name="Content Placeholder 7"/>
          <p:cNvSpPr>
            <a:spLocks noGrp="1"/>
          </p:cNvSpPr>
          <p:nvPr>
            <p:ph idx="1"/>
          </p:nvPr>
        </p:nvSpPr>
        <p:spPr/>
        <p:txBody>
          <a:bodyPr>
            <a:normAutofit/>
          </a:bodyPr>
          <a:p>
            <a:r>
              <a:rPr lang="en-US" altLang="en-US"/>
              <a:t>A Command Line Interface for Spring Boot</a:t>
            </a:r>
            <a:endParaRPr lang="en-US" altLang="en-US"/>
          </a:p>
          <a:p>
            <a:r>
              <a:rPr lang="en-US" altLang="en-US"/>
              <a:t>Helps you quickly create and run Spring Boot projects</a:t>
            </a:r>
            <a:endParaRPr lang="en-US" altLang="en-US"/>
          </a:p>
          <a:p>
            <a:r>
              <a:rPr lang="en-US" altLang="en-US"/>
              <a:t>Supports both Groovy scripts (fast prototyping) and Maven/Gradle builds (real projects)</a:t>
            </a:r>
            <a:endParaRPr lang="en-US" altLang="en-US"/>
          </a:p>
          <a:p>
            <a:r>
              <a:rPr lang="en-US" altLang="en-US"/>
              <a:t>Provides shortcuts for:</a:t>
            </a:r>
            <a:endParaRPr lang="en-US" altLang="en-US"/>
          </a:p>
          <a:p>
            <a:pPr lvl="1"/>
            <a:r>
              <a:rPr lang="en-US" altLang="en-US"/>
              <a:t>Initializing projects</a:t>
            </a:r>
            <a:endParaRPr lang="en-US" altLang="en-US"/>
          </a:p>
          <a:p>
            <a:pPr lvl="1"/>
            <a:r>
              <a:rPr lang="en-US" altLang="en-US"/>
              <a:t>Running applications</a:t>
            </a:r>
            <a:endParaRPr lang="en-US" altLang="en-US"/>
          </a:p>
          <a:p>
            <a:pPr lvl="1"/>
            <a:r>
              <a:rPr lang="en-US" altLang="en-US"/>
              <a:t>Managing dependencies</a:t>
            </a:r>
            <a:endParaRPr lang="en-US" altLang="en-US"/>
          </a:p>
          <a:p>
            <a:pPr marL="0" indent="0">
              <a:buNone/>
            </a:pPr>
            <a:endParaRPr lang="en-US" alt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pPr algn="ctr"/>
            <a:r>
              <a:rPr lang="en-US" b="1"/>
              <a:t>Key Features of Spring CLI</a:t>
            </a:r>
            <a:endParaRPr lang="en-US" b="1"/>
          </a:p>
        </p:txBody>
      </p:sp>
      <p:sp>
        <p:nvSpPr>
          <p:cNvPr id="3" name="Content Placeholder 2"/>
          <p:cNvSpPr>
            <a:spLocks noGrp="1"/>
          </p:cNvSpPr>
          <p:nvPr>
            <p:ph idx="1"/>
          </p:nvPr>
        </p:nvSpPr>
        <p:spPr/>
        <p:txBody>
          <a:bodyPr>
            <a:normAutofit/>
          </a:bodyPr>
          <a:p>
            <a:r>
              <a:rPr lang="en-US" altLang="en-US"/>
              <a:t>Rapid prototyping: </a:t>
            </a:r>
            <a:endParaRPr lang="en-US" altLang="en-US"/>
          </a:p>
          <a:p>
            <a:pPr lvl="1"/>
            <a:r>
              <a:rPr lang="en-US" altLang="en-US"/>
              <a:t>Create Spring Boot apps without writing full Java classes or configuration.</a:t>
            </a:r>
            <a:endParaRPr lang="en-US" altLang="en-US"/>
          </a:p>
          <a:p>
            <a:r>
              <a:rPr lang="en-US" altLang="en-US"/>
              <a:t>Run apps directly: </a:t>
            </a:r>
            <a:endParaRPr lang="en-US" altLang="en-US"/>
          </a:p>
          <a:p>
            <a:pPr lvl="1"/>
            <a:r>
              <a:rPr lang="en-US" altLang="en-US"/>
              <a:t>Execute scripts with spring run command.</a:t>
            </a:r>
            <a:endParaRPr lang="en-US" altLang="en-US"/>
          </a:p>
          <a:p>
            <a:r>
              <a:rPr lang="en-US" altLang="en-US"/>
              <a:t>Auto-configuration support: </a:t>
            </a:r>
            <a:endParaRPr lang="en-US" altLang="en-US"/>
          </a:p>
          <a:p>
            <a:pPr lvl="1"/>
            <a:r>
              <a:rPr lang="en-US" altLang="en-US"/>
              <a:t>CLI handles Spring Boot setup automatically.</a:t>
            </a:r>
            <a:endParaRPr lang="en-US" altLang="en-US"/>
          </a:p>
          <a:p>
            <a:r>
              <a:rPr lang="en-US" altLang="en-US"/>
              <a:t>Dependency management: </a:t>
            </a:r>
            <a:endParaRPr lang="en-US" altLang="en-US"/>
          </a:p>
          <a:p>
            <a:pPr lvl="1"/>
            <a:r>
              <a:rPr lang="en-US" altLang="en-US"/>
              <a:t>Use @Grab to include dependencies quickly.</a:t>
            </a:r>
            <a:endParaRPr lang="en-US" alt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pPr algn="ctr"/>
            <a:r>
              <a:rPr lang="en-US" b="1"/>
              <a:t>Advantages of Spring Boot CLI</a:t>
            </a:r>
            <a:endParaRPr lang="en-US" b="1"/>
          </a:p>
        </p:txBody>
      </p:sp>
      <p:sp>
        <p:nvSpPr>
          <p:cNvPr id="3" name="Content Placeholder 2"/>
          <p:cNvSpPr>
            <a:spLocks noGrp="1"/>
          </p:cNvSpPr>
          <p:nvPr>
            <p:ph idx="1"/>
          </p:nvPr>
        </p:nvSpPr>
        <p:spPr/>
        <p:txBody>
          <a:bodyPr>
            <a:normAutofit fontScale="90000" lnSpcReduction="20000"/>
          </a:bodyPr>
          <a:p>
            <a:r>
              <a:rPr lang="en-US" altLang="en-US"/>
              <a:t>Rapid Prototyping </a:t>
            </a:r>
            <a:endParaRPr lang="en-US" altLang="en-US"/>
          </a:p>
          <a:p>
            <a:pPr lvl="1"/>
            <a:r>
              <a:rPr lang="en-US" altLang="en-US"/>
              <a:t>Quickly create and run Spring Boot apps without writing full Java boilerplate.</a:t>
            </a:r>
            <a:endParaRPr lang="en-US" altLang="en-US"/>
          </a:p>
          <a:p>
            <a:r>
              <a:rPr lang="en-US" altLang="en-US"/>
              <a:t>Minimal Setup</a:t>
            </a:r>
            <a:endParaRPr lang="en-US" altLang="en-US"/>
          </a:p>
          <a:p>
            <a:pPr lvl="1"/>
            <a:r>
              <a:rPr lang="en-US" altLang="en-US"/>
              <a:t>No need for a full IDE; scripts can run directly from the command line.</a:t>
            </a:r>
            <a:endParaRPr lang="en-US" altLang="en-US"/>
          </a:p>
          <a:p>
            <a:r>
              <a:rPr lang="en-US" altLang="en-US"/>
              <a:t>Groovy Support</a:t>
            </a:r>
            <a:endParaRPr lang="en-US" altLang="en-US"/>
          </a:p>
          <a:p>
            <a:pPr lvl="1"/>
            <a:r>
              <a:rPr lang="en-US" altLang="en-US"/>
              <a:t>Can write concise applications in Groovy.</a:t>
            </a:r>
            <a:endParaRPr lang="en-US" altLang="en-US"/>
          </a:p>
          <a:p>
            <a:r>
              <a:rPr lang="en-US" altLang="en-US"/>
              <a:t>Auto-Configuration</a:t>
            </a:r>
            <a:endParaRPr lang="en-US" altLang="en-US"/>
          </a:p>
          <a:p>
            <a:pPr lvl="1"/>
            <a:r>
              <a:rPr lang="en-US" altLang="en-US"/>
              <a:t>Handles Spring Boot auto-configuration automatically.</a:t>
            </a:r>
            <a:endParaRPr lang="en-US" altLang="en-US"/>
          </a:p>
          <a:p>
            <a:r>
              <a:rPr lang="en-US" altLang="en-US"/>
              <a:t>Dependency Management</a:t>
            </a:r>
            <a:endParaRPr lang="en-US" altLang="en-US"/>
          </a:p>
          <a:p>
            <a:pPr lvl="1"/>
            <a:r>
              <a:rPr lang="en-US" altLang="en-US"/>
              <a:t>Easy inclusion of dependencies using @Grab.</a:t>
            </a:r>
            <a:endParaRPr lang="en-US" altLang="en-US"/>
          </a:p>
          <a:p>
            <a:r>
              <a:rPr lang="en-US" altLang="en-US"/>
              <a:t>Great for Learning &amp; Demos</a:t>
            </a:r>
            <a:endParaRPr lang="en-US" altLang="en-US"/>
          </a:p>
          <a:p>
            <a:pPr lvl="1"/>
            <a:r>
              <a:rPr lang="en-US" altLang="en-US"/>
              <a:t>Excellent tool for experimenting with Spring features.</a:t>
            </a:r>
            <a:endParaRPr lang="en-US" alt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pPr algn="ctr"/>
            <a:r>
              <a:rPr lang="en-US" b="1"/>
              <a:t>Disadvantages of Spring Boot CLI</a:t>
            </a:r>
            <a:endParaRPr lang="en-US" b="1"/>
          </a:p>
        </p:txBody>
      </p:sp>
      <p:sp>
        <p:nvSpPr>
          <p:cNvPr id="3" name="Content Placeholder 2"/>
          <p:cNvSpPr>
            <a:spLocks noGrp="1"/>
          </p:cNvSpPr>
          <p:nvPr>
            <p:ph idx="1"/>
          </p:nvPr>
        </p:nvSpPr>
        <p:spPr/>
        <p:txBody>
          <a:bodyPr>
            <a:normAutofit fontScale="90000" lnSpcReduction="10000"/>
          </a:bodyPr>
          <a:p>
            <a:r>
              <a:rPr lang="en-US" altLang="en-US"/>
              <a:t>Limited for Large Projects </a:t>
            </a:r>
            <a:endParaRPr lang="en-US" altLang="en-US"/>
          </a:p>
          <a:p>
            <a:pPr lvl="1"/>
            <a:r>
              <a:rPr lang="en-US" altLang="en-US"/>
              <a:t>Not ideal for complex enterprise apps; mostly for prototypes or small apps.</a:t>
            </a:r>
            <a:endParaRPr lang="en-US" altLang="en-US"/>
          </a:p>
          <a:p>
            <a:r>
              <a:rPr lang="en-US" altLang="en-US"/>
              <a:t>Groovy Dependency </a:t>
            </a:r>
            <a:endParaRPr lang="en-US" altLang="en-US"/>
          </a:p>
          <a:p>
            <a:pPr lvl="1"/>
            <a:r>
              <a:rPr lang="en-US" altLang="en-US"/>
              <a:t>While Groovy is optional, most CLI examples use it, which may be unfamiliar to some developers.</a:t>
            </a:r>
            <a:endParaRPr lang="en-US" altLang="en-US"/>
          </a:p>
          <a:p>
            <a:r>
              <a:rPr lang="en-US" altLang="en-US"/>
              <a:t>Debugging </a:t>
            </a:r>
            <a:endParaRPr lang="en-US" altLang="en-US"/>
          </a:p>
          <a:p>
            <a:pPr lvl="1"/>
            <a:r>
              <a:rPr lang="en-US" altLang="en-US"/>
              <a:t>Harder to debug compared to full IDE-based Java projects.</a:t>
            </a:r>
            <a:endParaRPr lang="en-US" altLang="en-US"/>
          </a:p>
          <a:p>
            <a:r>
              <a:rPr lang="en-US" altLang="en-US"/>
              <a:t>IDE Features Limited </a:t>
            </a:r>
            <a:endParaRPr lang="en-US" altLang="en-US"/>
          </a:p>
          <a:p>
            <a:pPr lvl="1"/>
            <a:r>
              <a:rPr lang="en-US" altLang="en-US"/>
              <a:t>No advanced IDE support for refactoring, auto-completion, or integration.</a:t>
            </a:r>
            <a:endParaRPr lang="en-US" altLang="en-US"/>
          </a:p>
          <a:p>
            <a:r>
              <a:rPr lang="en-US" altLang="en-US"/>
              <a:t>Not for Production-Ready Apps </a:t>
            </a:r>
            <a:endParaRPr lang="en-US" altLang="en-US"/>
          </a:p>
          <a:p>
            <a:pPr lvl="1"/>
            <a:r>
              <a:rPr lang="en-US" altLang="en-US"/>
              <a:t>Primarily a learning and rapid prototyping tool, not meant for large-scale production.</a:t>
            </a:r>
            <a:endParaRPr lang="en-US" alt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Commands of CLI</a:t>
            </a:r>
            <a:endParaRPr lang="en-US"/>
          </a:p>
        </p:txBody>
      </p:sp>
      <p:graphicFrame>
        <p:nvGraphicFramePr>
          <p:cNvPr id="4" name="Content Placeholder 3"/>
          <p:cNvGraphicFramePr/>
          <p:nvPr>
            <p:ph idx="1"/>
            <p:custDataLst>
              <p:tags r:id="rId1"/>
            </p:custDataLst>
          </p:nvPr>
        </p:nvGraphicFramePr>
        <p:xfrm>
          <a:off x="1981200" y="1600200"/>
          <a:ext cx="8453120" cy="4802505"/>
        </p:xfrm>
        <a:graphic>
          <a:graphicData uri="http://schemas.openxmlformats.org/drawingml/2006/table">
            <a:tbl>
              <a:tblPr firstRow="1" bandRow="1">
                <a:tableStyleId>{5C22544A-7EE6-4342-B048-85BDC9FD1C3A}</a:tableStyleId>
              </a:tblPr>
              <a:tblGrid>
                <a:gridCol w="4226560"/>
                <a:gridCol w="4226560"/>
              </a:tblGrid>
              <a:tr h="476885">
                <a:tc>
                  <a:txBody>
                    <a:bodyPr/>
                    <a:p>
                      <a:pPr algn="ctr"/>
                      <a:r>
                        <a:rPr sz="1600" b="1"/>
                        <a:t>Command</a:t>
                      </a:r>
                      <a:endParaRPr sz="1600" b="1"/>
                    </a:p>
                  </a:txBody>
                  <a:tcPr marL="0" marR="0" marT="0" marB="0" anchor="ctr" anchorCtr="0"/>
                </a:tc>
                <a:tc>
                  <a:txBody>
                    <a:bodyPr/>
                    <a:p>
                      <a:pPr algn="ctr"/>
                      <a:r>
                        <a:rPr sz="1600" b="1"/>
                        <a:t>What it Does</a:t>
                      </a:r>
                      <a:endParaRPr sz="1600" b="1"/>
                    </a:p>
                  </a:txBody>
                  <a:tcPr marL="0" marR="0" marT="0" marB="0" anchor="ctr" anchorCtr="0"/>
                </a:tc>
              </a:tr>
              <a:tr h="476885">
                <a:tc>
                  <a:txBody>
                    <a:bodyPr/>
                    <a:p>
                      <a:pPr algn="ctr"/>
                      <a:r>
                        <a:rPr sz="1600" b="1"/>
                        <a:t>spring --version</a:t>
                      </a:r>
                      <a:endParaRPr sz="1600" b="1"/>
                    </a:p>
                  </a:txBody>
                  <a:tcPr marL="0" marR="0" marT="0" marB="0" anchor="ctr" anchorCtr="0"/>
                </a:tc>
                <a:tc>
                  <a:txBody>
                    <a:bodyPr/>
                    <a:p>
                      <a:pPr algn="ctr"/>
                      <a:r>
                        <a:rPr sz="1600"/>
                        <a:t>Check installed Spring Boot CLI version</a:t>
                      </a:r>
                      <a:endParaRPr sz="1600"/>
                    </a:p>
                  </a:txBody>
                  <a:tcPr marL="0" marR="0" marT="0" marB="0" anchor="ctr" anchorCtr="0"/>
                </a:tc>
              </a:tr>
              <a:tr h="477520">
                <a:tc>
                  <a:txBody>
                    <a:bodyPr/>
                    <a:p>
                      <a:pPr algn="ctr"/>
                      <a:r>
                        <a:rPr sz="1600" b="1"/>
                        <a:t>spring help</a:t>
                      </a:r>
                      <a:endParaRPr sz="1600" b="1"/>
                    </a:p>
                  </a:txBody>
                  <a:tcPr marL="0" marR="0" marT="0" marB="0" anchor="ctr" anchorCtr="0"/>
                </a:tc>
                <a:tc>
                  <a:txBody>
                    <a:bodyPr/>
                    <a:p>
                      <a:pPr algn="ctr"/>
                      <a:r>
                        <a:rPr sz="1600"/>
                        <a:t>Show available CLI commands and usage</a:t>
                      </a:r>
                      <a:endParaRPr sz="1600"/>
                    </a:p>
                  </a:txBody>
                  <a:tcPr marL="0" marR="0" marT="0" marB="0" anchor="ctr" anchorCtr="0"/>
                </a:tc>
              </a:tr>
              <a:tr h="476885">
                <a:tc>
                  <a:txBody>
                    <a:bodyPr/>
                    <a:p>
                      <a:pPr algn="ctr"/>
                      <a:r>
                        <a:rPr sz="1600" b="1"/>
                        <a:t>spring init --dependencies=web myapp</a:t>
                      </a:r>
                      <a:endParaRPr sz="1600" b="1"/>
                    </a:p>
                  </a:txBody>
                  <a:tcPr marL="0" marR="0" marT="0" marB="0" anchor="ctr" anchorCtr="0"/>
                </a:tc>
                <a:tc>
                  <a:txBody>
                    <a:bodyPr/>
                    <a:p>
                      <a:pPr algn="ctr"/>
                      <a:r>
                        <a:rPr sz="1600"/>
                        <a:t>Create a new Spring Boot project with Web starter</a:t>
                      </a:r>
                      <a:endParaRPr sz="1600"/>
                    </a:p>
                  </a:txBody>
                  <a:tcPr marL="0" marR="0" marT="0" marB="0" anchor="ctr" anchorCtr="0"/>
                </a:tc>
              </a:tr>
              <a:tr h="487680">
                <a:tc>
                  <a:txBody>
                    <a:bodyPr/>
                    <a:p>
                      <a:pPr algn="ctr"/>
                      <a:r>
                        <a:rPr sz="1600" b="1"/>
                        <a:t>spring init --dependencies=web,data-jpa,mysql --build=maven myapp</a:t>
                      </a:r>
                      <a:endParaRPr sz="1600" b="1"/>
                    </a:p>
                  </a:txBody>
                  <a:tcPr marL="0" marR="0" marT="0" marB="0" anchor="ctr" anchorCtr="0"/>
                </a:tc>
                <a:tc>
                  <a:txBody>
                    <a:bodyPr/>
                    <a:p>
                      <a:pPr algn="ctr"/>
                      <a:r>
                        <a:rPr sz="1600"/>
                        <a:t>Generate a Maven project with Web + JPA + MySQL</a:t>
                      </a:r>
                      <a:endParaRPr sz="1600"/>
                    </a:p>
                  </a:txBody>
                  <a:tcPr marL="0" marR="0" marT="0" marB="0" anchor="ctr" anchorCtr="0"/>
                </a:tc>
              </a:tr>
              <a:tr h="476885">
                <a:tc>
                  <a:txBody>
                    <a:bodyPr/>
                    <a:p>
                      <a:pPr algn="ctr"/>
                      <a:r>
                        <a:rPr sz="1600" b="1"/>
                        <a:t>mvn spring-boot:run</a:t>
                      </a:r>
                      <a:endParaRPr sz="1600" b="1"/>
                    </a:p>
                  </a:txBody>
                  <a:tcPr marL="0" marR="0" marT="0" marB="0" anchor="ctr" anchorCtr="0"/>
                </a:tc>
                <a:tc>
                  <a:txBody>
                    <a:bodyPr/>
                    <a:p>
                      <a:pPr algn="ctr"/>
                      <a:r>
                        <a:rPr sz="1600"/>
                        <a:t>Run the Spring Boot app directly from source</a:t>
                      </a:r>
                      <a:endParaRPr sz="1600"/>
                    </a:p>
                  </a:txBody>
                  <a:tcPr marL="0" marR="0" marT="0" marB="0" anchor="ctr" anchorCtr="0"/>
                </a:tc>
              </a:tr>
              <a:tr h="476885">
                <a:tc>
                  <a:txBody>
                    <a:bodyPr/>
                    <a:p>
                      <a:pPr algn="ctr"/>
                      <a:r>
                        <a:rPr sz="1600" b="1"/>
                        <a:t>mvn clean package</a:t>
                      </a:r>
                      <a:endParaRPr sz="1600" b="1"/>
                    </a:p>
                  </a:txBody>
                  <a:tcPr marL="0" marR="0" marT="0" marB="0" anchor="ctr" anchorCtr="0"/>
                </a:tc>
                <a:tc>
                  <a:txBody>
                    <a:bodyPr/>
                    <a:p>
                      <a:pPr algn="ctr"/>
                      <a:r>
                        <a:rPr sz="1600"/>
                        <a:t>Build the project and package it into a JAR/WAR</a:t>
                      </a:r>
                      <a:endParaRPr sz="1600"/>
                    </a:p>
                  </a:txBody>
                  <a:tcPr marL="0" marR="0" marT="0" marB="0" anchor="ctr" anchorCtr="0"/>
                </a:tc>
              </a:tr>
              <a:tr h="477520">
                <a:tc>
                  <a:txBody>
                    <a:bodyPr/>
                    <a:p>
                      <a:pPr algn="ctr"/>
                      <a:r>
                        <a:rPr sz="1600" b="1"/>
                        <a:t>java -jar target/myapp-0.0.1-SNAPSHOT.jar</a:t>
                      </a:r>
                      <a:endParaRPr sz="1600" b="1"/>
                    </a:p>
                  </a:txBody>
                  <a:tcPr marL="0" marR="0" marT="0" marB="0" anchor="ctr" anchorCtr="0"/>
                </a:tc>
                <a:tc>
                  <a:txBody>
                    <a:bodyPr/>
                    <a:p>
                      <a:pPr algn="ctr"/>
                      <a:r>
                        <a:rPr sz="1600"/>
                        <a:t>Run the packaged JAR application</a:t>
                      </a:r>
                      <a:endParaRPr sz="1600"/>
                    </a:p>
                  </a:txBody>
                  <a:tcPr marL="0" marR="0" marT="0" marB="0" anchor="ctr" anchorCtr="0"/>
                </a:tc>
              </a:tr>
              <a:tr h="476885">
                <a:tc>
                  <a:txBody>
                    <a:bodyPr/>
                    <a:p>
                      <a:pPr algn="ctr"/>
                      <a:r>
                        <a:rPr sz="1600" b="1"/>
                        <a:t>spring run app.groovy</a:t>
                      </a:r>
                      <a:endParaRPr sz="1600" b="1"/>
                    </a:p>
                  </a:txBody>
                  <a:tcPr marL="0" marR="0" marT="0" marB="0" anchor="ctr" anchorCtr="0"/>
                </a:tc>
                <a:tc>
                  <a:txBody>
                    <a:bodyPr/>
                    <a:p>
                      <a:pPr algn="ctr"/>
                      <a:r>
                        <a:rPr sz="1600"/>
                        <a:t>(Optional) Run Groovy scripts with Spring Boot CLI</a:t>
                      </a:r>
                      <a:endParaRPr sz="1600"/>
                    </a:p>
                  </a:txBody>
                  <a:tcPr marL="0" marR="0" marT="0" marB="0" anchor="ctr" anchorCtr="0"/>
                </a:tc>
              </a:tr>
              <a:tr h="0">
                <a:tc>
                  <a:txBody>
                    <a:bodyPr/>
                    <a:p>
                      <a:pPr algn="ctr"/>
                      <a:r>
                        <a:rPr sz="1600" b="1"/>
                        <a:t>spring jar myapp.jar app.groovy</a:t>
                      </a:r>
                      <a:endParaRPr sz="1600" b="1"/>
                    </a:p>
                  </a:txBody>
                  <a:tcPr marL="0" marR="0" marT="0" marB="0" anchor="ctr" anchorCtr="0"/>
                </a:tc>
                <a:tc>
                  <a:txBody>
                    <a:bodyPr/>
                    <a:p>
                      <a:pPr algn="ctr"/>
                      <a:r>
                        <a:rPr sz="1600"/>
                        <a:t>(Optional) Package a Groovy script into an executable JAR</a:t>
                      </a:r>
                      <a:endParaRPr sz="1600"/>
                    </a:p>
                  </a:txBody>
                  <a:tcPr marL="0" marR="0" marT="0" marB="0" anchor="ctr" anchorCtr="0"/>
                </a:tc>
              </a:tr>
            </a:tbl>
          </a:graphicData>
        </a:graphic>
      </p:graphicFrame>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pPr algn="ctr"/>
            <a:r>
              <a:rPr lang="en-US" altLang="en-US" b="1"/>
              <a:t>Spring Boot Key Features Summary</a:t>
            </a:r>
            <a:endParaRPr lang="en-US" altLang="en-US" b="1"/>
          </a:p>
        </p:txBody>
      </p:sp>
      <p:graphicFrame>
        <p:nvGraphicFramePr>
          <p:cNvPr id="4" name="Content Placeholder 3"/>
          <p:cNvGraphicFramePr/>
          <p:nvPr>
            <p:ph idx="1"/>
          </p:nvPr>
        </p:nvGraphicFramePr>
        <p:xfrm>
          <a:off x="838200" y="1825625"/>
          <a:ext cx="10515600" cy="3779520"/>
        </p:xfrm>
        <a:graphic>
          <a:graphicData uri="http://schemas.openxmlformats.org/drawingml/2006/table">
            <a:tbl>
              <a:tblPr firstRow="1" bandRow="1">
                <a:tableStyleId>{5C22544A-7EE6-4342-B048-85BDC9FD1C3A}</a:tableStyleId>
              </a:tblPr>
              <a:tblGrid>
                <a:gridCol w="4110355"/>
                <a:gridCol w="6405245"/>
              </a:tblGrid>
              <a:tr h="381000">
                <a:tc>
                  <a:txBody>
                    <a:bodyPr/>
                    <a:p>
                      <a:pPr algn="ctr"/>
                      <a:r>
                        <a:rPr sz="2000"/>
                        <a:t>Feature</a:t>
                      </a:r>
                      <a:endParaRPr sz="2000"/>
                    </a:p>
                  </a:txBody>
                  <a:tcPr marL="0" marR="0" marT="0" marB="0" anchor="ctr" anchorCtr="0"/>
                </a:tc>
                <a:tc>
                  <a:txBody>
                    <a:bodyPr/>
                    <a:p>
                      <a:pPr algn="ctr"/>
                      <a:r>
                        <a:rPr sz="2000"/>
                        <a:t>Description</a:t>
                      </a:r>
                      <a:endParaRPr sz="2000"/>
                    </a:p>
                  </a:txBody>
                  <a:tcPr marL="0" marR="0" marT="0" marB="0" anchor="ctr" anchorCtr="0"/>
                </a:tc>
              </a:tr>
              <a:tr h="381000">
                <a:tc>
                  <a:txBody>
                    <a:bodyPr/>
                    <a:p>
                      <a:pPr algn="ctr"/>
                      <a:r>
                        <a:rPr sz="2000"/>
                        <a:t>1. Auto-Configuration</a:t>
                      </a:r>
                      <a:endParaRPr sz="2000"/>
                    </a:p>
                  </a:txBody>
                  <a:tcPr marL="0" marR="0" marT="0" marB="0" anchor="ctr" anchorCtr="0"/>
                </a:tc>
                <a:tc>
                  <a:txBody>
                    <a:bodyPr/>
                    <a:p>
                      <a:pPr algn="ctr"/>
                      <a:r>
                        <a:rPr sz="2000"/>
                        <a:t>Automatically configures Spring beans based on dependencies in the classpath, reducing boilerplate code.</a:t>
                      </a:r>
                      <a:endParaRPr sz="2000"/>
                    </a:p>
                  </a:txBody>
                  <a:tcPr marL="0" marR="0" marT="0" marB="0" anchor="ctr" anchorCtr="0"/>
                </a:tc>
              </a:tr>
              <a:tr h="381000">
                <a:tc>
                  <a:txBody>
                    <a:bodyPr/>
                    <a:p>
                      <a:pPr algn="ctr"/>
                      <a:r>
                        <a:rPr sz="2000"/>
                        <a:t>2. Spring Boot Starters</a:t>
                      </a:r>
                      <a:endParaRPr sz="2000"/>
                    </a:p>
                  </a:txBody>
                  <a:tcPr marL="0" marR="0" marT="0" marB="0" anchor="ctr" anchorCtr="0"/>
                </a:tc>
                <a:tc>
                  <a:txBody>
                    <a:bodyPr/>
                    <a:p>
                      <a:pPr algn="ctr"/>
                      <a:r>
                        <a:rPr sz="2000"/>
                        <a:t>Predefined dependency sets (like spring-boot-starter-web) to quickly add features without manually managing multiple libraries.</a:t>
                      </a:r>
                      <a:endParaRPr sz="2000"/>
                    </a:p>
                  </a:txBody>
                  <a:tcPr marL="0" marR="0" marT="0" marB="0" anchor="ctr" anchorCtr="0"/>
                </a:tc>
              </a:tr>
              <a:tr h="381000">
                <a:tc>
                  <a:txBody>
                    <a:bodyPr/>
                    <a:p>
                      <a:pPr algn="ctr"/>
                      <a:r>
                        <a:rPr sz="2000"/>
                        <a:t>3. Application Properties / YAML</a:t>
                      </a:r>
                      <a:endParaRPr sz="2000"/>
                    </a:p>
                  </a:txBody>
                  <a:tcPr marL="0" marR="0" marT="0" marB="0" anchor="ctr" anchorCtr="0"/>
                </a:tc>
                <a:tc>
                  <a:txBody>
                    <a:bodyPr/>
                    <a:p>
                      <a:pPr algn="ctr"/>
                      <a:r>
                        <a:rPr sz="2000"/>
                        <a:t>Centralized configuration for the application using application.properties or application.yml, supporting profiles, custom settings, and overrides.</a:t>
                      </a:r>
                      <a:endParaRPr sz="2000"/>
                    </a:p>
                  </a:txBody>
                  <a:tcPr marL="0" marR="0" marT="0" marB="0" anchor="ctr" anchorCtr="0"/>
                </a:tc>
              </a:tr>
              <a:tr h="381000">
                <a:tc>
                  <a:txBody>
                    <a:bodyPr/>
                    <a:p>
                      <a:pPr algn="ctr"/>
                      <a:r>
                        <a:rPr sz="2000"/>
                        <a:t>4. Actuator</a:t>
                      </a:r>
                      <a:endParaRPr sz="2000"/>
                    </a:p>
                  </a:txBody>
                  <a:tcPr marL="0" marR="0" marT="0" marB="0" anchor="ctr" anchorCtr="0"/>
                </a:tc>
                <a:tc>
                  <a:txBody>
                    <a:bodyPr/>
                    <a:p>
                      <a:pPr algn="ctr"/>
                      <a:r>
                        <a:rPr sz="2000"/>
                        <a:t>Provides built-in endpoints to monitor and manage your application, like health, metrics, and environment info.</a:t>
                      </a:r>
                      <a:endParaRPr sz="2000"/>
                    </a:p>
                  </a:txBody>
                  <a:tcPr marL="0" marR="0" marT="0" marB="0" anchor="ctr" anchorCtr="0"/>
                </a:tc>
              </a:tr>
              <a:tr h="381000">
                <a:tc>
                  <a:txBody>
                    <a:bodyPr/>
                    <a:p>
                      <a:pPr algn="ctr"/>
                      <a:r>
                        <a:rPr sz="2000"/>
                        <a:t>5. Spring Boot CLI</a:t>
                      </a:r>
                      <a:endParaRPr sz="2000"/>
                    </a:p>
                  </a:txBody>
                  <a:tcPr marL="0" marR="0" marT="0" marB="0" anchor="ctr" anchorCtr="0"/>
                </a:tc>
                <a:tc>
                  <a:txBody>
                    <a:bodyPr/>
                    <a:p>
                      <a:pPr algn="ctr"/>
                      <a:r>
                        <a:rPr sz="2000"/>
                        <a:t>Command-line tool to quickly create, run, and test Spring Boot applications, ideal for prototyping and demos.</a:t>
                      </a:r>
                      <a:endParaRPr sz="2000"/>
                    </a:p>
                  </a:txBody>
                  <a:tcPr marL="0" marR="0" marT="0" marB="0" anchor="ctr" anchorCtr="0"/>
                </a:tc>
              </a:tr>
              <a:tr h="381000">
                <a:tc>
                  <a:txBody>
                    <a:bodyPr/>
                    <a:p>
                      <a:pPr algn="ctr"/>
                      <a:r>
                        <a:rPr sz="2000"/>
                        <a:t>6. Annotations</a:t>
                      </a:r>
                      <a:endParaRPr sz="2000"/>
                    </a:p>
                  </a:txBody>
                  <a:tcPr marL="0" marR="0" marT="0" marB="0" anchor="ctr" anchorCtr="0"/>
                </a:tc>
                <a:tc>
                  <a:txBody>
                    <a:bodyPr/>
                    <a:p>
                      <a:pPr algn="ctr"/>
                      <a:r>
                        <a:rPr sz="2000"/>
                        <a:t>Core Spring Boot annotations (@SpringBootApplication, @RestController, @Service, etc.) simplify configuration, component scanning, and dependency injection.</a:t>
                      </a:r>
                      <a:endParaRPr sz="2000"/>
                    </a:p>
                  </a:txBody>
                  <a:tcPr marL="0" marR="0" marT="0" marB="0" anchor="ctr" anchorCtr="0"/>
                </a:tc>
              </a:tr>
            </a:tbl>
          </a:graphicData>
        </a:graphic>
      </p:graphicFrame>
    </p:spTree>
  </p:cSld>
  <p:clrMapOvr>
    <a:masterClrMapping/>
  </p:clrMapOvr>
</p:sld>
</file>

<file path=ppt/tags/tag1.xml><?xml version="1.0" encoding="utf-8"?>
<p:tagLst xmlns:p="http://schemas.openxmlformats.org/presentationml/2006/main">
  <p:tag name="TABLE_ENDDRAG_ORIGIN_RECT" val="828*183"/>
  <p:tag name="TABLE_ENDDRAG_RECT" val="66*143*828*183"/>
</p:tagLst>
</file>

<file path=ppt/tags/tag2.xml><?xml version="1.0" encoding="utf-8"?>
<p:tagLst xmlns:p="http://schemas.openxmlformats.org/presentationml/2006/main">
  <p:tag name="TABLE_ENDDRAG_ORIGIN_RECT" val="828*183"/>
  <p:tag name="TABLE_ENDDRAG_RECT" val="66*143*828*183"/>
</p:tagLst>
</file>

<file path=ppt/tags/tag3.xml><?xml version="1.0" encoding="utf-8"?>
<p:tagLst xmlns:p="http://schemas.openxmlformats.org/presentationml/2006/main">
  <p:tag name="TABLE_ENDDRAG_ORIGIN_RECT" val="828*183"/>
  <p:tag name="TABLE_ENDDRAG_RECT" val="66*143*828*183"/>
</p:tagLst>
</file>

<file path=ppt/tags/tag4.xml><?xml version="1.0" encoding="utf-8"?>
<p:tagLst xmlns:p="http://schemas.openxmlformats.org/presentationml/2006/main">
  <p:tag name="TABLE_ENDDRAG_ORIGIN_RECT" val="665*376"/>
  <p:tag name="TABLE_ENDDRAG_RECT" val="36*126*665*376"/>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Classic">
      <a:majorFont>
        <a:latin typeface="Arial"/>
        <a:ea typeface=""/>
        <a:cs typeface=""/>
        <a:font script="Jpan" typeface="ＭＳ Ｐゴシック"/>
        <a:font script="Hang" typeface="돋움"/>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Times New Roman"/>
        <a:ea typeface=""/>
        <a:cs typeface=""/>
        <a:font script="Jpan" typeface="ＭＳ Ｐ明朝"/>
        <a:font script="Hang" typeface="바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22613</Words>
  <Application>WPS Presentation</Application>
  <PresentationFormat>Widescreen</PresentationFormat>
  <Paragraphs>536</Paragraphs>
  <Slides>37</Slides>
  <Notes>0</Notes>
  <HiddenSlides>0</HiddenSlides>
  <MMClips>0</MMClips>
  <ScaleCrop>false</ScaleCrop>
  <HeadingPairs>
    <vt:vector size="6" baseType="variant">
      <vt:variant>
        <vt:lpstr>已用的字体</vt:lpstr>
      </vt:variant>
      <vt:variant>
        <vt:i4>10</vt:i4>
      </vt:variant>
      <vt:variant>
        <vt:lpstr>主题</vt:lpstr>
      </vt:variant>
      <vt:variant>
        <vt:i4>1</vt:i4>
      </vt:variant>
      <vt:variant>
        <vt:lpstr>幻灯片标题</vt:lpstr>
      </vt:variant>
      <vt:variant>
        <vt:i4>37</vt:i4>
      </vt:variant>
    </vt:vector>
  </HeadingPairs>
  <TitlesOfParts>
    <vt:vector size="48" baseType="lpstr">
      <vt:lpstr>Arial</vt:lpstr>
      <vt:lpstr>SimSun</vt:lpstr>
      <vt:lpstr>Wingdings</vt:lpstr>
      <vt:lpstr>Arial Unicode MS</vt:lpstr>
      <vt:lpstr>Calibri Light</vt:lpstr>
      <vt:lpstr>Calibri</vt:lpstr>
      <vt:lpstr>Microsoft YaHei</vt:lpstr>
      <vt:lpstr>Times New Roman</vt:lpstr>
      <vt:lpstr>fkGroteskNeue</vt:lpstr>
      <vt:lpstr>Segoe Print</vt:lpstr>
      <vt:lpstr>Office Theme</vt:lpstr>
      <vt:lpstr>PowerPoint 演示文稿</vt:lpstr>
      <vt:lpstr>Auto-Configuration</vt:lpstr>
      <vt:lpstr>PowerPoint 演示文稿</vt:lpstr>
      <vt:lpstr>PowerPoint 演示文稿</vt:lpstr>
      <vt:lpstr>How Auto-Configuration Works</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Spring Boot - Starters</vt:lpstr>
      <vt:lpstr>Types of Starters</vt:lpstr>
      <vt:lpstr>PowerPoint 演示文稿</vt:lpstr>
      <vt:lpstr>Web &amp; MVC Starters</vt:lpstr>
      <vt:lpstr>Data &amp; Security Starters</vt:lpstr>
      <vt:lpstr>PowerPoint 演示文稿</vt:lpstr>
      <vt:lpstr>Application Properties / YAML in Spring Boot</vt:lpstr>
      <vt:lpstr>PowerPoint 演示文稿</vt:lpstr>
      <vt:lpstr>PowerPoint 演示文稿</vt:lpstr>
      <vt:lpstr>PowerPoint 演示文稿</vt:lpstr>
      <vt:lpstr>Actuator</vt:lpstr>
      <vt:lpstr>PowerPoint 演示文稿</vt:lpstr>
      <vt:lpstr>PowerPoint 演示文稿</vt:lpstr>
      <vt:lpstr>What is Spring CLI</vt:lpstr>
      <vt:lpstr>PowerPoint 演示文稿</vt:lpstr>
      <vt:lpstr>PowerPoint 演示文稿</vt:lpstr>
      <vt:lpstr>PowerPoint 演示文稿</vt:lpstr>
      <vt:lpstr>Commands of CLI</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WPS Presentation</dc:title>
  <dc:creator>ychoudhary</dc:creator>
  <cp:lastModifiedBy>Yukti Choudhary</cp:lastModifiedBy>
  <cp:revision>9</cp:revision>
  <dcterms:created xsi:type="dcterms:W3CDTF">2025-07-23T00:59:00Z</dcterms:created>
  <dcterms:modified xsi:type="dcterms:W3CDTF">2025-09-16T11:51:15Z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E97061C6445B4E539AD1ADC73168A369_11</vt:lpwstr>
  </property>
  <property fmtid="{D5CDD505-2E9C-101B-9397-08002B2CF9AE}" pid="3" name="KSOProductBuildVer">
    <vt:lpwstr>1033-12.2.0.22530</vt:lpwstr>
  </property>
</Properties>
</file>