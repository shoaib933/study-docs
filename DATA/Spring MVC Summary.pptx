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82" r:id="rId6"/>
    <p:sldId id="283" r:id="rId7"/>
    <p:sldId id="259" r:id="rId8"/>
    <p:sldId id="284" r:id="rId9"/>
    <p:sldId id="296" r:id="rId10"/>
    <p:sldId id="264" r:id="rId11"/>
    <p:sldId id="285" r:id="rId12"/>
    <p:sldId id="286" r:id="rId13"/>
    <p:sldId id="287" r:id="rId14"/>
    <p:sldId id="293" r:id="rId15"/>
    <p:sldId id="265" r:id="rId16"/>
    <p:sldId id="288" r:id="rId17"/>
    <p:sldId id="266" r:id="rId18"/>
    <p:sldId id="289" r:id="rId19"/>
    <p:sldId id="267" r:id="rId20"/>
    <p:sldId id="290" r:id="rId21"/>
    <p:sldId id="268" r:id="rId22"/>
    <p:sldId id="291" r:id="rId23"/>
    <p:sldId id="269" r:id="rId24"/>
    <p:sldId id="281" r:id="rId25"/>
    <p:sldId id="292"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y 1" id="{358d6c21-3659-4651-887f-936a06a643d5}">
          <p14:sldIdLst>
            <p14:sldId id="256"/>
            <p14:sldId id="257"/>
            <p14:sldId id="258"/>
            <p14:sldId id="282"/>
            <p14:sldId id="283"/>
            <p14:sldId id="259"/>
            <p14:sldId id="284"/>
            <p14:sldId id="296"/>
            <p14:sldId id="264"/>
            <p14:sldId id="285"/>
            <p14:sldId id="286"/>
            <p14:sldId id="287"/>
            <p14:sldId id="293"/>
            <p14:sldId id="265"/>
            <p14:sldId id="288"/>
            <p14:sldId id="266"/>
            <p14:sldId id="289"/>
            <p14:sldId id="267"/>
            <p14:sldId id="290"/>
            <p14:sldId id="268"/>
            <p14:sldId id="291"/>
            <p14:sldId id="269"/>
            <p14:sldId id="281"/>
            <p14:sldId id="292"/>
          </p14:sldIdLst>
        </p14:section>
      </p14:sectionLst>
    </p:ext>
    <p:ext uri="{EFAFB233-063F-42B5-8137-9DF3F51BA10A}">
      <p15:sldGuideLst xmlns:p15="http://schemas.microsoft.com/office/powerpoint/2012/main">
        <p15:guide id="1" orient="horz" pos="213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33"/>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8CED798-24A6-4160-A4DF-B0E5BB8236C2}" type="doc">
      <dgm:prSet loTypeId="list" loCatId="list" qsTypeId="urn:microsoft.com/office/officeart/2005/8/quickstyle/simple1" qsCatId="simple" csTypeId="urn:microsoft.com/office/officeart/2005/8/colors/accent1_2" csCatId="accent1" phldr="1"/>
      <dgm:spPr/>
      <dgm:t>
        <a:bodyPr/>
        <a:p>
          <a:endParaRPr lang="en-US"/>
        </a:p>
      </dgm:t>
    </dgm:pt>
    <dgm:pt modelId="{91F5AF42-2E8E-47F5-BC8E-D4C7FA9FA290}">
      <dgm:prSet phldrT="[Text]" phldr="0" custT="0"/>
      <dgm:spPr/>
      <dgm:t>
        <a:bodyPr vert="horz" wrap="square"/>
        <a:p>
          <a:pPr>
            <a:lnSpc>
              <a:spcPct val="100000"/>
            </a:lnSpc>
            <a:spcBef>
              <a:spcPct val="0"/>
            </a:spcBef>
            <a:spcAft>
              <a:spcPct val="35000"/>
            </a:spcAft>
          </a:pPr>
          <a:r>
            <a:rPr lang="en-US" altLang="en-US"/>
            <a:t>Key Components of Dispatcher Servlet</a:t>
          </a:r>
          <a:endParaRPr lang="en-US" altLang="en-US"/>
        </a:p>
      </dgm:t>
    </dgm:pt>
    <dgm:pt modelId="{3A37C892-50B7-47F1-86AA-3FDF5EB4EE9B}" cxnId="{66FBF7B2-9B26-4C4A-9B61-D9FC32220A6C}" type="parTrans">
      <dgm:prSet/>
      <dgm:spPr/>
      <dgm:t>
        <a:bodyPr/>
        <a:p>
          <a:endParaRPr lang="en-US"/>
        </a:p>
      </dgm:t>
    </dgm:pt>
    <dgm:pt modelId="{63B1AD43-9D20-4050-A552-EF02B5A2392B}" cxnId="{66FBF7B2-9B26-4C4A-9B61-D9FC32220A6C}" type="sibTrans">
      <dgm:prSet/>
      <dgm:spPr/>
      <dgm:t>
        <a:bodyPr/>
        <a:p>
          <a:endParaRPr lang="en-US"/>
        </a:p>
      </dgm:t>
    </dgm:pt>
    <dgm:pt modelId="{39B85EC0-3D03-4578-A5E5-65A36EAAA535}">
      <dgm:prSet phldr="0" custT="0"/>
      <dgm:spPr/>
      <dgm:t>
        <a:bodyPr vert="horz" wrap="square" anchor="b" anchorCtr="0"/>
        <a:p>
          <a:pPr>
            <a:lnSpc>
              <a:spcPct val="100000"/>
            </a:lnSpc>
            <a:spcBef>
              <a:spcPct val="0"/>
            </a:spcBef>
            <a:spcAft>
              <a:spcPct val="35000"/>
            </a:spcAft>
          </a:pPr>
          <a:r>
            <a:rPr lang="en-US" altLang="en-US"/>
            <a:t>Handler Mappings</a:t>
          </a:r>
          <a:r>
            <a:rPr lang="en-US" altLang="en-US"/>
            <a:t/>
          </a:r>
          <a:endParaRPr lang="en-US" altLang="en-US"/>
        </a:p>
        <a:p>
          <a:pPr>
            <a:lnSpc>
              <a:spcPct val="100000"/>
            </a:lnSpc>
            <a:spcBef>
              <a:spcPct val="0"/>
            </a:spcBef>
            <a:spcAft>
              <a:spcPct val="35000"/>
            </a:spcAft>
          </a:pPr>
          <a:r>
            <a:rPr lang="en-US" altLang="en-US"/>
            <a:t>Decide which controller method should process each request.</a:t>
          </a:r>
          <a:r>
            <a:rPr/>
            <a:t/>
          </a:r>
          <a:endParaRPr/>
        </a:p>
      </dgm:t>
    </dgm:pt>
    <dgm:pt modelId="{E5C0128D-D5E0-49F2-8A77-10A7FC5F29DA}" cxnId="{658D9CC2-EFAE-48BB-8FC5-F0F9EF89EFCB}" type="parTrans">
      <dgm:prSet/>
      <dgm:spPr/>
    </dgm:pt>
    <dgm:pt modelId="{B1F21237-25B9-4927-B849-D0DCB9C1F925}" cxnId="{658D9CC2-EFAE-48BB-8FC5-F0F9EF89EFCB}" type="sibTrans">
      <dgm:prSet/>
      <dgm:spPr/>
    </dgm:pt>
    <dgm:pt modelId="{36739251-0C96-4E9A-8C11-AE8D1330C206}">
      <dgm:prSet phldr="0" custT="0"/>
      <dgm:spPr/>
      <dgm:t>
        <a:bodyPr vert="horz" wrap="square" anchor="b" anchorCtr="0"/>
        <a:p>
          <a:pPr>
            <a:lnSpc>
              <a:spcPct val="100000"/>
            </a:lnSpc>
            <a:spcBef>
              <a:spcPct val="0"/>
            </a:spcBef>
            <a:spcAft>
              <a:spcPct val="35000"/>
            </a:spcAft>
          </a:pPr>
          <a:r>
            <a:rPr lang="en-US" altLang="en-US"/>
            <a:t>Handler Adapters</a:t>
          </a:r>
          <a:r>
            <a:rPr lang="en-US" altLang="en-US"/>
            <a:t/>
          </a:r>
          <a:endParaRPr lang="en-US" altLang="en-US"/>
        </a:p>
        <a:p>
          <a:pPr>
            <a:lnSpc>
              <a:spcPct val="100000"/>
            </a:lnSpc>
            <a:spcBef>
              <a:spcPct val="0"/>
            </a:spcBef>
            <a:spcAft>
              <a:spcPct val="35000"/>
            </a:spcAft>
          </a:pPr>
          <a:r>
            <a:rPr lang="en-US" altLang="en-US"/>
            <a:t>Allow different handler/controller methods to be invoked flexibly.</a:t>
          </a:r>
          <a:r>
            <a:rPr/>
            <a:t/>
          </a:r>
          <a:endParaRPr/>
        </a:p>
      </dgm:t>
    </dgm:pt>
    <dgm:pt modelId="{826BA3D2-AA84-4DA5-94C5-93FE057CE692}" cxnId="{F1080171-3107-4DFF-83F8-4F056CD581B2}" type="parTrans">
      <dgm:prSet/>
      <dgm:spPr/>
    </dgm:pt>
    <dgm:pt modelId="{D519620F-C22E-4A69-93F8-7FD2E4704160}" cxnId="{F1080171-3107-4DFF-83F8-4F056CD581B2}" type="sibTrans">
      <dgm:prSet/>
      <dgm:spPr/>
    </dgm:pt>
    <dgm:pt modelId="{9CA6AA97-DD9C-45EE-9EC4-0BEA513C875F}">
      <dgm:prSet phldr="0" custT="0"/>
      <dgm:spPr/>
      <dgm:t>
        <a:bodyPr vert="horz" wrap="square" anchor="t" anchorCtr="0"/>
        <a:p>
          <a:pPr>
            <a:lnSpc>
              <a:spcPct val="100000"/>
            </a:lnSpc>
            <a:spcBef>
              <a:spcPct val="0"/>
            </a:spcBef>
            <a:spcAft>
              <a:spcPct val="35000"/>
            </a:spcAft>
          </a:pPr>
          <a:r>
            <a:rPr lang="en-US" altLang="en-US"/>
            <a:t>View Resolvers</a:t>
          </a:r>
          <a:r>
            <a:rPr lang="en-US" altLang="en-US"/>
            <a:t/>
          </a:r>
          <a:endParaRPr lang="en-US" altLang="en-US"/>
        </a:p>
        <a:p>
          <a:pPr>
            <a:lnSpc>
              <a:spcPct val="100000"/>
            </a:lnSpc>
            <a:spcBef>
              <a:spcPct val="0"/>
            </a:spcBef>
            <a:spcAft>
              <a:spcPct val="35000"/>
            </a:spcAft>
          </a:pPr>
          <a:r>
            <a:rPr lang="en-US" altLang="en-US"/>
            <a:t>Determine how to render the view based on the logical view name returned by controllers.</a:t>
          </a:r>
          <a:r>
            <a:rPr/>
            <a:t/>
          </a:r>
          <a:endParaRPr/>
        </a:p>
      </dgm:t>
    </dgm:pt>
    <dgm:pt modelId="{CB9E5565-8AB1-4123-AA02-769E35576474}" cxnId="{FD08225C-481B-4B8F-BB59-F5C723D50DFA}" type="parTrans">
      <dgm:prSet/>
      <dgm:spPr/>
    </dgm:pt>
    <dgm:pt modelId="{B80DABF9-91C9-4160-A589-475A8654E7EC}" cxnId="{FD08225C-481B-4B8F-BB59-F5C723D50DFA}" type="sibTrans">
      <dgm:prSet/>
      <dgm:spPr/>
    </dgm:pt>
    <dgm:pt modelId="{B6C4F723-43A8-42F9-9373-4652618C57CD}">
      <dgm:prSet phldr="0" custT="0"/>
      <dgm:spPr/>
      <dgm:t>
        <a:bodyPr vert="horz" wrap="square" anchor="t" anchorCtr="0"/>
        <a:p>
          <a:pPr>
            <a:lnSpc>
              <a:spcPct val="100000"/>
            </a:lnSpc>
            <a:spcBef>
              <a:spcPct val="0"/>
            </a:spcBef>
            <a:spcAft>
              <a:spcPct val="35000"/>
            </a:spcAft>
          </a:pPr>
          <a:r>
            <a:rPr lang="en-US" altLang="en-US"/>
            <a:t>Exception Resolvers</a:t>
          </a:r>
          <a:r>
            <a:rPr lang="en-US" altLang="en-US"/>
            <a:t/>
          </a:r>
          <a:endParaRPr lang="en-US" altLang="en-US"/>
        </a:p>
        <a:p>
          <a:pPr>
            <a:lnSpc>
              <a:spcPct val="100000"/>
            </a:lnSpc>
            <a:spcBef>
              <a:spcPct val="0"/>
            </a:spcBef>
            <a:spcAft>
              <a:spcPct val="35000"/>
            </a:spcAft>
          </a:pPr>
          <a:r>
            <a:rPr lang="en-US" altLang="en-US"/>
            <a:t>Handle errors and return appropriate error views or messages.</a:t>
          </a:r>
          <a:r>
            <a:rPr/>
            <a:t/>
          </a:r>
          <a:endParaRPr/>
        </a:p>
      </dgm:t>
    </dgm:pt>
    <dgm:pt modelId="{CC5847DF-4575-4DA7-96E7-9E8AB5111FB9}" cxnId="{A723BF84-7159-40B5-BEFD-802160FE77A5}" type="parTrans">
      <dgm:prSet/>
      <dgm:spPr/>
    </dgm:pt>
    <dgm:pt modelId="{F8FCF580-438B-4151-A8A7-D1AC264025F4}" cxnId="{A723BF84-7159-40B5-BEFD-802160FE77A5}" type="sibTrans">
      <dgm:prSet/>
      <dgm:spPr/>
    </dgm:pt>
    <dgm:pt modelId="{280D5902-A14D-4C39-A125-DEF43C7815E8}">
      <dgm:prSet phldrT="[Text]" phldr="0" custT="0"/>
      <dgm:spPr/>
      <dgm:t>
        <a:bodyPr vert="horz" wrap="square"/>
        <a:p>
          <a:pPr>
            <a:lnSpc>
              <a:spcPct val="100000"/>
            </a:lnSpc>
            <a:spcBef>
              <a:spcPct val="0"/>
            </a:spcBef>
            <a:spcAft>
              <a:spcPct val="35000"/>
            </a:spcAft>
          </a:pPr>
          <a:r>
            <a:rPr lang="en-US"/>
            <a:t>Handler Adapters</a:t>
          </a:r>
          <a:endParaRPr lang="en-US"/>
        </a:p>
        <a:p>
          <a:pPr>
            <a:lnSpc>
              <a:spcPct val="100000"/>
            </a:lnSpc>
            <a:spcBef>
              <a:spcPct val="0"/>
            </a:spcBef>
            <a:spcAft>
              <a:spcPct val="35000"/>
            </a:spcAft>
          </a:pPr>
          <a:r>
            <a:rPr lang="en-US" altLang="en-US"/>
            <a:t>Allow different handler/controller methods to be invoked flexibly.</a:t>
          </a:r>
          <a:r>
            <a:rPr lang="en-US" altLang="en-US"/>
            <a:t/>
          </a:r>
          <a:endParaRPr lang="en-US" altLang="en-US"/>
        </a:p>
      </dgm:t>
    </dgm:pt>
    <dgm:pt modelId="{0BF6BCDE-F41A-4644-928D-D095CDC58CED}" cxnId="{6D3728A1-AB13-43FD-9E32-7869D20AC1D7}" type="parTrans">
      <dgm:prSet/>
      <dgm:spPr/>
      <dgm:t>
        <a:bodyPr/>
        <a:p>
          <a:endParaRPr lang="en-US"/>
        </a:p>
      </dgm:t>
    </dgm:pt>
    <dgm:pt modelId="{CC55538B-3B09-4E9F-877D-7D4FB05A20D8}" cxnId="{6D3728A1-AB13-43FD-9E32-7869D20AC1D7}" type="sibTrans">
      <dgm:prSet/>
      <dgm:spPr/>
      <dgm:t>
        <a:bodyPr/>
        <a:p>
          <a:endParaRPr lang="en-US"/>
        </a:p>
      </dgm:t>
    </dgm:pt>
    <dgm:pt modelId="{36E5B5FE-7A44-47A1-8F92-B088257A2152}">
      <dgm:prSet phldrT="[Text]" phldr="0" custT="0"/>
      <dgm:spPr/>
      <dgm:t>
        <a:bodyPr vert="horz" wrap="square"/>
        <a:p>
          <a:pPr>
            <a:lnSpc>
              <a:spcPct val="100000"/>
            </a:lnSpc>
            <a:spcBef>
              <a:spcPct val="0"/>
            </a:spcBef>
            <a:spcAft>
              <a:spcPct val="35000"/>
            </a:spcAft>
          </a:pPr>
          <a:r>
            <a:rPr lang="en-US" altLang="en-US"/>
            <a:t>View Resolvers</a:t>
          </a:r>
          <a:endParaRPr lang="en-US" altLang="en-US"/>
        </a:p>
        <a:p>
          <a:pPr>
            <a:lnSpc>
              <a:spcPct val="100000"/>
            </a:lnSpc>
            <a:spcBef>
              <a:spcPct val="0"/>
            </a:spcBef>
            <a:spcAft>
              <a:spcPct val="35000"/>
            </a:spcAft>
          </a:pPr>
          <a:r>
            <a:rPr lang="en-US" altLang="en-US"/>
            <a:t>Determine how to render the view based on the logical view name returned by controllers.</a:t>
          </a:r>
          <a:r>
            <a:rPr lang="en-US" altLang="en-US"/>
            <a:t/>
          </a:r>
          <a:endParaRPr lang="en-US" altLang="en-US"/>
        </a:p>
      </dgm:t>
    </dgm:pt>
    <dgm:pt modelId="{7926F024-4AEC-4671-BBB1-3CE0B2112B8B}" cxnId="{5BBC62C2-A96B-42A4-A0B8-E529FDE12535}" type="parTrans">
      <dgm:prSet/>
      <dgm:spPr/>
      <dgm:t>
        <a:bodyPr/>
        <a:p>
          <a:endParaRPr lang="en-US"/>
        </a:p>
      </dgm:t>
    </dgm:pt>
    <dgm:pt modelId="{BC0418CD-7831-4545-B1D9-93D351CF53C3}" cxnId="{5BBC62C2-A96B-42A4-A0B8-E529FDE12535}" type="sibTrans">
      <dgm:prSet/>
      <dgm:spPr/>
      <dgm:t>
        <a:bodyPr/>
        <a:p>
          <a:endParaRPr lang="en-US"/>
        </a:p>
      </dgm:t>
    </dgm:pt>
    <dgm:pt modelId="{0C7D3D51-F412-476C-9C1C-D9011C5FB7E6}">
      <dgm:prSet phldrT="[Text]" phldr="0" custT="0"/>
      <dgm:spPr/>
      <dgm:t>
        <a:bodyPr vert="horz" wrap="square"/>
        <a:p>
          <a:pPr>
            <a:lnSpc>
              <a:spcPct val="100000"/>
            </a:lnSpc>
            <a:spcBef>
              <a:spcPct val="0"/>
            </a:spcBef>
            <a:spcAft>
              <a:spcPct val="35000"/>
            </a:spcAft>
          </a:pPr>
          <a:r>
            <a:rPr lang="en-US" altLang="en-US"/>
            <a:t>Exception Resolvers</a:t>
          </a:r>
          <a:r>
            <a:rPr lang="en-US" altLang="en-US"/>
            <a:t/>
          </a:r>
          <a:endParaRPr lang="en-US" altLang="en-US"/>
        </a:p>
        <a:p>
          <a:pPr>
            <a:lnSpc>
              <a:spcPct val="100000"/>
            </a:lnSpc>
            <a:spcBef>
              <a:spcPct val="0"/>
            </a:spcBef>
            <a:spcAft>
              <a:spcPct val="35000"/>
            </a:spcAft>
          </a:pPr>
          <a:r>
            <a:rPr lang="en-US" altLang="en-US"/>
            <a:t>Handle errors and return appropriate error views or messages.</a:t>
          </a:r>
          <a:r>
            <a:rPr lang="en-US" altLang="en-US"/>
            <a:t/>
          </a:r>
          <a:endParaRPr lang="en-US" altLang="en-US"/>
        </a:p>
      </dgm:t>
    </dgm:pt>
    <dgm:pt modelId="{400E46CD-A113-4830-88F5-A1B2F4D84554}" cxnId="{E7229032-49DD-446C-BC4F-9E5F64909E99}" type="parTrans">
      <dgm:prSet/>
      <dgm:spPr/>
      <dgm:t>
        <a:bodyPr/>
        <a:p>
          <a:endParaRPr lang="en-US"/>
        </a:p>
      </dgm:t>
    </dgm:pt>
    <dgm:pt modelId="{F5A1DABB-6DD6-47EE-99A8-4582EBF4C827}" cxnId="{E7229032-49DD-446C-BC4F-9E5F64909E99}" type="sibTrans">
      <dgm:prSet/>
      <dgm:spPr/>
      <dgm:t>
        <a:bodyPr/>
        <a:p>
          <a:endParaRPr lang="en-US"/>
        </a:p>
      </dgm:t>
    </dgm:pt>
    <dgm:pt modelId="{EEDDF7D4-85E7-4758-A973-B0C603B22311}" type="pres">
      <dgm:prSet presAssocID="{98CED798-24A6-4160-A4DF-B0E5BB8236C2}" presName="diagram" presStyleCnt="0">
        <dgm:presLayoutVars>
          <dgm:chMax val="1"/>
          <dgm:dir/>
          <dgm:animLvl val="ctr"/>
          <dgm:resizeHandles val="exact"/>
        </dgm:presLayoutVars>
      </dgm:prSet>
      <dgm:spPr/>
    </dgm:pt>
    <dgm:pt modelId="{C0452CEB-F54D-4C4C-A95B-AF2C1E7C0C55}" type="pres">
      <dgm:prSet presAssocID="{98CED798-24A6-4160-A4DF-B0E5BB8236C2}" presName="matrix" presStyleCnt="0"/>
      <dgm:spPr/>
    </dgm:pt>
    <dgm:pt modelId="{7EA2E538-CBA9-4899-BC4C-ADBAA919F569}" type="pres">
      <dgm:prSet presAssocID="{98CED798-24A6-4160-A4DF-B0E5BB8236C2}" presName="tile1" presStyleLbl="node1" presStyleIdx="0" presStyleCnt="4"/>
      <dgm:spPr/>
    </dgm:pt>
    <dgm:pt modelId="{7390F158-F671-48A0-854F-453408FDC9E6}" type="pres">
      <dgm:prSet presAssocID="{98CED798-24A6-4160-A4DF-B0E5BB8236C2}" presName="tile1text" presStyleCnt="0">
        <dgm:presLayoutVars>
          <dgm:chMax val="0"/>
          <dgm:chPref val="0"/>
          <dgm:bulletEnabled val="1"/>
        </dgm:presLayoutVars>
      </dgm:prSet>
      <dgm:spPr/>
    </dgm:pt>
    <dgm:pt modelId="{2526B706-AFA9-4326-A083-D292EFC8529B}" type="pres">
      <dgm:prSet presAssocID="{98CED798-24A6-4160-A4DF-B0E5BB8236C2}" presName="tile2" presStyleLbl="node1" presStyleIdx="1" presStyleCnt="4"/>
      <dgm:spPr/>
    </dgm:pt>
    <dgm:pt modelId="{37EBB957-9488-43A9-B0B1-7E48D5398295}" type="pres">
      <dgm:prSet presAssocID="{98CED798-24A6-4160-A4DF-B0E5BB8236C2}" presName="tile2text" presStyleCnt="0">
        <dgm:presLayoutVars>
          <dgm:chMax val="0"/>
          <dgm:chPref val="0"/>
          <dgm:bulletEnabled val="1"/>
        </dgm:presLayoutVars>
      </dgm:prSet>
      <dgm:spPr/>
    </dgm:pt>
    <dgm:pt modelId="{575D90DD-06E7-4DA9-A075-A0F3AD1AA0A1}" type="pres">
      <dgm:prSet presAssocID="{98CED798-24A6-4160-A4DF-B0E5BB8236C2}" presName="tile3" presStyleLbl="node1" presStyleIdx="2" presStyleCnt="4"/>
      <dgm:spPr/>
    </dgm:pt>
    <dgm:pt modelId="{ECBDDE20-D6AE-4EAC-92B3-FAA9EEC3BEA7}" type="pres">
      <dgm:prSet presAssocID="{98CED798-24A6-4160-A4DF-B0E5BB8236C2}" presName="tile3text" presStyleCnt="0">
        <dgm:presLayoutVars>
          <dgm:chMax val="0"/>
          <dgm:chPref val="0"/>
          <dgm:bulletEnabled val="1"/>
        </dgm:presLayoutVars>
      </dgm:prSet>
      <dgm:spPr/>
    </dgm:pt>
    <dgm:pt modelId="{3A0FB3A6-59F8-4552-BEC7-002FBCB15064}" type="pres">
      <dgm:prSet presAssocID="{98CED798-24A6-4160-A4DF-B0E5BB8236C2}" presName="tile4" presStyleLbl="node1" presStyleIdx="3" presStyleCnt="4"/>
      <dgm:spPr/>
    </dgm:pt>
    <dgm:pt modelId="{EF9F7BF6-A681-4FE7-ACA5-E21F3543BB28}" type="pres">
      <dgm:prSet presAssocID="{98CED798-24A6-4160-A4DF-B0E5BB8236C2}" presName="tile4text" presStyleCnt="0">
        <dgm:presLayoutVars>
          <dgm:chMax val="0"/>
          <dgm:chPref val="0"/>
          <dgm:bulletEnabled val="1"/>
        </dgm:presLayoutVars>
      </dgm:prSet>
      <dgm:spPr/>
    </dgm:pt>
    <dgm:pt modelId="{AD85CDFB-EB67-4BCE-83AE-AB28B46775A6}" type="pres">
      <dgm:prSet presAssocID="{98CED798-24A6-4160-A4DF-B0E5BB8236C2}" presName="centerTile" presStyleLbl="fgShp" presStyleIdx="0" presStyleCnt="1">
        <dgm:presLayoutVars>
          <dgm:chMax val="0"/>
          <dgm:chPref val="0"/>
        </dgm:presLayoutVars>
      </dgm:prSet>
      <dgm:spPr/>
    </dgm:pt>
  </dgm:ptLst>
  <dgm:cxnLst>
    <dgm:cxn modelId="{66FBF7B2-9B26-4C4A-9B61-D9FC32220A6C}" srcId="{98CED798-24A6-4160-A4DF-B0E5BB8236C2}" destId="{91F5AF42-2E8E-47F5-BC8E-D4C7FA9FA290}" srcOrd="0" destOrd="0" parTransId="{3A37C892-50B7-47F1-86AA-3FDF5EB4EE9B}" sibTransId="{63B1AD43-9D20-4050-A552-EF02B5A2392B}"/>
    <dgm:cxn modelId="{658D9CC2-EFAE-48BB-8FC5-F0F9EF89EFCB}" srcId="{91F5AF42-2E8E-47F5-BC8E-D4C7FA9FA290}" destId="{39B85EC0-3D03-4578-A5E5-65A36EAAA535}" srcOrd="0" destOrd="0" parTransId="{E5C0128D-D5E0-49F2-8A77-10A7FC5F29DA}" sibTransId="{B1F21237-25B9-4927-B849-D0DCB9C1F925}"/>
    <dgm:cxn modelId="{F1080171-3107-4DFF-83F8-4F056CD581B2}" srcId="{91F5AF42-2E8E-47F5-BC8E-D4C7FA9FA290}" destId="{36739251-0C96-4E9A-8C11-AE8D1330C206}" srcOrd="1" destOrd="0" parTransId="{826BA3D2-AA84-4DA5-94C5-93FE057CE692}" sibTransId="{D519620F-C22E-4A69-93F8-7FD2E4704160}"/>
    <dgm:cxn modelId="{FD08225C-481B-4B8F-BB59-F5C723D50DFA}" srcId="{91F5AF42-2E8E-47F5-BC8E-D4C7FA9FA290}" destId="{9CA6AA97-DD9C-45EE-9EC4-0BEA513C875F}" srcOrd="2" destOrd="0" parTransId="{CB9E5565-8AB1-4123-AA02-769E35576474}" sibTransId="{B80DABF9-91C9-4160-A589-475A8654E7EC}"/>
    <dgm:cxn modelId="{A723BF84-7159-40B5-BEFD-802160FE77A5}" srcId="{91F5AF42-2E8E-47F5-BC8E-D4C7FA9FA290}" destId="{B6C4F723-43A8-42F9-9373-4652618C57CD}" srcOrd="3" destOrd="0" parTransId="{CC5847DF-4575-4DA7-96E7-9E8AB5111FB9}" sibTransId="{F8FCF580-438B-4151-A8A7-D1AC264025F4}"/>
    <dgm:cxn modelId="{6D3728A1-AB13-43FD-9E32-7869D20AC1D7}" srcId="{98CED798-24A6-4160-A4DF-B0E5BB8236C2}" destId="{280D5902-A14D-4C39-A125-DEF43C7815E8}" srcOrd="1" destOrd="0" parTransId="{0BF6BCDE-F41A-4644-928D-D095CDC58CED}" sibTransId="{CC55538B-3B09-4E9F-877D-7D4FB05A20D8}"/>
    <dgm:cxn modelId="{5BBC62C2-A96B-42A4-A0B8-E529FDE12535}" srcId="{98CED798-24A6-4160-A4DF-B0E5BB8236C2}" destId="{36E5B5FE-7A44-47A1-8F92-B088257A2152}" srcOrd="2" destOrd="0" parTransId="{7926F024-4AEC-4671-BBB1-3CE0B2112B8B}" sibTransId="{BC0418CD-7831-4545-B1D9-93D351CF53C3}"/>
    <dgm:cxn modelId="{E7229032-49DD-446C-BC4F-9E5F64909E99}" srcId="{98CED798-24A6-4160-A4DF-B0E5BB8236C2}" destId="{0C7D3D51-F412-476C-9C1C-D9011C5FB7E6}" srcOrd="3" destOrd="0" parTransId="{400E46CD-A113-4830-88F5-A1B2F4D84554}" sibTransId="{F5A1DABB-6DD6-47EE-99A8-4582EBF4C827}"/>
    <dgm:cxn modelId="{098B4594-89B3-4F5E-8D40-B2C60B72BA2B}" type="presOf" srcId="{98CED798-24A6-4160-A4DF-B0E5BB8236C2}" destId="{EEDDF7D4-85E7-4758-A973-B0C603B22311}" srcOrd="0" destOrd="0" presId="urn:microsoft.com/office/officeart/2005/8/layout/matrix1"/>
    <dgm:cxn modelId="{E939F2DC-DD26-4A59-85D1-A8A16F71C914}" type="presParOf" srcId="{EEDDF7D4-85E7-4758-A973-B0C603B22311}" destId="{C0452CEB-F54D-4C4C-A95B-AF2C1E7C0C55}" srcOrd="0" destOrd="0" presId="urn:microsoft.com/office/officeart/2005/8/layout/matrix1"/>
    <dgm:cxn modelId="{D49D730D-6856-4696-9533-B1E9C731F985}" type="presParOf" srcId="{C0452CEB-F54D-4C4C-A95B-AF2C1E7C0C55}" destId="{7EA2E538-CBA9-4899-BC4C-ADBAA919F569}" srcOrd="0" destOrd="0" presId="urn:microsoft.com/office/officeart/2005/8/layout/matrix1"/>
    <dgm:cxn modelId="{3F85297B-7738-458F-BBD1-9D745B823ADF}" type="presOf" srcId="{39B85EC0-3D03-4578-A5E5-65A36EAAA535}" destId="{7EA2E538-CBA9-4899-BC4C-ADBAA919F569}" srcOrd="0" destOrd="0" presId="urn:microsoft.com/office/officeart/2005/8/layout/matrix1"/>
    <dgm:cxn modelId="{4DBAAE0A-0F6B-499F-8D4E-C61B8F3C892A}" type="presParOf" srcId="{C0452CEB-F54D-4C4C-A95B-AF2C1E7C0C55}" destId="{7390F158-F671-48A0-854F-453408FDC9E6}" srcOrd="1" destOrd="0" presId="urn:microsoft.com/office/officeart/2005/8/layout/matrix1"/>
    <dgm:cxn modelId="{35F058D8-CB08-401E-B4A9-9CA1048075E4}" type="presOf" srcId="{39B85EC0-3D03-4578-A5E5-65A36EAAA535}" destId="{7390F158-F671-48A0-854F-453408FDC9E6}" srcOrd="1" destOrd="0" presId="urn:microsoft.com/office/officeart/2005/8/layout/matrix1"/>
    <dgm:cxn modelId="{1C94E6DB-B6C7-4F91-846A-90AF112B7E3B}" type="presParOf" srcId="{C0452CEB-F54D-4C4C-A95B-AF2C1E7C0C55}" destId="{2526B706-AFA9-4326-A083-D292EFC8529B}" srcOrd="2" destOrd="0" presId="urn:microsoft.com/office/officeart/2005/8/layout/matrix1"/>
    <dgm:cxn modelId="{053632F1-C841-4573-83D7-5C6CF4805DB0}" type="presOf" srcId="{36739251-0C96-4E9A-8C11-AE8D1330C206}" destId="{2526B706-AFA9-4326-A083-D292EFC8529B}" srcOrd="0" destOrd="0" presId="urn:microsoft.com/office/officeart/2005/8/layout/matrix1"/>
    <dgm:cxn modelId="{7E24AF3A-8301-4BD6-8B1E-988C8E59CEA8}" type="presParOf" srcId="{C0452CEB-F54D-4C4C-A95B-AF2C1E7C0C55}" destId="{37EBB957-9488-43A9-B0B1-7E48D5398295}" srcOrd="3" destOrd="0" presId="urn:microsoft.com/office/officeart/2005/8/layout/matrix1"/>
    <dgm:cxn modelId="{7BF5279B-53BF-44D3-AB38-E963BD0EB11E}" type="presOf" srcId="{36739251-0C96-4E9A-8C11-AE8D1330C206}" destId="{37EBB957-9488-43A9-B0B1-7E48D5398295}" srcOrd="1" destOrd="0" presId="urn:microsoft.com/office/officeart/2005/8/layout/matrix1"/>
    <dgm:cxn modelId="{59CA1E83-1470-4923-80D5-0E0F3E3777AC}" type="presParOf" srcId="{C0452CEB-F54D-4C4C-A95B-AF2C1E7C0C55}" destId="{575D90DD-06E7-4DA9-A075-A0F3AD1AA0A1}" srcOrd="4" destOrd="0" presId="urn:microsoft.com/office/officeart/2005/8/layout/matrix1"/>
    <dgm:cxn modelId="{CEB29D74-D794-4618-8A87-34D740BB77C8}" type="presOf" srcId="{9CA6AA97-DD9C-45EE-9EC4-0BEA513C875F}" destId="{575D90DD-06E7-4DA9-A075-A0F3AD1AA0A1}" srcOrd="0" destOrd="0" presId="urn:microsoft.com/office/officeart/2005/8/layout/matrix1"/>
    <dgm:cxn modelId="{B03F077B-B438-4F2F-A6F1-F86C958BA9EA}" type="presParOf" srcId="{C0452CEB-F54D-4C4C-A95B-AF2C1E7C0C55}" destId="{ECBDDE20-D6AE-4EAC-92B3-FAA9EEC3BEA7}" srcOrd="5" destOrd="0" presId="urn:microsoft.com/office/officeart/2005/8/layout/matrix1"/>
    <dgm:cxn modelId="{A26C305D-9B59-42F8-8DDE-5043FCCD66FA}" type="presOf" srcId="{9CA6AA97-DD9C-45EE-9EC4-0BEA513C875F}" destId="{ECBDDE20-D6AE-4EAC-92B3-FAA9EEC3BEA7}" srcOrd="1" destOrd="0" presId="urn:microsoft.com/office/officeart/2005/8/layout/matrix1"/>
    <dgm:cxn modelId="{944F79E0-1CB6-4385-8EDF-05EAA41ADB21}" type="presParOf" srcId="{C0452CEB-F54D-4C4C-A95B-AF2C1E7C0C55}" destId="{3A0FB3A6-59F8-4552-BEC7-002FBCB15064}" srcOrd="6" destOrd="0" presId="urn:microsoft.com/office/officeart/2005/8/layout/matrix1"/>
    <dgm:cxn modelId="{C5291100-90FB-4F3F-ACA1-A949B43D2242}" type="presOf" srcId="{B6C4F723-43A8-42F9-9373-4652618C57CD}" destId="{3A0FB3A6-59F8-4552-BEC7-002FBCB15064}" srcOrd="0" destOrd="0" presId="urn:microsoft.com/office/officeart/2005/8/layout/matrix1"/>
    <dgm:cxn modelId="{AC6A03EB-8A3C-4478-B840-7A659912D24B}" type="presParOf" srcId="{C0452CEB-F54D-4C4C-A95B-AF2C1E7C0C55}" destId="{EF9F7BF6-A681-4FE7-ACA5-E21F3543BB28}" srcOrd="7" destOrd="0" presId="urn:microsoft.com/office/officeart/2005/8/layout/matrix1"/>
    <dgm:cxn modelId="{926F78C0-DEF4-4AE1-A3F8-6A00FEB286E9}" type="presOf" srcId="{B6C4F723-43A8-42F9-9373-4652618C57CD}" destId="{EF9F7BF6-A681-4FE7-ACA5-E21F3543BB28}" srcOrd="1" destOrd="0" presId="urn:microsoft.com/office/officeart/2005/8/layout/matrix1"/>
    <dgm:cxn modelId="{35AF3598-6DE7-47B1-8654-9C897472C122}" type="presParOf" srcId="{EEDDF7D4-85E7-4758-A973-B0C603B22311}" destId="{AD85CDFB-EB67-4BCE-83AE-AB28B46775A6}" srcOrd="1" destOrd="0" presId="urn:microsoft.com/office/officeart/2005/8/layout/matrix1"/>
    <dgm:cxn modelId="{5C844A3C-0D33-4F77-AB2C-C0E3F3A49138}" type="presOf" srcId="{91F5AF42-2E8E-47F5-BC8E-D4C7FA9FA290}" destId="{AD85CDFB-EB67-4BCE-83AE-AB28B46775A6}" srcOrd="0" destOrd="0" presId="urn:microsoft.com/office/officeart/2005/8/layout/matrix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615045" cy="5562600"/>
        <a:chOff x="0" y="0"/>
        <a:chExt cx="8615045" cy="5562600"/>
      </a:xfrm>
    </dsp:grpSpPr>
    <dsp:sp modelId="{7EA2E538-CBA9-4899-BC4C-ADBAA919F569}">
      <dsp:nvSpPr>
        <dsp:cNvPr id="3" name="Round Single Corner Rectangle 2"/>
        <dsp:cNvSpPr/>
      </dsp:nvSpPr>
      <dsp:spPr bwMode="white">
        <a:xfrm rot="16200000">
          <a:off x="763111" y="-763111"/>
          <a:ext cx="2781300" cy="4307523"/>
        </a:xfrm>
        <a:prstGeom prst="round1Rect">
          <a:avLst/>
        </a:prstGeom>
      </dsp:spPr>
      <dsp:style>
        <a:lnRef idx="2">
          <a:schemeClr val="lt1"/>
        </a:lnRef>
        <a:fillRef idx="1">
          <a:schemeClr val="accent1"/>
        </a:fillRef>
        <a:effectRef idx="0">
          <a:scrgbClr r="0" g="0" b="0"/>
        </a:effectRef>
        <a:fontRef idx="minor">
          <a:schemeClr val="lt1"/>
        </a:fontRef>
      </dsp:style>
      <dsp:txBody>
        <a:bodyPr rot="5400000" vert="horz" wrap="square" lIns="163576" tIns="163576" rIns="163576" bIns="163576" anchor="b" anchorCtr="0"/>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en-US" altLang="en-US"/>
            <a:t>Handler Mappings</a:t>
          </a:r>
          <a:endParaRPr lang="en-US" altLang="en-US"/>
        </a:p>
        <a:p>
          <a:pPr lvl="0">
            <a:lnSpc>
              <a:spcPct val="100000"/>
            </a:lnSpc>
            <a:spcBef>
              <a:spcPct val="0"/>
            </a:spcBef>
            <a:spcAft>
              <a:spcPct val="35000"/>
            </a:spcAft>
          </a:pPr>
          <a:r>
            <a:rPr lang="en-US" altLang="en-US"/>
            <a:t>Decide which controller method should process each request.</a:t>
          </a:r>
        </a:p>
      </dsp:txBody>
      <dsp:txXfrm rot="16200000">
        <a:off x="763111" y="-763111"/>
        <a:ext cx="2781300" cy="4307523"/>
      </dsp:txXfrm>
    </dsp:sp>
    <dsp:sp modelId="{2526B706-AFA9-4326-A083-D292EFC8529B}">
      <dsp:nvSpPr>
        <dsp:cNvPr id="4" name="Round Single Corner Rectangle 3"/>
        <dsp:cNvSpPr/>
      </dsp:nvSpPr>
      <dsp:spPr bwMode="white">
        <a:xfrm>
          <a:off x="4307523" y="0"/>
          <a:ext cx="4307523" cy="2781300"/>
        </a:xfrm>
        <a:prstGeom prst="round1Rect">
          <a:avLst/>
        </a:prstGeom>
      </dsp:spPr>
      <dsp:style>
        <a:lnRef idx="2">
          <a:schemeClr val="lt1"/>
        </a:lnRef>
        <a:fillRef idx="1">
          <a:schemeClr val="accent1"/>
        </a:fillRef>
        <a:effectRef idx="0">
          <a:scrgbClr r="0" g="0" b="0"/>
        </a:effectRef>
        <a:fontRef idx="minor">
          <a:schemeClr val="lt1"/>
        </a:fontRef>
      </dsp:style>
      <dsp:txBody>
        <a:bodyPr vert="horz" wrap="square" lIns="163576" tIns="163576" rIns="163576" bIns="163576" anchor="b" anchorCtr="0"/>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en-US" altLang="en-US"/>
            <a:t>Handler Adapters</a:t>
          </a:r>
          <a:endParaRPr lang="en-US" altLang="en-US"/>
        </a:p>
        <a:p>
          <a:pPr lvl="0">
            <a:lnSpc>
              <a:spcPct val="100000"/>
            </a:lnSpc>
            <a:spcBef>
              <a:spcPct val="0"/>
            </a:spcBef>
            <a:spcAft>
              <a:spcPct val="35000"/>
            </a:spcAft>
          </a:pPr>
          <a:r>
            <a:rPr lang="en-US" altLang="en-US"/>
            <a:t>Allow different handler/controller methods to be invoked flexibly.</a:t>
          </a:r>
        </a:p>
      </dsp:txBody>
      <dsp:txXfrm>
        <a:off x="4307523" y="0"/>
        <a:ext cx="4307523" cy="2781300"/>
      </dsp:txXfrm>
    </dsp:sp>
    <dsp:sp modelId="{575D90DD-06E7-4DA9-A075-A0F3AD1AA0A1}">
      <dsp:nvSpPr>
        <dsp:cNvPr id="5" name="Round Single Corner Rectangle 4"/>
        <dsp:cNvSpPr/>
      </dsp:nvSpPr>
      <dsp:spPr bwMode="white">
        <a:xfrm rot="10800000">
          <a:off x="0" y="2781300"/>
          <a:ext cx="4307523" cy="2781300"/>
        </a:xfrm>
        <a:prstGeom prst="round1Rect">
          <a:avLst/>
        </a:prstGeom>
      </dsp:spPr>
      <dsp:style>
        <a:lnRef idx="2">
          <a:schemeClr val="lt1"/>
        </a:lnRef>
        <a:fillRef idx="1">
          <a:schemeClr val="accent1"/>
        </a:fillRef>
        <a:effectRef idx="0">
          <a:scrgbClr r="0" g="0" b="0"/>
        </a:effectRef>
        <a:fontRef idx="minor">
          <a:schemeClr val="lt1"/>
        </a:fontRef>
      </dsp:style>
      <dsp:txBody>
        <a:bodyPr rot="10800000" vert="horz" wrap="square" lIns="163576" tIns="163576" rIns="163576" bIns="163576" anchor="t" anchorCtr="0"/>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en-US" altLang="en-US"/>
            <a:t>View Resolvers</a:t>
          </a:r>
          <a:endParaRPr lang="en-US" altLang="en-US"/>
        </a:p>
        <a:p>
          <a:pPr lvl="0">
            <a:lnSpc>
              <a:spcPct val="100000"/>
            </a:lnSpc>
            <a:spcBef>
              <a:spcPct val="0"/>
            </a:spcBef>
            <a:spcAft>
              <a:spcPct val="35000"/>
            </a:spcAft>
          </a:pPr>
          <a:r>
            <a:rPr lang="en-US" altLang="en-US"/>
            <a:t>Determine how to render the view based on the logical view name returned by controllers.</a:t>
          </a:r>
        </a:p>
      </dsp:txBody>
      <dsp:txXfrm rot="10800000">
        <a:off x="0" y="2781300"/>
        <a:ext cx="4307523" cy="2781300"/>
      </dsp:txXfrm>
    </dsp:sp>
    <dsp:sp modelId="{3A0FB3A6-59F8-4552-BEC7-002FBCB15064}">
      <dsp:nvSpPr>
        <dsp:cNvPr id="6" name="Round Single Corner Rectangle 5"/>
        <dsp:cNvSpPr/>
      </dsp:nvSpPr>
      <dsp:spPr bwMode="white">
        <a:xfrm rot="5400000">
          <a:off x="5070634" y="2018189"/>
          <a:ext cx="2781300" cy="4307523"/>
        </a:xfrm>
        <a:prstGeom prst="round1Rect">
          <a:avLst/>
        </a:prstGeom>
      </dsp:spPr>
      <dsp:style>
        <a:lnRef idx="2">
          <a:schemeClr val="lt1"/>
        </a:lnRef>
        <a:fillRef idx="1">
          <a:schemeClr val="accent1"/>
        </a:fillRef>
        <a:effectRef idx="0">
          <a:scrgbClr r="0" g="0" b="0"/>
        </a:effectRef>
        <a:fontRef idx="minor">
          <a:schemeClr val="lt1"/>
        </a:fontRef>
      </dsp:style>
      <dsp:txBody>
        <a:bodyPr rot="-5400000" vert="horz" wrap="square" lIns="163576" tIns="163576" rIns="163576" bIns="163576" anchor="t" anchorCtr="0"/>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en-US" altLang="en-US"/>
            <a:t>Exception Resolvers</a:t>
          </a:r>
          <a:endParaRPr lang="en-US" altLang="en-US"/>
        </a:p>
        <a:p>
          <a:pPr lvl="0">
            <a:lnSpc>
              <a:spcPct val="100000"/>
            </a:lnSpc>
            <a:spcBef>
              <a:spcPct val="0"/>
            </a:spcBef>
            <a:spcAft>
              <a:spcPct val="35000"/>
            </a:spcAft>
          </a:pPr>
          <a:r>
            <a:rPr lang="en-US" altLang="en-US"/>
            <a:t>Handle errors and return appropriate error views or messages.</a:t>
          </a:r>
        </a:p>
      </dsp:txBody>
      <dsp:txXfrm rot="5400000">
        <a:off x="5070634" y="2018189"/>
        <a:ext cx="2781300" cy="4307523"/>
      </dsp:txXfrm>
    </dsp:sp>
    <dsp:sp modelId="{AD85CDFB-EB67-4BCE-83AE-AB28B46775A6}">
      <dsp:nvSpPr>
        <dsp:cNvPr id="7" name="Rounded Rectangle 6"/>
        <dsp:cNvSpPr/>
      </dsp:nvSpPr>
      <dsp:spPr bwMode="white">
        <a:xfrm>
          <a:off x="3015266" y="2085975"/>
          <a:ext cx="2584514" cy="1390650"/>
        </a:xfrm>
        <a:prstGeom prst="roundRect">
          <a:avLst/>
        </a:prstGeom>
      </dsp:spPr>
      <dsp:style>
        <a:lnRef idx="2">
          <a:schemeClr val="lt1"/>
        </a:lnRef>
        <a:fillRef idx="1">
          <a:schemeClr val="accent1">
            <a:tint val="60000"/>
          </a:schemeClr>
        </a:fillRef>
        <a:effectRef idx="0">
          <a:scrgbClr r="0" g="0" b="0"/>
        </a:effectRef>
        <a:fontRef idx="minor"/>
      </dsp:style>
      <dsp:txBody>
        <a:bodyPr vert="horz" wrap="square" lIns="87630" tIns="87630" rIns="87630"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en-US" altLang="en-US">
              <a:solidFill>
                <a:schemeClr val="dk1"/>
              </a:solidFill>
            </a:rPr>
            <a:t>Key Components of Dispatcher Servlet</a:t>
          </a:r>
          <a:endParaRPr lang="en-US" altLang="en-US">
            <a:solidFill>
              <a:schemeClr val="dk1"/>
            </a:solidFill>
          </a:endParaRPr>
        </a:p>
      </dsp:txBody>
      <dsp:txXfrm>
        <a:off x="3015266" y="2085975"/>
        <a:ext cx="2584514" cy="1390650"/>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rSet qsTypeId="urn:microsoft.com/office/officeart/2005/8/quickstyle/simple5"/>
        </dgm:pt>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rSet csTypeId="urn:microsoft.com/office/officeart/2005/8/colors/accent6_5"/>
        </dgm:pt>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type="round1Rect" r:blip="" rot="270">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parTxLTRAlign" val="l"/>
                  <dgm:param type="parTxRTLAlign" val="r"/>
                  <dgm:param type="txAnchorVert" val="t"/>
                </dgm:alg>
              </dgm:if>
              <dgm:else name="Name7">
                <dgm:alg type="tx"/>
              </dgm:else>
            </dgm:choose>
            <dgm:shape xmlns:r="http://schemas.openxmlformats.org/officeDocument/2006/relationships" type="rect" r:blip="" rot="270"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parTxLTRAlign" val="l"/>
                  <dgm:param type="parTxRTLAlign" val="r"/>
                  <dgm:param type="txAnchorVert" val="t"/>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type="round1Rect" r:blip="" rot="180">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parTxLTRAlign" val="l"/>
                  <dgm:param type="parTxRTLAlign" val="r"/>
                  <dgm:param type="txAnchorVert" val="t"/>
                </dgm:alg>
              </dgm:if>
              <dgm:else name="Name25">
                <dgm:alg type="tx"/>
              </dgm:else>
            </dgm:choose>
            <dgm:shape xmlns:r="http://schemas.openxmlformats.org/officeDocument/2006/relationships" type="rect" r:blip="" rot="180"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type="round1Rect" r:blip="" rot="90">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parTxLTRAlign" val="l"/>
                  <dgm:param type="parTxRTLAlign" val="r"/>
                  <dgm:param type="txAnchorVert" val="t"/>
                </dgm:alg>
              </dgm:if>
              <dgm:else name="Name34">
                <dgm:alg type="tx"/>
              </dgm:else>
            </dgm:choose>
            <dgm:shape xmlns:r="http://schemas.openxmlformats.org/officeDocument/2006/relationships" type="rect" r:blip="" rot="90"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mailto:abc@test.co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a:r>
              <a:t>Spring MVC - DispatcherServlet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What is DispatcherServlet?</a:t>
            </a:r>
          </a:p>
        </p:txBody>
      </p:sp>
      <p:sp>
        <p:nvSpPr>
          <p:cNvPr id="3" name="Content Placeholder 2"/>
          <p:cNvSpPr>
            <a:spLocks noGrp="1"/>
          </p:cNvSpPr>
          <p:nvPr>
            <p:ph idx="1"/>
          </p:nvPr>
        </p:nvSpPr>
        <p:spPr/>
        <p:txBody>
          <a:bodyPr>
            <a:normAutofit fontScale="70000"/>
          </a:bodyPr>
          <a:lstStyle/>
          <a:p>
            <a:r>
              <a:rPr lang="en-US" altLang="en-US" b="1"/>
              <a:t>Single Entry Point</a:t>
            </a:r>
            <a:r>
              <a:rPr lang="en-US" altLang="en-US"/>
              <a:t>: DispatcherServlet acts as the central entry for all incoming HTTP requests in a Spring MVC application, intercepting each request before it reaches any controllers.</a:t>
            </a:r>
            <a:endParaRPr lang="en-US" altLang="en-US"/>
          </a:p>
          <a:p>
            <a:r>
              <a:rPr lang="en-US" altLang="en-US" b="1"/>
              <a:t>Request Routing and Response</a:t>
            </a:r>
            <a:r>
              <a:rPr lang="en-US" altLang="en-US"/>
              <a:t>: It determines which controller should handle the request by consulting handler mappings, delegates the request for processing, and then uses a view resolver to render the final response to the client.</a:t>
            </a:r>
            <a:endParaRPr lang="en-US" altLang="en-US"/>
          </a:p>
          <a:p>
            <a:r>
              <a:rPr lang="en-US" altLang="en-US" b="1"/>
              <a:t>Orchestration of Components</a:t>
            </a:r>
            <a:r>
              <a:rPr lang="en-US" altLang="en-US"/>
              <a:t>: DispatcherServlet manages and coordinates key Spring MVC components—such as controllers, handler adapters, and view resolvers—to ensure modular, flexible, and efficient request processing and response generation.</a:t>
            </a:r>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28320" y="56198"/>
            <a:ext cx="8229600" cy="1143000"/>
          </a:xfrm>
        </p:spPr>
        <p:txBody>
          <a:bodyPr/>
          <a:lstStyle/>
          <a:p>
            <a:r>
              <a:rPr sz="3600"/>
              <a:t>Role of DispatcherServlet</a:t>
            </a:r>
            <a:endParaRPr sz="3600"/>
          </a:p>
        </p:txBody>
      </p:sp>
      <p:graphicFrame>
        <p:nvGraphicFramePr>
          <p:cNvPr id="5" name="Content Placeholder 4"/>
          <p:cNvGraphicFramePr/>
          <p:nvPr>
            <p:ph idx="1"/>
            <p:custDataLst>
              <p:tags r:id="rId1"/>
            </p:custDataLst>
          </p:nvPr>
        </p:nvGraphicFramePr>
        <p:xfrm>
          <a:off x="436880" y="909320"/>
          <a:ext cx="8411845" cy="5730240"/>
        </p:xfrm>
        <a:graphic>
          <a:graphicData uri="http://schemas.openxmlformats.org/drawingml/2006/table">
            <a:tbl>
              <a:tblPr firstRow="1" bandRow="1">
                <a:tableStyleId>{5C22544A-7EE6-4342-B048-85BDC9FD1C3A}</a:tableStyleId>
              </a:tblPr>
              <a:tblGrid>
                <a:gridCol w="2544445"/>
                <a:gridCol w="5867400"/>
              </a:tblGrid>
              <a:tr h="396240">
                <a:tc>
                  <a:txBody>
                    <a:bodyPr/>
                    <a:p>
                      <a:pPr marL="0" indent="0" algn="ctr" fontAlgn="t" latinLnBrk="0"/>
                      <a:r>
                        <a:rPr sz="1800" b="1" i="0">
                          <a:effectLst/>
                          <a:latin typeface="Times New Roman" panose="02020603050405020304" charset="0"/>
                          <a:ea typeface="fkGroteskNeue"/>
                          <a:cs typeface="Times New Roman" panose="02020603050405020304" charset="0"/>
                        </a:rPr>
                        <a:t>Feature</a:t>
                      </a:r>
                      <a:endParaRPr sz="1800" b="1" i="0">
                        <a:effectLst/>
                        <a:latin typeface="Times New Roman" panose="02020603050405020304" charset="0"/>
                        <a:ea typeface="fkGroteskNeue"/>
                        <a:cs typeface="Times New Roman" panose="02020603050405020304" charset="0"/>
                      </a:endParaRPr>
                    </a:p>
                  </a:txBody>
                  <a:tcPr marL="61277" marR="61277" marT="61277" marB="61277" anchor="t" anchorCtr="0"/>
                </a:tc>
                <a:tc>
                  <a:txBody>
                    <a:bodyPr/>
                    <a:p>
                      <a:pPr marL="0" indent="0" algn="ctr" fontAlgn="t" latinLnBrk="0"/>
                      <a:r>
                        <a:rPr sz="1800" b="1" i="0">
                          <a:effectLst/>
                          <a:latin typeface="Times New Roman" panose="02020603050405020304" charset="0"/>
                          <a:ea typeface="fkGroteskNeue"/>
                          <a:cs typeface="Times New Roman" panose="02020603050405020304" charset="0"/>
                        </a:rPr>
                        <a:t>Description</a:t>
                      </a:r>
                      <a:endParaRPr sz="1800" b="1" i="0">
                        <a:effectLst/>
                        <a:latin typeface="Times New Roman" panose="02020603050405020304" charset="0"/>
                        <a:ea typeface="fkGroteskNeue"/>
                        <a:cs typeface="Times New Roman" panose="02020603050405020304" charset="0"/>
                      </a:endParaRPr>
                    </a:p>
                  </a:txBody>
                  <a:tcPr marL="61277" marR="61277" marT="61277" marB="61277" anchor="t" anchorCtr="0"/>
                </a:tc>
              </a:tr>
              <a:tr h="792480">
                <a:tc>
                  <a:txBody>
                    <a:bodyPr/>
                    <a:p>
                      <a:pPr marL="0" indent="0" fontAlgn="base" latinLnBrk="0"/>
                      <a:r>
                        <a:rPr sz="1600" i="0">
                          <a:latin typeface="Times New Roman" panose="02020603050405020304" charset="0"/>
                          <a:ea typeface="fkGroteskNeue"/>
                          <a:cs typeface="Times New Roman" panose="02020603050405020304" charset="0"/>
                        </a:rPr>
                        <a:t>Shared Request Processing Algorithm</a:t>
                      </a:r>
                      <a:endParaRPr sz="1600" i="0">
                        <a:latin typeface="Times New Roman" panose="02020603050405020304" charset="0"/>
                        <a:ea typeface="fkGroteskNeue"/>
                        <a:cs typeface="Times New Roman" panose="02020603050405020304" charset="0"/>
                      </a:endParaRPr>
                    </a:p>
                  </a:txBody>
                  <a:tcPr marL="61277" marR="61277" marT="76200" marB="76200"/>
                </a:tc>
                <a:tc>
                  <a:txBody>
                    <a:bodyPr/>
                    <a:p>
                      <a:pPr marL="0" indent="0" fontAlgn="base" latinLnBrk="0"/>
                      <a:r>
                        <a:rPr lang="en-US" altLang="en-US" sz="1400" i="0">
                          <a:latin typeface="Times New Roman" panose="02020603050405020304" charset="0"/>
                          <a:ea typeface="fkGroteskNeue"/>
                          <a:cs typeface="Times New Roman" panose="02020603050405020304" charset="0"/>
                        </a:rPr>
                        <a:t>DispatcherServlet follows a standard process to handle requests but passes the detailed work to other components that can be changed or extended, making the handling flexible.</a:t>
                      </a:r>
                      <a:endParaRPr lang="en-US" altLang="en-US" sz="1400" i="0">
                        <a:latin typeface="Times New Roman" panose="02020603050405020304" charset="0"/>
                        <a:ea typeface="fkGroteskNeue"/>
                        <a:cs typeface="Times New Roman" panose="02020603050405020304" charset="0"/>
                      </a:endParaRPr>
                    </a:p>
                  </a:txBody>
                  <a:tcPr marL="61277" marR="61277" marT="76200" marB="76200"/>
                </a:tc>
              </a:tr>
              <a:tr h="792480">
                <a:tc>
                  <a:txBody>
                    <a:bodyPr/>
                    <a:p>
                      <a:pPr marL="0" indent="0" fontAlgn="base" latinLnBrk="0"/>
                      <a:r>
                        <a:rPr sz="1600" i="0">
                          <a:latin typeface="Times New Roman" panose="02020603050405020304" charset="0"/>
                          <a:ea typeface="fkGroteskNeue"/>
                          <a:cs typeface="Times New Roman" panose="02020603050405020304" charset="0"/>
                        </a:rPr>
                        <a:t>Integration with Spring Configuration</a:t>
                      </a:r>
                      <a:endParaRPr sz="1600" i="0">
                        <a:latin typeface="Times New Roman" panose="02020603050405020304" charset="0"/>
                        <a:ea typeface="fkGroteskNeue"/>
                        <a:cs typeface="Times New Roman" panose="02020603050405020304" charset="0"/>
                      </a:endParaRPr>
                    </a:p>
                  </a:txBody>
                  <a:tcPr marL="61277" marR="61277" marT="76200" marB="76200"/>
                </a:tc>
                <a:tc>
                  <a:txBody>
                    <a:bodyPr/>
                    <a:p>
                      <a:pPr marL="0" indent="0" fontAlgn="base" latinLnBrk="0"/>
                      <a:r>
                        <a:rPr lang="en-US" altLang="en-US" sz="1400" i="0">
                          <a:latin typeface="Times New Roman" panose="02020603050405020304" charset="0"/>
                          <a:ea typeface="fkGroteskNeue"/>
                          <a:cs typeface="Times New Roman" panose="02020603050405020304" charset="0"/>
                        </a:rPr>
                        <a:t>It uses Spring’s setup files (either XML or Java code) to find and start the parts needed to route requests, build responses, handle errors, and more—using Spring’s powerful tools behind the scenes.</a:t>
                      </a:r>
                      <a:endParaRPr lang="en-US" altLang="en-US" sz="1400" i="0">
                        <a:latin typeface="Times New Roman" panose="02020603050405020304" charset="0"/>
                        <a:ea typeface="fkGroteskNeue"/>
                        <a:cs typeface="Times New Roman" panose="02020603050405020304" charset="0"/>
                      </a:endParaRPr>
                    </a:p>
                  </a:txBody>
                  <a:tcPr marL="61277" marR="61277" marT="76200" marB="76200"/>
                </a:tc>
              </a:tr>
              <a:tr h="792480">
                <a:tc>
                  <a:txBody>
                    <a:bodyPr/>
                    <a:p>
                      <a:pPr marL="0" indent="0" fontAlgn="base" latinLnBrk="0"/>
                      <a:r>
                        <a:rPr sz="1600" i="0">
                          <a:latin typeface="Times New Roman" panose="02020603050405020304" charset="0"/>
                          <a:ea typeface="fkGroteskNeue"/>
                          <a:cs typeface="Times New Roman" panose="02020603050405020304" charset="0"/>
                        </a:rPr>
                        <a:t>Supports Multiple Handler Mappings</a:t>
                      </a:r>
                      <a:endParaRPr sz="1600" i="0">
                        <a:latin typeface="Times New Roman" panose="02020603050405020304" charset="0"/>
                        <a:ea typeface="fkGroteskNeue"/>
                        <a:cs typeface="Times New Roman" panose="02020603050405020304" charset="0"/>
                      </a:endParaRPr>
                    </a:p>
                  </a:txBody>
                  <a:tcPr marL="61277" marR="61277" marT="76200" marB="76200"/>
                </a:tc>
                <a:tc>
                  <a:txBody>
                    <a:bodyPr/>
                    <a:p>
                      <a:pPr marL="0" indent="0" fontAlgn="base" latinLnBrk="0"/>
                      <a:r>
                        <a:rPr lang="en-US" altLang="en-US" sz="1400" i="0">
                          <a:latin typeface="Times New Roman" panose="02020603050405020304" charset="0"/>
                          <a:ea typeface="fkGroteskNeue"/>
                          <a:cs typeface="Times New Roman" panose="02020603050405020304" charset="0"/>
                        </a:rPr>
                        <a:t>It can use many ways (like annotations or URL patterns) to decide which controller should handle a specific web request, making routing easy and adaptable.</a:t>
                      </a:r>
                      <a:endParaRPr lang="en-US" altLang="en-US" sz="1400" i="0">
                        <a:latin typeface="Times New Roman" panose="02020603050405020304" charset="0"/>
                        <a:ea typeface="fkGroteskNeue"/>
                        <a:cs typeface="Times New Roman" panose="02020603050405020304" charset="0"/>
                      </a:endParaRPr>
                    </a:p>
                  </a:txBody>
                  <a:tcPr marL="61277" marR="61277" marT="76200" marB="76200"/>
                </a:tc>
              </a:tr>
              <a:tr h="792480">
                <a:tc>
                  <a:txBody>
                    <a:bodyPr/>
                    <a:p>
                      <a:pPr marL="0" indent="0" fontAlgn="base" latinLnBrk="0"/>
                      <a:r>
                        <a:rPr sz="1600" i="0">
                          <a:latin typeface="Times New Roman" panose="02020603050405020304" charset="0"/>
                          <a:ea typeface="fkGroteskNeue"/>
                          <a:cs typeface="Times New Roman" panose="02020603050405020304" charset="0"/>
                        </a:rPr>
                        <a:t>View Resolution Management</a:t>
                      </a:r>
                      <a:endParaRPr sz="1600" i="0">
                        <a:latin typeface="Times New Roman" panose="02020603050405020304" charset="0"/>
                        <a:ea typeface="fkGroteskNeue"/>
                        <a:cs typeface="Times New Roman" panose="02020603050405020304" charset="0"/>
                      </a:endParaRPr>
                    </a:p>
                  </a:txBody>
                  <a:tcPr marL="61277" marR="61277" marT="76200" marB="76200"/>
                </a:tc>
                <a:tc>
                  <a:txBody>
                    <a:bodyPr/>
                    <a:p>
                      <a:pPr marL="0" indent="0" fontAlgn="base" latinLnBrk="0"/>
                      <a:r>
                        <a:rPr lang="en-US" altLang="en-US" sz="1400" i="0">
                          <a:latin typeface="Times New Roman" panose="02020603050405020304" charset="0"/>
                          <a:ea typeface="fkGroteskNeue"/>
                          <a:cs typeface="Times New Roman" panose="02020603050405020304" charset="0"/>
                        </a:rPr>
                        <a:t>After a controller runs, DispatcherServlet finds the right webpage or response template (like HTML or JSON) to send back to the user.</a:t>
                      </a:r>
                      <a:endParaRPr lang="en-US" altLang="en-US" sz="1400" i="0">
                        <a:latin typeface="Times New Roman" panose="02020603050405020304" charset="0"/>
                        <a:ea typeface="fkGroteskNeue"/>
                        <a:cs typeface="Times New Roman" panose="02020603050405020304" charset="0"/>
                      </a:endParaRPr>
                    </a:p>
                  </a:txBody>
                  <a:tcPr marL="61277" marR="61277" marT="76200" marB="76200"/>
                </a:tc>
              </a:tr>
              <a:tr h="579120">
                <a:tc>
                  <a:txBody>
                    <a:bodyPr/>
                    <a:p>
                      <a:pPr marL="0" indent="0" fontAlgn="base" latinLnBrk="0"/>
                      <a:r>
                        <a:rPr sz="1600" i="0">
                          <a:latin typeface="Times New Roman" panose="02020603050405020304" charset="0"/>
                          <a:ea typeface="fkGroteskNeue"/>
                          <a:cs typeface="Times New Roman" panose="02020603050405020304" charset="0"/>
                        </a:rPr>
                        <a:t>Exception Handling</a:t>
                      </a:r>
                      <a:endParaRPr sz="1600" i="0">
                        <a:latin typeface="Times New Roman" panose="02020603050405020304" charset="0"/>
                        <a:ea typeface="fkGroteskNeue"/>
                        <a:cs typeface="Times New Roman" panose="02020603050405020304" charset="0"/>
                      </a:endParaRPr>
                    </a:p>
                  </a:txBody>
                  <a:tcPr marL="61277" marR="61277" marT="76200" marB="76200"/>
                </a:tc>
                <a:tc>
                  <a:txBody>
                    <a:bodyPr/>
                    <a:p>
                      <a:pPr marL="0" indent="0" fontAlgn="base" latinLnBrk="0"/>
                      <a:r>
                        <a:rPr lang="en-US" altLang="en-US" sz="1400" i="0">
                          <a:latin typeface="Times New Roman" panose="02020603050405020304" charset="0"/>
                          <a:ea typeface="fkGroteskNeue"/>
                          <a:cs typeface="Times New Roman" panose="02020603050405020304" charset="0"/>
                        </a:rPr>
                        <a:t>If something goes wrong during processing, DispatcherServlet has ways to catch these errors and show friendly error messages instead of crashing.</a:t>
                      </a:r>
                      <a:endParaRPr lang="en-US" altLang="en-US" sz="1400" i="0">
                        <a:latin typeface="Times New Roman" panose="02020603050405020304" charset="0"/>
                        <a:ea typeface="fkGroteskNeue"/>
                        <a:cs typeface="Times New Roman" panose="02020603050405020304" charset="0"/>
                      </a:endParaRPr>
                    </a:p>
                  </a:txBody>
                  <a:tcPr marL="61277" marR="61277" marT="76200" marB="76200"/>
                </a:tc>
              </a:tr>
              <a:tr h="792480">
                <a:tc>
                  <a:txBody>
                    <a:bodyPr/>
                    <a:p>
                      <a:pPr marL="0" indent="0" fontAlgn="base" latinLnBrk="0"/>
                      <a:r>
                        <a:rPr sz="1600" i="0">
                          <a:latin typeface="Times New Roman" panose="02020603050405020304" charset="0"/>
                          <a:ea typeface="fkGroteskNeue"/>
                          <a:cs typeface="Times New Roman" panose="02020603050405020304" charset="0"/>
                        </a:rPr>
                        <a:t>Lifecycle Management</a:t>
                      </a:r>
                      <a:endParaRPr sz="1600" i="0">
                        <a:latin typeface="Times New Roman" panose="02020603050405020304" charset="0"/>
                        <a:ea typeface="fkGroteskNeue"/>
                        <a:cs typeface="Times New Roman" panose="02020603050405020304" charset="0"/>
                      </a:endParaRPr>
                    </a:p>
                  </a:txBody>
                  <a:tcPr marL="61277" marR="61277" marT="76200" marB="76200"/>
                </a:tc>
                <a:tc>
                  <a:txBody>
                    <a:bodyPr/>
                    <a:p>
                      <a:pPr marL="0" indent="0" fontAlgn="base" latinLnBrk="0"/>
                      <a:r>
                        <a:rPr lang="en-US" altLang="en-US" sz="1400" i="0">
                          <a:latin typeface="Times New Roman" panose="02020603050405020304" charset="0"/>
                          <a:ea typeface="fkGroteskNeue"/>
                          <a:cs typeface="Times New Roman" panose="02020603050405020304" charset="0"/>
                        </a:rPr>
                        <a:t>It sets up and manages a special Spring context just for web parts, keeping things organized and separate from other application parts.</a:t>
                      </a:r>
                      <a:endParaRPr lang="en-US" altLang="en-US" sz="1400" i="0">
                        <a:latin typeface="Times New Roman" panose="02020603050405020304" charset="0"/>
                        <a:ea typeface="fkGroteskNeue"/>
                        <a:cs typeface="Times New Roman" panose="02020603050405020304" charset="0"/>
                      </a:endParaRPr>
                    </a:p>
                  </a:txBody>
                  <a:tcPr marL="61277" marR="61277" marT="76200" marB="76200"/>
                </a:tc>
              </a:tr>
              <a:tr h="792480">
                <a:tc>
                  <a:txBody>
                    <a:bodyPr/>
                    <a:p>
                      <a:pPr marL="0" indent="0" fontAlgn="base" latinLnBrk="0"/>
                      <a:r>
                        <a:rPr sz="1600" i="0">
                          <a:latin typeface="Times New Roman" panose="02020603050405020304" charset="0"/>
                          <a:ea typeface="fkGroteskNeue"/>
                          <a:cs typeface="Times New Roman" panose="02020603050405020304" charset="0"/>
                        </a:rPr>
                        <a:t>Configurable via web.xml and Code</a:t>
                      </a:r>
                      <a:endParaRPr sz="1600" i="0">
                        <a:latin typeface="Times New Roman" panose="02020603050405020304" charset="0"/>
                        <a:ea typeface="fkGroteskNeue"/>
                        <a:cs typeface="Times New Roman" panose="02020603050405020304" charset="0"/>
                      </a:endParaRPr>
                    </a:p>
                  </a:txBody>
                  <a:tcPr marL="61277" marR="61277" marT="76200" marB="76200"/>
                </a:tc>
                <a:tc>
                  <a:txBody>
                    <a:bodyPr/>
                    <a:p>
                      <a:pPr marL="0" indent="0" fontAlgn="base" latinLnBrk="0"/>
                      <a:r>
                        <a:rPr lang="en-US" altLang="en-US" sz="1400" i="0">
                          <a:latin typeface="Times New Roman" panose="02020603050405020304" charset="0"/>
                          <a:ea typeface="fkGroteskNeue"/>
                          <a:cs typeface="Times New Roman" panose="02020603050405020304" charset="0"/>
                        </a:rPr>
                        <a:t>You can set up DispatcherServlet in traditional config files (web.xml) or by writing code in modern Spring Boot apps, so it fits different project styles and preferences.</a:t>
                      </a:r>
                      <a:endParaRPr lang="en-US" altLang="en-US" sz="1400" i="0">
                        <a:latin typeface="Times New Roman" panose="02020603050405020304" charset="0"/>
                        <a:ea typeface="fkGroteskNeue"/>
                        <a:cs typeface="Times New Roman" panose="02020603050405020304" charset="0"/>
                      </a:endParaRPr>
                    </a:p>
                  </a:txBody>
                  <a:tcPr marL="61277" marR="61277" marT="76200" marB="76200"/>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Request Handling Workflow</a:t>
            </a:r>
            <a:endParaRPr lang="en-US" altLang="en-US"/>
          </a:p>
        </p:txBody>
      </p:sp>
      <p:sp>
        <p:nvSpPr>
          <p:cNvPr id="3" name="Content Placeholder 2"/>
          <p:cNvSpPr>
            <a:spLocks noGrp="1"/>
          </p:cNvSpPr>
          <p:nvPr>
            <p:ph idx="1"/>
          </p:nvPr>
        </p:nvSpPr>
        <p:spPr/>
        <p:txBody>
          <a:bodyPr/>
          <a:p>
            <a:r>
              <a:rPr lang="en-US" altLang="en-US" sz="1800">
                <a:latin typeface="Times New Roman" panose="02020603050405020304" charset="0"/>
                <a:cs typeface="Times New Roman" panose="02020603050405020304" charset="0"/>
              </a:rPr>
              <a:t>When a user makes an HTTP request (such as visiting /products/list), the request first hits the DispatcherServlet.</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DispatcherServlet determines the appropriate controller to handle this request by consulting one or more Handler Mappings that map URLs to controller methods.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Once the right controller is identified, DispatcherServlet delegates the request to that controller method.</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The controller processes the request, prepares a model, and returns a view name.</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DispatcherServlet then uses View Resolvers to find the actual view resource.</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It finally merges the model data with the view, generates the final HTML, and sends it back as the HTTP response to the client.</a:t>
            </a:r>
            <a:endParaRPr lang="en-US" altLang="en-US" sz="1800">
              <a:latin typeface="Times New Roman" panose="02020603050405020304" charset="0"/>
              <a:cs typeface="Times New Roman" panose="02020603050405020304" charset="0"/>
            </a:endParaRPr>
          </a:p>
          <a:p>
            <a:endParaRPr lang="en-US" altLang="en-US" sz="1400"/>
          </a:p>
          <a:p>
            <a:endParaRPr lang="en-US" altLang="en-US"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Content Placeholder 3"/>
          <p:cNvGraphicFramePr/>
          <p:nvPr>
            <p:ph idx="4294967295"/>
          </p:nvPr>
        </p:nvGraphicFramePr>
        <p:xfrm>
          <a:off x="163195" y="502920"/>
          <a:ext cx="8615045" cy="55626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DispatcherServlet Flow</a:t>
            </a:r>
          </a:p>
        </p:txBody>
      </p:sp>
      <p:sp>
        <p:nvSpPr>
          <p:cNvPr id="3" name="Content Placeholder 2"/>
          <p:cNvSpPr>
            <a:spLocks noGrp="1"/>
          </p:cNvSpPr>
          <p:nvPr>
            <p:ph idx="1"/>
          </p:nvPr>
        </p:nvSpPr>
        <p:spPr>
          <a:xfrm>
            <a:off x="457200" y="1600200"/>
            <a:ext cx="8618855" cy="4526280"/>
          </a:xfrm>
        </p:spPr>
        <p:txBody>
          <a:bodyPr>
            <a:normAutofit lnSpcReduction="20000"/>
          </a:bodyPr>
          <a:lstStyle/>
          <a:p>
            <a:pPr marL="0" indent="0">
              <a:buNone/>
            </a:pPr>
            <a:r>
              <a:rPr lang="en-US"/>
              <a:t>Client -&gt; controller -&gt; calls service layer -&gt;interacts with the database with the help of DAO layer-&gt;returns data back to controller by passing through service layer -&gt; which returns the data to the client</a:t>
            </a:r>
            <a:endParaRPr lang="en-US"/>
          </a:p>
        </p:txBody>
      </p:sp>
      <p:pic>
        <p:nvPicPr>
          <p:cNvPr id="6" name="Picture 5"/>
          <p:cNvPicPr/>
          <p:nvPr/>
        </p:nvPicPr>
        <p:blipFill>
          <a:blip r:embed="rId1"/>
          <a:stretch>
            <a:fillRect/>
          </a:stretch>
        </p:blipFill>
        <p:spPr>
          <a:xfrm>
            <a:off x="3017520" y="3554095"/>
            <a:ext cx="2315210" cy="29038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Springboot + DispatcherServlet</a:t>
            </a:r>
            <a:endParaRPr lang="en-US"/>
          </a:p>
        </p:txBody>
      </p:sp>
      <p:sp>
        <p:nvSpPr>
          <p:cNvPr id="3" name="Content Placeholder 2"/>
          <p:cNvSpPr>
            <a:spLocks noGrp="1"/>
          </p:cNvSpPr>
          <p:nvPr>
            <p:ph idx="1"/>
          </p:nvPr>
        </p:nvSpPr>
        <p:spPr/>
        <p:txBody>
          <a:bodyPr>
            <a:normAutofit fontScale="70000"/>
          </a:bodyPr>
          <a:p>
            <a:pPr algn="just"/>
            <a:r>
              <a:rPr lang="en-US" altLang="en-US"/>
              <a:t>In Spring Boot, DispatcherServlet is automatically created and configured for you—no need to write any web.xml or manual servlet setup. DispatcherServlet acts as the main front controller, handling all incoming web requests, routing them to controllers, and generating responses.</a:t>
            </a:r>
            <a:endParaRPr lang="en-US" altLang="en-US"/>
          </a:p>
          <a:p>
            <a:pPr algn="just"/>
            <a:r>
              <a:rPr lang="en-US" altLang="en-US"/>
              <a:t>Spring Boot advantage:</a:t>
            </a:r>
            <a:endParaRPr lang="en-US" altLang="en-US"/>
          </a:p>
          <a:p>
            <a:pPr lvl="1" algn="just"/>
            <a:r>
              <a:rPr lang="en-US" altLang="en-US"/>
              <a:t>DispatcherServlet is set up by default, and you just write controller classes.</a:t>
            </a:r>
            <a:endParaRPr lang="en-US" altLang="en-US"/>
          </a:p>
          <a:p>
            <a:pPr lvl="1" algn="just"/>
            <a:r>
              <a:rPr lang="en-US" altLang="en-US"/>
              <a:t>You can customize its settings by adding configuration in your Java code or application properties if needed.</a:t>
            </a:r>
            <a:endParaRPr lang="en-US" altLang="en-US"/>
          </a:p>
          <a:p>
            <a:pPr lvl="1" algn="just"/>
            <a:r>
              <a:rPr lang="en-US" altLang="en-US"/>
              <a:t>This makes web development faster, easier, and less error-prone while still getting the full features of DispatcherServlet as in classic Spring MVC.</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Traditonal and Modern Dispatcher Servlet</a:t>
            </a:r>
            <a:endParaRPr lang="en-US"/>
          </a:p>
        </p:txBody>
      </p:sp>
      <p:graphicFrame>
        <p:nvGraphicFramePr>
          <p:cNvPr id="4" name="Content Placeholder 3"/>
          <p:cNvGraphicFramePr/>
          <p:nvPr>
            <p:ph idx="1"/>
            <p:custDataLst>
              <p:tags r:id="rId1"/>
            </p:custDataLst>
          </p:nvPr>
        </p:nvGraphicFramePr>
        <p:xfrm>
          <a:off x="457200" y="1600200"/>
          <a:ext cx="8378190" cy="4814570"/>
        </p:xfrm>
        <a:graphic>
          <a:graphicData uri="http://schemas.openxmlformats.org/drawingml/2006/table">
            <a:tbl>
              <a:tblPr firstRow="1" bandRow="1">
                <a:tableStyleId>{5C22544A-7EE6-4342-B048-85BDC9FD1C3A}</a:tableStyleId>
              </a:tblPr>
              <a:tblGrid>
                <a:gridCol w="2792730"/>
                <a:gridCol w="2792730"/>
                <a:gridCol w="2792730"/>
              </a:tblGrid>
              <a:tr h="527685">
                <a:tc>
                  <a:txBody>
                    <a:bodyPr/>
                    <a:p>
                      <a:pPr algn="ctr"/>
                      <a:r>
                        <a:rPr sz="1600" b="1"/>
                        <a:t>Feature</a:t>
                      </a:r>
                      <a:endParaRPr sz="1600" b="1"/>
                    </a:p>
                  </a:txBody>
                  <a:tcPr marL="0" marR="0" marT="0" marB="0" anchor="ctr" anchorCtr="0"/>
                </a:tc>
                <a:tc>
                  <a:txBody>
                    <a:bodyPr/>
                    <a:p>
                      <a:pPr algn="ctr"/>
                      <a:r>
                        <a:rPr sz="1600" b="1"/>
                        <a:t>dispatcher-servlet.xml</a:t>
                      </a:r>
                      <a:endParaRPr sz="1600" b="1"/>
                    </a:p>
                  </a:txBody>
                  <a:tcPr marL="0" marR="0" marT="0" marB="0" anchor="ctr" anchorCtr="0"/>
                </a:tc>
                <a:tc>
                  <a:txBody>
                    <a:bodyPr/>
                    <a:p>
                      <a:pPr algn="ctr"/>
                      <a:r>
                        <a:rPr sz="1600" b="1"/>
                        <a:t>AppDispatcherServlet (Java Config)</a:t>
                      </a:r>
                      <a:endParaRPr sz="1600" b="1"/>
                    </a:p>
                  </a:txBody>
                  <a:tcPr marL="0" marR="0" marT="0" marB="0" anchor="ctr" anchorCtr="0"/>
                </a:tc>
              </a:tr>
              <a:tr h="527685">
                <a:tc>
                  <a:txBody>
                    <a:bodyPr/>
                    <a:p>
                      <a:pPr algn="ctr"/>
                      <a:r>
                        <a:rPr sz="1600"/>
                        <a:t>What it is</a:t>
                      </a:r>
                      <a:endParaRPr sz="1600"/>
                    </a:p>
                  </a:txBody>
                  <a:tcPr marL="0" marR="0" marT="0" marB="0" anchor="ctr" anchorCtr="0"/>
                </a:tc>
                <a:tc>
                  <a:txBody>
                    <a:bodyPr/>
                    <a:p>
                      <a:pPr algn="ctr"/>
                      <a:r>
                        <a:rPr sz="1600"/>
                        <a:t>An XML file that sets up Spring MVC</a:t>
                      </a:r>
                      <a:endParaRPr sz="1600"/>
                    </a:p>
                  </a:txBody>
                  <a:tcPr marL="0" marR="0" marT="0" marB="0" anchor="ctr" anchorCtr="0"/>
                </a:tc>
                <a:tc>
                  <a:txBody>
                    <a:bodyPr/>
                    <a:p>
                      <a:pPr algn="ctr"/>
                      <a:r>
                        <a:rPr sz="1600"/>
                        <a:t>A Java class that sets up Spring MVC</a:t>
                      </a:r>
                      <a:endParaRPr sz="1600"/>
                    </a:p>
                  </a:txBody>
                  <a:tcPr marL="0" marR="0" marT="0" marB="0" anchor="ctr" anchorCtr="0"/>
                </a:tc>
              </a:tr>
              <a:tr h="527685">
                <a:tc>
                  <a:txBody>
                    <a:bodyPr/>
                    <a:p>
                      <a:pPr algn="ctr"/>
                      <a:r>
                        <a:rPr sz="1600"/>
                        <a:t>How it’s set up</a:t>
                      </a:r>
                      <a:endParaRPr sz="1600"/>
                    </a:p>
                  </a:txBody>
                  <a:tcPr marL="0" marR="0" marT="0" marB="0" anchor="ctr" anchorCtr="0"/>
                </a:tc>
                <a:tc>
                  <a:txBody>
                    <a:bodyPr/>
                    <a:p>
                      <a:pPr algn="ctr"/>
                      <a:r>
                        <a:rPr sz="1600"/>
                        <a:t>Declared in </a:t>
                      </a:r>
                      <a:r>
                        <a:rPr sz="1600"/>
                        <a:t>web.xml</a:t>
                      </a:r>
                      <a:endParaRPr sz="1600"/>
                    </a:p>
                  </a:txBody>
                  <a:tcPr marL="0" marR="0" marT="0" marB="0" anchor="ctr" anchorCtr="0"/>
                </a:tc>
                <a:tc>
                  <a:txBody>
                    <a:bodyPr/>
                    <a:p>
                      <a:pPr algn="ctr"/>
                      <a:r>
                        <a:rPr sz="1600"/>
                        <a:t>Registered in code via </a:t>
                      </a:r>
                      <a:r>
                        <a:rPr sz="1600"/>
                        <a:t>WebAppInitializer</a:t>
                      </a:r>
                      <a:endParaRPr sz="1600"/>
                    </a:p>
                  </a:txBody>
                  <a:tcPr marL="0" marR="0" marT="0" marB="0" anchor="ctr" anchorCtr="0"/>
                </a:tc>
              </a:tr>
              <a:tr h="412115">
                <a:tc>
                  <a:txBody>
                    <a:bodyPr/>
                    <a:p>
                      <a:pPr algn="ctr"/>
                      <a:r>
                        <a:rPr sz="1600"/>
                        <a:t>Syntax</a:t>
                      </a:r>
                      <a:endParaRPr sz="1600"/>
                    </a:p>
                  </a:txBody>
                  <a:tcPr marL="0" marR="0" marT="0" marB="0" anchor="ctr" anchorCtr="0"/>
                </a:tc>
                <a:tc>
                  <a:txBody>
                    <a:bodyPr/>
                    <a:p>
                      <a:pPr algn="ctr"/>
                      <a:r>
                        <a:rPr sz="1600"/>
                        <a:t>XML tags</a:t>
                      </a:r>
                      <a:endParaRPr sz="1600"/>
                    </a:p>
                  </a:txBody>
                  <a:tcPr marL="0" marR="0" marT="0" marB="0" anchor="ctr" anchorCtr="0"/>
                </a:tc>
                <a:tc>
                  <a:txBody>
                    <a:bodyPr/>
                    <a:p>
                      <a:pPr algn="ctr"/>
                      <a:r>
                        <a:rPr sz="1600"/>
                        <a:t>Java code with annotations</a:t>
                      </a:r>
                      <a:endParaRPr sz="1600"/>
                    </a:p>
                  </a:txBody>
                  <a:tcPr marL="0" marR="0" marT="0" marB="0" anchor="ctr" anchorCtr="0"/>
                </a:tc>
              </a:tr>
              <a:tr h="527685">
                <a:tc>
                  <a:txBody>
                    <a:bodyPr/>
                    <a:p>
                      <a:pPr algn="ctr"/>
                      <a:r>
                        <a:rPr sz="1600"/>
                        <a:t>Type safety</a:t>
                      </a:r>
                      <a:endParaRPr sz="1600"/>
                    </a:p>
                  </a:txBody>
                  <a:tcPr marL="0" marR="0" marT="0" marB="0" anchor="ctr" anchorCtr="0"/>
                </a:tc>
                <a:tc>
                  <a:txBody>
                    <a:bodyPr/>
                    <a:p>
                      <a:pPr algn="ctr"/>
                      <a:r>
                        <a:rPr sz="1600"/>
                        <a:t>Low – errors show only at runtime</a:t>
                      </a:r>
                      <a:endParaRPr sz="1600"/>
                    </a:p>
                  </a:txBody>
                  <a:tcPr marL="0" marR="0" marT="0" marB="0" anchor="ctr" anchorCtr="0"/>
                </a:tc>
                <a:tc>
                  <a:txBody>
                    <a:bodyPr/>
                    <a:p>
                      <a:pPr algn="ctr"/>
                      <a:r>
                        <a:rPr sz="1600"/>
                        <a:t>High – errors can be caught at compile time</a:t>
                      </a:r>
                      <a:endParaRPr sz="1600"/>
                    </a:p>
                  </a:txBody>
                  <a:tcPr marL="0" marR="0" marT="0" marB="0" anchor="ctr" anchorCtr="0"/>
                </a:tc>
              </a:tr>
              <a:tr h="527685">
                <a:tc>
                  <a:txBody>
                    <a:bodyPr/>
                    <a:p>
                      <a:pPr algn="ctr"/>
                      <a:r>
                        <a:rPr sz="1600"/>
                        <a:t>Refactoring</a:t>
                      </a:r>
                      <a:endParaRPr sz="1600"/>
                    </a:p>
                  </a:txBody>
                  <a:tcPr marL="0" marR="0" marT="0" marB="0" anchor="ctr" anchorCtr="0"/>
                </a:tc>
                <a:tc>
                  <a:txBody>
                    <a:bodyPr/>
                    <a:p>
                      <a:pPr algn="ctr"/>
                      <a:r>
                        <a:rPr sz="1600"/>
                        <a:t>Hard – changing names can break XML</a:t>
                      </a:r>
                      <a:endParaRPr sz="1600"/>
                    </a:p>
                  </a:txBody>
                  <a:tcPr marL="0" marR="0" marT="0" marB="0" anchor="ctr" anchorCtr="0"/>
                </a:tc>
                <a:tc>
                  <a:txBody>
                    <a:bodyPr/>
                    <a:p>
                      <a:pPr algn="ctr"/>
                      <a:r>
                        <a:rPr sz="1600"/>
                        <a:t>Easy – IDE supports renaming and refactoring</a:t>
                      </a:r>
                      <a:endParaRPr sz="1600"/>
                    </a:p>
                  </a:txBody>
                  <a:tcPr marL="0" marR="0" marT="0" marB="0" anchor="ctr" anchorCtr="0"/>
                </a:tc>
              </a:tr>
              <a:tr h="527685">
                <a:tc>
                  <a:txBody>
                    <a:bodyPr/>
                    <a:p>
                      <a:pPr algn="ctr"/>
                      <a:r>
                        <a:rPr sz="1600"/>
                        <a:t>Controllers &amp; Views</a:t>
                      </a:r>
                      <a:endParaRPr sz="1600"/>
                    </a:p>
                  </a:txBody>
                  <a:tcPr marL="0" marR="0" marT="0" marB="0" anchor="ctr" anchorCtr="0"/>
                </a:tc>
                <a:tc>
                  <a:txBody>
                    <a:bodyPr/>
                    <a:p>
                      <a:pPr algn="ctr"/>
                      <a:r>
                        <a:rPr sz="1600"/>
                        <a:t>Configured in XML</a:t>
                      </a:r>
                      <a:endParaRPr sz="1600"/>
                    </a:p>
                  </a:txBody>
                  <a:tcPr marL="0" marR="0" marT="0" marB="0" anchor="ctr" anchorCtr="0"/>
                </a:tc>
                <a:tc>
                  <a:txBody>
                    <a:bodyPr/>
                    <a:p>
                      <a:pPr algn="ctr"/>
                      <a:r>
                        <a:rPr sz="1600"/>
                        <a:t>Configured in Java code (@Controller</a:t>
                      </a:r>
                      <a:r>
                        <a:rPr sz="1600"/>
                        <a:t>, @Bean</a:t>
                      </a:r>
                      <a:r>
                        <a:rPr sz="1600"/>
                        <a:t>)</a:t>
                      </a:r>
                      <a:endParaRPr sz="1600"/>
                    </a:p>
                  </a:txBody>
                  <a:tcPr marL="0" marR="0" marT="0" marB="0" anchor="ctr" anchorCtr="0"/>
                </a:tc>
              </a:tr>
              <a:tr h="412115">
                <a:tc>
                  <a:txBody>
                    <a:bodyPr/>
                    <a:p>
                      <a:pPr algn="ctr"/>
                      <a:r>
                        <a:rPr sz="1600"/>
                        <a:t>Customization</a:t>
                      </a:r>
                      <a:endParaRPr sz="1600"/>
                    </a:p>
                  </a:txBody>
                  <a:tcPr marL="0" marR="0" marT="0" marB="0" anchor="ctr" anchorCtr="0"/>
                </a:tc>
                <a:tc>
                  <a:txBody>
                    <a:bodyPr/>
                    <a:p>
                      <a:pPr algn="ctr"/>
                      <a:r>
                        <a:rPr sz="1600"/>
                        <a:t>Limited to what XML allows</a:t>
                      </a:r>
                      <a:endParaRPr sz="1600"/>
                    </a:p>
                  </a:txBody>
                  <a:tcPr marL="0" marR="0" marT="0" marB="0" anchor="ctr" anchorCtr="0"/>
                </a:tc>
                <a:tc>
                  <a:txBody>
                    <a:bodyPr/>
                    <a:p>
                      <a:pPr algn="ctr"/>
                      <a:r>
                        <a:rPr sz="1600"/>
                        <a:t>Fully customizable in code</a:t>
                      </a:r>
                      <a:endParaRPr sz="1600"/>
                    </a:p>
                  </a:txBody>
                  <a:tcPr marL="0" marR="0" marT="0" marB="0" anchor="ctr" anchorCtr="0"/>
                </a:tc>
              </a:tr>
              <a:tr h="412115">
                <a:tc>
                  <a:txBody>
                    <a:bodyPr/>
                    <a:p>
                      <a:pPr algn="ctr"/>
                      <a:r>
                        <a:rPr sz="1600"/>
                        <a:t>Spring Boot friendly</a:t>
                      </a:r>
                      <a:endParaRPr sz="1600"/>
                    </a:p>
                  </a:txBody>
                  <a:tcPr marL="0" marR="0" marT="0" marB="0" anchor="ctr" anchorCtr="0"/>
                </a:tc>
                <a:tc>
                  <a:txBody>
                    <a:bodyPr/>
                    <a:p>
                      <a:pPr algn="ctr"/>
                      <a:r>
                        <a:rPr sz="1600"/>
                        <a:t>Not ideal</a:t>
                      </a:r>
                      <a:endParaRPr sz="1600"/>
                    </a:p>
                  </a:txBody>
                  <a:tcPr marL="0" marR="0" marT="0" marB="0" anchor="ctr" anchorCtr="0"/>
                </a:tc>
                <a:tc>
                  <a:txBody>
                    <a:bodyPr/>
                    <a:p>
                      <a:pPr algn="ctr"/>
                      <a:r>
                        <a:rPr sz="1600"/>
                        <a:t>Works perfectly with Spring Boot</a:t>
                      </a:r>
                      <a:endParaRPr sz="1600"/>
                    </a:p>
                  </a:txBody>
                  <a:tcPr marL="0" marR="0" marT="0" marB="0" anchor="ctr" anchorCtr="0"/>
                </a:tc>
              </a:tr>
              <a:tr h="412115">
                <a:tc>
                  <a:txBody>
                    <a:bodyPr/>
                    <a:p>
                      <a:pPr algn="ctr"/>
                      <a:r>
                        <a:rPr sz="1600"/>
                        <a:t>Modern practice</a:t>
                      </a:r>
                      <a:endParaRPr sz="1600"/>
                    </a:p>
                  </a:txBody>
                  <a:tcPr marL="0" marR="0" marT="0" marB="0" anchor="ctr" anchorCtr="0"/>
                </a:tc>
                <a:tc>
                  <a:txBody>
                    <a:bodyPr/>
                    <a:p>
                      <a:pPr algn="ctr"/>
                      <a:r>
                        <a:rPr sz="1600"/>
                        <a:t>Old / legacy way</a:t>
                      </a:r>
                      <a:endParaRPr sz="1600"/>
                    </a:p>
                  </a:txBody>
                  <a:tcPr marL="0" marR="0" marT="0" marB="0" anchor="ctr" anchorCtr="0"/>
                </a:tc>
                <a:tc>
                  <a:txBody>
                    <a:bodyPr/>
                    <a:p>
                      <a:pPr algn="ctr"/>
                      <a:r>
                        <a:rPr sz="1600"/>
                        <a:t>Recommended for new projects</a:t>
                      </a:r>
                      <a:endParaRPr sz="1600"/>
                    </a:p>
                  </a:txBody>
                  <a:tcPr marL="0" marR="0" marT="0" marB="0" anchor="ctr" anchorCtr="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Summary of DispatcherServlet</a:t>
            </a:r>
            <a:endParaRPr lang="en-US"/>
          </a:p>
        </p:txBody>
      </p:sp>
      <p:sp>
        <p:nvSpPr>
          <p:cNvPr id="3" name="Content Placeholder 2"/>
          <p:cNvSpPr>
            <a:spLocks noGrp="1"/>
          </p:cNvSpPr>
          <p:nvPr>
            <p:ph idx="1"/>
          </p:nvPr>
        </p:nvSpPr>
        <p:spPr>
          <a:xfrm>
            <a:off x="457200" y="1600200"/>
            <a:ext cx="8229600" cy="3981450"/>
          </a:xfrm>
        </p:spPr>
        <p:txBody>
          <a:bodyPr>
            <a:noAutofit/>
          </a:bodyPr>
          <a:p>
            <a:pPr marL="0" indent="0">
              <a:buNone/>
            </a:pPr>
            <a:r>
              <a:rPr lang="en-US" altLang="en-US" sz="1600" b="1">
                <a:latin typeface="+mn-ea"/>
                <a:cs typeface="+mn-ea"/>
              </a:rPr>
              <a:t>Browser </a:t>
            </a:r>
            <a:r>
              <a:rPr lang="en-US" altLang="en-US" sz="1600">
                <a:latin typeface="+mn-ea"/>
                <a:cs typeface="+mn-ea"/>
              </a:rPr>
              <a:t>→ User types http://localhost:8080/hello</a:t>
            </a:r>
            <a:endParaRPr lang="en-US" altLang="en-US" sz="1600">
              <a:latin typeface="+mn-ea"/>
              <a:cs typeface="+mn-ea"/>
            </a:endParaRPr>
          </a:p>
          <a:p>
            <a:pPr marL="0" indent="0">
              <a:buNone/>
            </a:pPr>
            <a:r>
              <a:rPr lang="zh-CN" altLang="en-US" sz="1600">
                <a:latin typeface="+mn-ea"/>
                <a:cs typeface="+mn-ea"/>
              </a:rPr>
              <a:t>👉</a:t>
            </a:r>
            <a:r>
              <a:rPr lang="en-US" altLang="en-US" sz="1600">
                <a:latin typeface="+mn-ea"/>
                <a:cs typeface="+mn-ea"/>
              </a:rPr>
              <a:t> Browser just shoots an HTTP request.</a:t>
            </a:r>
            <a:endParaRPr lang="en-US" altLang="en-US" sz="1600">
              <a:latin typeface="+mn-ea"/>
              <a:cs typeface="+mn-ea"/>
            </a:endParaRPr>
          </a:p>
          <a:p>
            <a:pPr marL="0" indent="0">
              <a:buNone/>
            </a:pPr>
            <a:r>
              <a:rPr lang="en-US" altLang="en-US" sz="1600" b="1">
                <a:latin typeface="+mn-ea"/>
                <a:cs typeface="+mn-ea"/>
              </a:rPr>
              <a:t>Tomcat </a:t>
            </a:r>
            <a:r>
              <a:rPr lang="en-US" altLang="en-US" sz="1600">
                <a:latin typeface="+mn-ea"/>
                <a:cs typeface="+mn-ea"/>
              </a:rPr>
              <a:t>→ Acts like a post office.</a:t>
            </a:r>
            <a:endParaRPr lang="en-US" altLang="en-US" sz="1600">
              <a:latin typeface="+mn-ea"/>
              <a:cs typeface="+mn-ea"/>
            </a:endParaRPr>
          </a:p>
          <a:p>
            <a:pPr marL="0" indent="0">
              <a:buNone/>
            </a:pPr>
            <a:r>
              <a:rPr lang="zh-CN" altLang="en-US" sz="1600">
                <a:latin typeface="+mn-ea"/>
                <a:cs typeface="+mn-ea"/>
              </a:rPr>
              <a:t>👉</a:t>
            </a:r>
            <a:r>
              <a:rPr lang="en-US" altLang="en-US" sz="1600">
                <a:latin typeface="+mn-ea"/>
                <a:cs typeface="+mn-ea"/>
              </a:rPr>
              <a:t> Sees web.xml mapping → "/ should go to DispatcherServlet".</a:t>
            </a:r>
            <a:endParaRPr lang="en-US" altLang="en-US" sz="1600">
              <a:latin typeface="+mn-ea"/>
              <a:cs typeface="+mn-ea"/>
            </a:endParaRPr>
          </a:p>
          <a:p>
            <a:pPr marL="0" indent="0">
              <a:buNone/>
            </a:pPr>
            <a:r>
              <a:rPr lang="en-US" altLang="en-US" sz="1600" b="1">
                <a:latin typeface="+mn-ea"/>
                <a:cs typeface="+mn-ea"/>
              </a:rPr>
              <a:t>DispatcherServlet </a:t>
            </a:r>
            <a:r>
              <a:rPr lang="en-US" altLang="en-US" sz="1600">
                <a:latin typeface="+mn-ea"/>
                <a:cs typeface="+mn-ea"/>
              </a:rPr>
              <a:t>→ Think of it as the traffic police / receptionist.</a:t>
            </a:r>
            <a:endParaRPr lang="en-US" altLang="en-US" sz="1600">
              <a:latin typeface="+mn-ea"/>
              <a:cs typeface="+mn-ea"/>
            </a:endParaRPr>
          </a:p>
          <a:p>
            <a:pPr marL="0" indent="0">
              <a:buNone/>
            </a:pPr>
            <a:r>
              <a:rPr lang="zh-CN" altLang="en-US" sz="1600">
                <a:latin typeface="+mn-ea"/>
                <a:cs typeface="+mn-ea"/>
              </a:rPr>
              <a:t>👉</a:t>
            </a:r>
            <a:r>
              <a:rPr lang="en-US" altLang="en-US" sz="1600">
                <a:latin typeface="+mn-ea"/>
                <a:cs typeface="+mn-ea"/>
              </a:rPr>
              <a:t> Doesn’t do business logic itself. Just decides: "Which controller will handle this?"</a:t>
            </a:r>
            <a:endParaRPr lang="en-US" altLang="en-US" sz="1600">
              <a:latin typeface="+mn-ea"/>
              <a:cs typeface="+mn-ea"/>
            </a:endParaRPr>
          </a:p>
          <a:p>
            <a:pPr marL="0" indent="0">
              <a:buNone/>
            </a:pPr>
            <a:r>
              <a:rPr lang="en-US" altLang="en-US" sz="1600" b="1">
                <a:latin typeface="+mn-ea"/>
                <a:cs typeface="+mn-ea"/>
              </a:rPr>
              <a:t>HandlerMapping </a:t>
            </a:r>
            <a:r>
              <a:rPr lang="en-US" altLang="en-US" sz="1600">
                <a:latin typeface="+mn-ea"/>
                <a:cs typeface="+mn-ea"/>
              </a:rPr>
              <a:t>→ Works like a phone directory.</a:t>
            </a:r>
            <a:endParaRPr lang="en-US" altLang="en-US" sz="1600">
              <a:latin typeface="+mn-ea"/>
              <a:cs typeface="+mn-ea"/>
            </a:endParaRPr>
          </a:p>
          <a:p>
            <a:pPr marL="0" indent="0">
              <a:buNone/>
            </a:pPr>
            <a:r>
              <a:rPr lang="zh-CN" altLang="en-US" sz="1600">
                <a:latin typeface="+mn-ea"/>
                <a:cs typeface="+mn-ea"/>
              </a:rPr>
              <a:t>👉</a:t>
            </a:r>
            <a:r>
              <a:rPr lang="en-US" altLang="en-US" sz="1600">
                <a:latin typeface="+mn-ea"/>
                <a:cs typeface="+mn-ea"/>
              </a:rPr>
              <a:t> It looks at all controllers and finds: "/hello is handled by HelloController".</a:t>
            </a:r>
            <a:endParaRPr lang="en-US" altLang="en-US" sz="1600">
              <a:latin typeface="+mn-ea"/>
              <a:cs typeface="+mn-ea"/>
            </a:endParaRPr>
          </a:p>
          <a:p>
            <a:pPr marL="0" indent="0">
              <a:buNone/>
            </a:pPr>
            <a:r>
              <a:rPr lang="en-US" altLang="en-US" sz="1600" b="1">
                <a:latin typeface="+mn-ea"/>
                <a:cs typeface="+mn-ea"/>
              </a:rPr>
              <a:t>Controller </a:t>
            </a:r>
            <a:r>
              <a:rPr lang="en-US" altLang="en-US" sz="1600">
                <a:latin typeface="+mn-ea"/>
                <a:cs typeface="+mn-ea"/>
              </a:rPr>
              <a:t>→ The actual worker / service desk.</a:t>
            </a:r>
            <a:endParaRPr lang="en-US" altLang="en-US" sz="1600">
              <a:latin typeface="+mn-ea"/>
              <a:cs typeface="+mn-ea"/>
            </a:endParaRPr>
          </a:p>
          <a:p>
            <a:pPr marL="0" indent="0">
              <a:buNone/>
            </a:pPr>
            <a:r>
              <a:rPr lang="zh-CN" altLang="en-US" sz="1600">
                <a:latin typeface="+mn-ea"/>
                <a:cs typeface="+mn-ea"/>
              </a:rPr>
              <a:t>👉</a:t>
            </a:r>
            <a:r>
              <a:rPr lang="en-US" altLang="en-US" sz="1600">
                <a:latin typeface="+mn-ea"/>
                <a:cs typeface="+mn-ea"/>
              </a:rPr>
              <a:t> Runs your logic (like fetching data, preparing Model). Returns → "hello.jsp" (view name).</a:t>
            </a:r>
            <a:endParaRPr lang="en-US" altLang="en-US" sz="1600">
              <a:latin typeface="+mn-ea"/>
              <a:cs typeface="+mn-ea"/>
            </a:endParaRPr>
          </a:p>
          <a:p>
            <a:pPr marL="0" indent="0">
              <a:buNone/>
            </a:pPr>
            <a:r>
              <a:rPr lang="en-US" altLang="en-US" sz="1600" b="1">
                <a:latin typeface="+mn-ea"/>
                <a:cs typeface="+mn-ea"/>
              </a:rPr>
              <a:t>ViewResolver </a:t>
            </a:r>
            <a:r>
              <a:rPr lang="en-US" altLang="en-US" sz="1600">
                <a:latin typeface="+mn-ea"/>
                <a:cs typeface="+mn-ea"/>
              </a:rPr>
              <a:t>→ Works like a translator.</a:t>
            </a:r>
            <a:endParaRPr lang="en-US" altLang="en-US" sz="1600">
              <a:latin typeface="+mn-ea"/>
              <a:cs typeface="+mn-ea"/>
            </a:endParaRPr>
          </a:p>
          <a:p>
            <a:pPr marL="0" indent="0">
              <a:buNone/>
            </a:pPr>
            <a:r>
              <a:rPr lang="zh-CN" altLang="en-US" sz="1600">
                <a:latin typeface="+mn-ea"/>
                <a:cs typeface="+mn-ea"/>
              </a:rPr>
              <a:t>👉</a:t>
            </a:r>
            <a:r>
              <a:rPr lang="en-US" altLang="en-US" sz="1600">
                <a:latin typeface="+mn-ea"/>
                <a:cs typeface="+mn-ea"/>
              </a:rPr>
              <a:t> It converts "hello" into WEB-INF/views/hello.jsp.</a:t>
            </a:r>
            <a:endParaRPr lang="en-US" altLang="en-US" sz="1600">
              <a:latin typeface="+mn-ea"/>
              <a:cs typeface="+mn-ea"/>
            </a:endParaRPr>
          </a:p>
          <a:p>
            <a:pPr marL="0" indent="0">
              <a:buNone/>
            </a:pPr>
            <a:r>
              <a:rPr lang="en-US" altLang="en-US" sz="1600" b="1">
                <a:latin typeface="+mn-ea"/>
                <a:cs typeface="+mn-ea"/>
              </a:rPr>
              <a:t>JSP (or View)</a:t>
            </a:r>
            <a:r>
              <a:rPr lang="en-US" altLang="en-US" sz="1600">
                <a:latin typeface="+mn-ea"/>
                <a:cs typeface="+mn-ea"/>
              </a:rPr>
              <a:t> → The painter.</a:t>
            </a:r>
            <a:endParaRPr lang="en-US" altLang="en-US" sz="1600">
              <a:latin typeface="+mn-ea"/>
              <a:cs typeface="+mn-ea"/>
            </a:endParaRPr>
          </a:p>
          <a:p>
            <a:pPr marL="0" indent="0">
              <a:buNone/>
            </a:pPr>
            <a:r>
              <a:rPr lang="zh-CN" altLang="en-US" sz="1600">
                <a:latin typeface="+mn-ea"/>
                <a:cs typeface="+mn-ea"/>
              </a:rPr>
              <a:t>👉</a:t>
            </a:r>
            <a:r>
              <a:rPr lang="en-US" altLang="en-US" sz="1600">
                <a:latin typeface="+mn-ea"/>
                <a:cs typeface="+mn-ea"/>
              </a:rPr>
              <a:t> Mixes Model data + JSP template → creates final HTML.</a:t>
            </a:r>
            <a:endParaRPr lang="en-US" altLang="en-US" sz="1600">
              <a:latin typeface="+mn-ea"/>
              <a:cs typeface="+mn-ea"/>
            </a:endParaRPr>
          </a:p>
          <a:p>
            <a:pPr marL="0" indent="0">
              <a:buNone/>
            </a:pPr>
            <a:r>
              <a:rPr lang="en-US" altLang="en-US" sz="1600" b="1">
                <a:latin typeface="+mn-ea"/>
                <a:cs typeface="+mn-ea"/>
              </a:rPr>
              <a:t>Browser Response</a:t>
            </a:r>
            <a:r>
              <a:rPr lang="en-US" altLang="en-US" sz="1600">
                <a:latin typeface="+mn-ea"/>
                <a:cs typeface="+mn-ea"/>
              </a:rPr>
              <a:t> → Final painted HTML page sent back.</a:t>
            </a:r>
            <a:endParaRPr lang="en-US" altLang="en-US" sz="1600">
              <a:latin typeface="+mn-ea"/>
              <a:cs typeface="+mn-ea"/>
            </a:endParaRPr>
          </a:p>
          <a:p>
            <a:pPr marL="0" indent="0">
              <a:buNone/>
            </a:pPr>
            <a:r>
              <a:rPr lang="zh-CN" altLang="en-US" sz="1600">
                <a:latin typeface="+mn-ea"/>
                <a:cs typeface="+mn-ea"/>
              </a:rPr>
              <a:t>👉</a:t>
            </a:r>
            <a:r>
              <a:rPr lang="en-US" altLang="en-US" sz="1600">
                <a:latin typeface="+mn-ea"/>
                <a:cs typeface="+mn-ea"/>
              </a:rPr>
              <a:t> User sees it on the screen.</a:t>
            </a:r>
            <a:endParaRPr lang="en-US" altLang="en-US" sz="1600">
              <a:latin typeface="+mn-ea"/>
              <a:cs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What Are Controllers in Spring?</a:t>
            </a:r>
            <a:endParaRPr lang="en-US" altLang="en-US"/>
          </a:p>
        </p:txBody>
      </p:sp>
      <p:sp>
        <p:nvSpPr>
          <p:cNvPr id="3" name="Content Placeholder 2"/>
          <p:cNvSpPr>
            <a:spLocks noGrp="1"/>
          </p:cNvSpPr>
          <p:nvPr>
            <p:ph idx="1"/>
          </p:nvPr>
        </p:nvSpPr>
        <p:spPr/>
        <p:txBody>
          <a:bodyPr>
            <a:normAutofit fontScale="90000"/>
          </a:bodyPr>
          <a:p>
            <a:r>
              <a:rPr lang="en-US" altLang="en-US"/>
              <a:t>A Controller is a class marked with @Controller (for web pages) or @RestController (for REST APIs).</a:t>
            </a:r>
            <a:endParaRPr lang="en-US" altLang="en-US"/>
          </a:p>
          <a:p>
            <a:r>
              <a:rPr lang="en-US" altLang="en-US"/>
              <a:t>It receives HTTP requests (GET, POST, etc.), processes user input, talks to the service/business layer, and returns a response such as an HTML page or JSON data.</a:t>
            </a:r>
            <a:endParaRPr lang="en-US" altLang="en-US"/>
          </a:p>
          <a:p>
            <a:r>
              <a:rPr lang="en-US" altLang="en-US"/>
              <a:t>Controllers keep the web layer separate from business and database logic—helping organize code and making maintenance easier.</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HTTP Requests used in Controllers</a:t>
            </a:r>
            <a:endParaRPr lang="en-US"/>
          </a:p>
        </p:txBody>
      </p:sp>
      <p:sp>
        <p:nvSpPr>
          <p:cNvPr id="3" name="Content Placeholder 2"/>
          <p:cNvSpPr>
            <a:spLocks noGrp="1"/>
          </p:cNvSpPr>
          <p:nvPr>
            <p:ph idx="1"/>
          </p:nvPr>
        </p:nvSpPr>
        <p:spPr/>
        <p:txBody>
          <a:bodyPr>
            <a:noAutofit/>
          </a:bodyPr>
          <a:p>
            <a:pPr algn="just"/>
            <a:r>
              <a:rPr lang="en-US" altLang="en-US" sz="1800" b="1"/>
              <a:t>GET</a:t>
            </a:r>
            <a:r>
              <a:rPr lang="en-US" altLang="en-US" sz="1800"/>
              <a:t>: Used to retrieve data from the server. It does not change anything on the server and is mainly for reading information.</a:t>
            </a:r>
            <a:endParaRPr lang="en-US" altLang="en-US" sz="1800"/>
          </a:p>
          <a:p>
            <a:pPr algn="just"/>
            <a:r>
              <a:rPr lang="en-US" altLang="en-US" sz="1800" b="1"/>
              <a:t>POST</a:t>
            </a:r>
            <a:r>
              <a:rPr lang="en-US" altLang="en-US" sz="1800"/>
              <a:t>: Used to send data to the server, such as creating a new record or submitting a form. This can update or create resources.</a:t>
            </a:r>
            <a:endParaRPr lang="en-US" altLang="en-US" sz="1800"/>
          </a:p>
          <a:p>
            <a:pPr algn="just"/>
            <a:r>
              <a:rPr lang="en-US" altLang="en-US" sz="1800" b="1"/>
              <a:t>PUT</a:t>
            </a:r>
            <a:r>
              <a:rPr lang="en-US" altLang="en-US" sz="1800"/>
              <a:t>: Used to update or replace existing data on the server, usually replacing the entire resource.</a:t>
            </a:r>
            <a:endParaRPr lang="en-US" altLang="en-US" sz="1800"/>
          </a:p>
          <a:p>
            <a:pPr algn="just"/>
            <a:r>
              <a:rPr lang="en-US" altLang="en-US" sz="1800" b="1"/>
              <a:t>DELETE</a:t>
            </a:r>
            <a:r>
              <a:rPr lang="en-US" altLang="en-US" sz="1800"/>
              <a:t>: Used to remove data from the server.</a:t>
            </a:r>
            <a:endParaRPr lang="en-US" altLang="en-US" sz="1800"/>
          </a:p>
          <a:p>
            <a:pPr algn="just"/>
            <a:r>
              <a:rPr lang="en-US" altLang="en-US" sz="1800" b="1"/>
              <a:t>PATCH</a:t>
            </a:r>
            <a:r>
              <a:rPr lang="en-US" altLang="en-US" sz="1800"/>
              <a:t>: Used to make partial updates to existing data, changing only the specified fields rather than replacing the whole resource.</a:t>
            </a:r>
            <a:endParaRPr lang="en-US" altLang="en-US" sz="1800"/>
          </a:p>
          <a:p>
            <a:pPr algn="just"/>
            <a:r>
              <a:rPr lang="en-US" altLang="en-US" sz="1800" b="1"/>
              <a:t>OPTIONS</a:t>
            </a:r>
            <a:r>
              <a:rPr lang="en-US" altLang="en-US" sz="1800"/>
              <a:t>: Used to discover which methods and operations are allowed for a particular resource.</a:t>
            </a:r>
            <a:endParaRPr lang="en-US" altLang="en-US" sz="1800"/>
          </a:p>
          <a:p>
            <a:pPr algn="just"/>
            <a:r>
              <a:rPr lang="en-US" altLang="en-US" sz="1800" b="1"/>
              <a:t>HEAD</a:t>
            </a:r>
            <a:r>
              <a:rPr lang="en-US" altLang="en-US" sz="1800"/>
              <a:t>: Like GET, but only returns response headers—not the actual body/data.</a:t>
            </a:r>
            <a:endParaRPr lang="en-US" altLang="en-US" sz="1800"/>
          </a:p>
          <a:p>
            <a:pPr algn="just"/>
            <a:r>
              <a:rPr lang="en-US" altLang="en-US" sz="1800" b="1"/>
              <a:t>CONNECT</a:t>
            </a:r>
            <a:r>
              <a:rPr lang="en-US" altLang="en-US" sz="1800"/>
              <a:t>: Used to establish a tunnel to the server (rarely used in normal web apps).</a:t>
            </a:r>
            <a:endParaRPr lang="en-US" altLang="en-US" sz="1800"/>
          </a:p>
          <a:p>
            <a:pPr algn="just"/>
            <a:r>
              <a:rPr lang="en-US" altLang="en-US" sz="1800" b="1"/>
              <a:t>TRACE</a:t>
            </a:r>
            <a:r>
              <a:rPr lang="en-US" altLang="en-US" sz="1800"/>
              <a:t>: Used for debugging, returns the request as received by the server.</a:t>
            </a:r>
            <a:endParaRPr lang="en-US" alt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How Controllers Work</a:t>
            </a:r>
            <a:endParaRPr lang="en-US" altLang="en-US"/>
          </a:p>
        </p:txBody>
      </p:sp>
      <p:sp>
        <p:nvSpPr>
          <p:cNvPr id="3" name="Content Placeholder 2"/>
          <p:cNvSpPr>
            <a:spLocks noGrp="1"/>
          </p:cNvSpPr>
          <p:nvPr>
            <p:ph idx="1"/>
          </p:nvPr>
        </p:nvSpPr>
        <p:spPr/>
        <p:txBody>
          <a:bodyPr>
            <a:noAutofit/>
          </a:bodyPr>
          <a:p>
            <a:r>
              <a:rPr lang="en-US" altLang="en-US" sz="2400" b="1"/>
              <a:t>Working of Controllers in Spring MVC (Simple Flow)</a:t>
            </a:r>
            <a:endParaRPr lang="en-US" altLang="en-US" sz="2400" b="1"/>
          </a:p>
          <a:p>
            <a:pPr lvl="1"/>
            <a:r>
              <a:rPr lang="en-US" altLang="en-US" sz="2400" b="1"/>
              <a:t>Client Request</a:t>
            </a:r>
            <a:r>
              <a:rPr lang="en-US" altLang="en-US" sz="2400"/>
              <a:t> → User/browser sends request (/hello, /users).</a:t>
            </a:r>
            <a:endParaRPr lang="en-US" altLang="en-US" sz="2400"/>
          </a:p>
          <a:p>
            <a:pPr lvl="1"/>
            <a:r>
              <a:rPr lang="en-US" altLang="en-US" sz="2400" b="1"/>
              <a:t>DispatcherServlet</a:t>
            </a:r>
            <a:r>
              <a:rPr lang="en-US" altLang="en-US" sz="2400"/>
              <a:t> → Intercepts and finds the right controller method.</a:t>
            </a:r>
            <a:endParaRPr lang="en-US" altLang="en-US" sz="2400"/>
          </a:p>
          <a:p>
            <a:pPr lvl="1"/>
            <a:r>
              <a:rPr lang="en-US" altLang="en-US" sz="2400" b="1"/>
              <a:t>Controller Method </a:t>
            </a:r>
            <a:r>
              <a:rPr lang="en-US" altLang="en-US" sz="2400"/>
              <a:t>→ Executes, may call Service/DAO using @Autowired.</a:t>
            </a:r>
            <a:endParaRPr lang="en-US" altLang="en-US" sz="2400"/>
          </a:p>
          <a:p>
            <a:pPr lvl="1"/>
            <a:r>
              <a:rPr lang="en-US" altLang="en-US" sz="2400" b="1"/>
              <a:t>Return</a:t>
            </a:r>
            <a:r>
              <a:rPr lang="en-US" altLang="en-US" sz="2400"/>
              <a:t> → Sends back a view name (JSP/HTML) or data (JSON/XML).</a:t>
            </a:r>
            <a:endParaRPr lang="en-US" altLang="en-US" sz="2400"/>
          </a:p>
          <a:p>
            <a:pPr lvl="1"/>
            <a:r>
              <a:rPr lang="en-US" altLang="en-US" sz="2400" b="1"/>
              <a:t>ViewResolver (if MVC)</a:t>
            </a:r>
            <a:r>
              <a:rPr lang="en-US" altLang="en-US" sz="2400"/>
              <a:t> → Maps view name to actual page.</a:t>
            </a:r>
            <a:endParaRPr lang="en-US" altLang="en-US" sz="2400"/>
          </a:p>
          <a:p>
            <a:pPr lvl="1"/>
            <a:r>
              <a:rPr lang="en-US" altLang="en-US" sz="2400" b="1"/>
              <a:t>Response</a:t>
            </a:r>
            <a:r>
              <a:rPr lang="en-US" altLang="en-US" sz="2400"/>
              <a:t> → Final result is sent to client.</a:t>
            </a:r>
            <a:endParaRPr lang="en-US" alt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e514e099-758c-4410-8054-fc8a21dcc5ca"/>
          <p:cNvPicPr>
            <a:picLocks noChangeAspect="1"/>
          </p:cNvPicPr>
          <p:nvPr>
            <p:ph idx="1"/>
          </p:nvPr>
        </p:nvPicPr>
        <p:blipFill>
          <a:blip r:embed="rId1"/>
          <a:stretch>
            <a:fillRect/>
          </a:stretch>
        </p:blipFill>
        <p:spPr>
          <a:xfrm>
            <a:off x="2565400" y="0"/>
            <a:ext cx="40132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RequestMapping</a:t>
            </a:r>
            <a:endParaRPr lang="en-US" altLang="en-US"/>
          </a:p>
        </p:txBody>
      </p:sp>
      <p:sp>
        <p:nvSpPr>
          <p:cNvPr id="3" name="Content Placeholder 2"/>
          <p:cNvSpPr>
            <a:spLocks noGrp="1"/>
          </p:cNvSpPr>
          <p:nvPr>
            <p:ph idx="1"/>
          </p:nvPr>
        </p:nvSpPr>
        <p:spPr/>
        <p:txBody>
          <a:bodyPr/>
          <a:p>
            <a:r>
              <a:rPr lang="en-US" altLang="en-US" sz="2800"/>
              <a:t>Definition:</a:t>
            </a:r>
            <a:endParaRPr lang="en-US" altLang="en-US" sz="2800"/>
          </a:p>
          <a:p>
            <a:pPr lvl="1"/>
            <a:r>
              <a:rPr lang="en-US" altLang="en-US" sz="2400"/>
              <a:t>Annotation used in Spring MVC to map HTTP requests to controller methods.</a:t>
            </a:r>
            <a:endParaRPr lang="en-US" altLang="en-US" sz="2400"/>
          </a:p>
          <a:p>
            <a:r>
              <a:rPr lang="en-US" altLang="en-US" sz="2800"/>
              <a:t>Where used:</a:t>
            </a:r>
            <a:endParaRPr lang="en-US" altLang="en-US" sz="2800"/>
          </a:p>
          <a:p>
            <a:pPr lvl="1"/>
            <a:r>
              <a:rPr lang="en-US" altLang="en-US" sz="2400"/>
              <a:t>Class level → defines base URL.</a:t>
            </a:r>
            <a:endParaRPr lang="en-US" altLang="en-US" sz="2400"/>
          </a:p>
          <a:p>
            <a:pPr lvl="1"/>
            <a:r>
              <a:rPr lang="en-US" altLang="en-US" sz="2400"/>
              <a:t>Method level → defines specific path &amp; behavior.</a:t>
            </a:r>
            <a:endParaRPr lang="en-US" altLang="en-US" sz="2400"/>
          </a:p>
          <a:p>
            <a:r>
              <a:rPr lang="en-US" altLang="en-US" sz="2800"/>
              <a:t>Purpose:</a:t>
            </a:r>
            <a:endParaRPr lang="en-US" altLang="en-US" sz="2800"/>
          </a:p>
          <a:p>
            <a:pPr lvl="1"/>
            <a:r>
              <a:rPr lang="en-US" altLang="en-US" sz="2400"/>
              <a:t>Route incoming requests to correct method.</a:t>
            </a:r>
            <a:endParaRPr lang="en-US" altLang="en-US" sz="2400"/>
          </a:p>
          <a:p>
            <a:pPr lvl="1"/>
            <a:r>
              <a:rPr lang="en-US" altLang="en-US" sz="2400"/>
              <a:t>Control request method, parameters, headers, and data format.</a:t>
            </a:r>
            <a:endParaRPr lang="en-US" altLang="en-US"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Key attributes of @RequestMapping</a:t>
            </a:r>
            <a:endParaRPr lang="en-US"/>
          </a:p>
        </p:txBody>
      </p:sp>
      <p:graphicFrame>
        <p:nvGraphicFramePr>
          <p:cNvPr id="4" name="Content Placeholder 3"/>
          <p:cNvGraphicFramePr/>
          <p:nvPr>
            <p:ph idx="1"/>
            <p:custDataLst>
              <p:tags r:id="rId1"/>
            </p:custDataLst>
          </p:nvPr>
        </p:nvGraphicFramePr>
        <p:xfrm>
          <a:off x="457200" y="1600200"/>
          <a:ext cx="8503920" cy="3796030"/>
        </p:xfrm>
        <a:graphic>
          <a:graphicData uri="http://schemas.openxmlformats.org/drawingml/2006/table">
            <a:tbl>
              <a:tblPr firstRow="1" bandRow="1">
                <a:tableStyleId>{5C22544A-7EE6-4342-B048-85BDC9FD1C3A}</a:tableStyleId>
              </a:tblPr>
              <a:tblGrid>
                <a:gridCol w="2021840"/>
                <a:gridCol w="2560320"/>
                <a:gridCol w="3921760"/>
              </a:tblGrid>
              <a:tr h="374015">
                <a:tc>
                  <a:txBody>
                    <a:bodyPr/>
                    <a:p>
                      <a:pPr algn="ctr"/>
                      <a:r>
                        <a:rPr sz="2400" b="1"/>
                        <a:t>Attribute</a:t>
                      </a:r>
                      <a:endParaRPr sz="2400" b="1"/>
                    </a:p>
                  </a:txBody>
                  <a:tcPr marL="0" marR="0" marT="0" marB="0" anchor="ctr" anchorCtr="0"/>
                </a:tc>
                <a:tc>
                  <a:txBody>
                    <a:bodyPr/>
                    <a:p>
                      <a:pPr algn="ctr"/>
                      <a:r>
                        <a:rPr sz="2400" b="1"/>
                        <a:t>Description</a:t>
                      </a:r>
                      <a:endParaRPr sz="2400" b="1"/>
                    </a:p>
                  </a:txBody>
                  <a:tcPr marL="0" marR="0" marT="0" marB="0" anchor="ctr" anchorCtr="0"/>
                </a:tc>
                <a:tc>
                  <a:txBody>
                    <a:bodyPr/>
                    <a:p>
                      <a:pPr algn="ctr"/>
                      <a:r>
                        <a:rPr sz="2400" b="1"/>
                        <a:t>Example</a:t>
                      </a:r>
                      <a:endParaRPr sz="2400" b="1"/>
                    </a:p>
                  </a:txBody>
                  <a:tcPr marL="0" marR="0" marT="0" marB="0" anchor="ctr" anchorCtr="0"/>
                </a:tc>
              </a:tr>
              <a:tr h="609600">
                <a:tc>
                  <a:txBody>
                    <a:bodyPr/>
                    <a:p>
                      <a:pPr algn="ctr"/>
                      <a:r>
                        <a:rPr sz="2400" b="1"/>
                        <a:t>value / path</a:t>
                      </a:r>
                      <a:endParaRPr sz="2400" b="1"/>
                    </a:p>
                  </a:txBody>
                  <a:tcPr marL="0" marR="0" marT="0" marB="0" anchor="ctr" anchorCtr="0"/>
                </a:tc>
                <a:tc>
                  <a:txBody>
                    <a:bodyPr/>
                    <a:p>
                      <a:pPr algn="ctr"/>
                      <a:r>
                        <a:rPr sz="2000"/>
                        <a:t>URL mapping</a:t>
                      </a:r>
                      <a:endParaRPr sz="2000"/>
                    </a:p>
                  </a:txBody>
                  <a:tcPr marL="0" marR="0" marT="0" marB="0" anchor="ctr" anchorCtr="0"/>
                </a:tc>
                <a:tc>
                  <a:txBody>
                    <a:bodyPr/>
                    <a:p>
                      <a:pPr algn="ctr"/>
                      <a:r>
                        <a:rPr sz="2000"/>
                        <a:t>@RequestMapping("/hello")</a:t>
                      </a:r>
                      <a:endParaRPr sz="2000"/>
                    </a:p>
                  </a:txBody>
                  <a:tcPr marL="0" marR="0" marT="0" marB="0" anchor="ctr" anchorCtr="0"/>
                </a:tc>
              </a:tr>
              <a:tr h="609600">
                <a:tc>
                  <a:txBody>
                    <a:bodyPr/>
                    <a:p>
                      <a:pPr algn="ctr"/>
                      <a:r>
                        <a:rPr sz="2400" b="1"/>
                        <a:t>method</a:t>
                      </a:r>
                      <a:endParaRPr sz="2400" b="1"/>
                    </a:p>
                  </a:txBody>
                  <a:tcPr marL="0" marR="0" marT="0" marB="0" anchor="ctr" anchorCtr="0"/>
                </a:tc>
                <a:tc>
                  <a:txBody>
                    <a:bodyPr/>
                    <a:p>
                      <a:pPr algn="ctr"/>
                      <a:r>
                        <a:rPr sz="2000"/>
                        <a:t>HTTP Method</a:t>
                      </a:r>
                      <a:endParaRPr sz="2000"/>
                    </a:p>
                  </a:txBody>
                  <a:tcPr marL="0" marR="0" marT="0" marB="0" anchor="ctr" anchorCtr="0"/>
                </a:tc>
                <a:tc>
                  <a:txBody>
                    <a:bodyPr/>
                    <a:p>
                      <a:pPr algn="ctr"/>
                      <a:r>
                        <a:rPr sz="2000"/>
                        <a:t>@RequestMapping(value="/save", method=POST)</a:t>
                      </a:r>
                      <a:endParaRPr sz="2000"/>
                    </a:p>
                  </a:txBody>
                  <a:tcPr marL="0" marR="0" marT="0" marB="0" anchor="ctr" anchorCtr="0"/>
                </a:tc>
              </a:tr>
              <a:tr h="374015">
                <a:tc>
                  <a:txBody>
                    <a:bodyPr/>
                    <a:p>
                      <a:pPr algn="ctr"/>
                      <a:r>
                        <a:rPr sz="2400" b="1"/>
                        <a:t>params</a:t>
                      </a:r>
                      <a:endParaRPr sz="2400" b="1"/>
                    </a:p>
                  </a:txBody>
                  <a:tcPr marL="0" marR="0" marT="0" marB="0" anchor="ctr" anchorCtr="0"/>
                </a:tc>
                <a:tc>
                  <a:txBody>
                    <a:bodyPr/>
                    <a:p>
                      <a:pPr algn="ctr"/>
                      <a:r>
                        <a:rPr sz="2000"/>
                        <a:t>Match request params</a:t>
                      </a:r>
                      <a:endParaRPr sz="2000"/>
                    </a:p>
                  </a:txBody>
                  <a:tcPr marL="0" marR="0" marT="0" marB="0" anchor="ctr" anchorCtr="0"/>
                </a:tc>
                <a:tc>
                  <a:txBody>
                    <a:bodyPr/>
                    <a:p>
                      <a:pPr algn="ctr"/>
                      <a:r>
                        <a:rPr sz="2000"/>
                        <a:t>params="type=admin"</a:t>
                      </a:r>
                      <a:endParaRPr sz="2000"/>
                    </a:p>
                  </a:txBody>
                  <a:tcPr marL="0" marR="0" marT="0" marB="0" anchor="ctr" anchorCtr="0"/>
                </a:tc>
              </a:tr>
              <a:tr h="609600">
                <a:tc>
                  <a:txBody>
                    <a:bodyPr/>
                    <a:p>
                      <a:pPr algn="ctr"/>
                      <a:r>
                        <a:rPr sz="2400" b="1"/>
                        <a:t>headers</a:t>
                      </a:r>
                      <a:endParaRPr sz="2400" b="1"/>
                    </a:p>
                  </a:txBody>
                  <a:tcPr marL="0" marR="0" marT="0" marB="0" anchor="ctr" anchorCtr="0"/>
                </a:tc>
                <a:tc>
                  <a:txBody>
                    <a:bodyPr/>
                    <a:p>
                      <a:pPr algn="ctr"/>
                      <a:r>
                        <a:rPr sz="2000"/>
                        <a:t>Match request headers</a:t>
                      </a:r>
                      <a:endParaRPr sz="2000"/>
                    </a:p>
                  </a:txBody>
                  <a:tcPr marL="0" marR="0" marT="0" marB="0" anchor="ctr" anchorCtr="0"/>
                </a:tc>
                <a:tc>
                  <a:txBody>
                    <a:bodyPr/>
                    <a:p>
                      <a:pPr algn="ctr"/>
                      <a:r>
                        <a:rPr sz="2000"/>
                        <a:t>headers="content-type=application/json"</a:t>
                      </a:r>
                      <a:endParaRPr sz="2000"/>
                    </a:p>
                  </a:txBody>
                  <a:tcPr marL="0" marR="0" marT="0" marB="0" anchor="ctr" anchorCtr="0"/>
                </a:tc>
              </a:tr>
              <a:tr h="609600">
                <a:tc>
                  <a:txBody>
                    <a:bodyPr/>
                    <a:p>
                      <a:pPr algn="ctr"/>
                      <a:r>
                        <a:rPr sz="2400" b="1"/>
                        <a:t>produces</a:t>
                      </a:r>
                      <a:endParaRPr sz="2400" b="1"/>
                    </a:p>
                  </a:txBody>
                  <a:tcPr marL="0" marR="0" marT="0" marB="0" anchor="ctr" anchorCtr="0"/>
                </a:tc>
                <a:tc>
                  <a:txBody>
                    <a:bodyPr/>
                    <a:p>
                      <a:pPr algn="ctr"/>
                      <a:r>
                        <a:rPr sz="2000"/>
                        <a:t>Response type</a:t>
                      </a:r>
                      <a:endParaRPr sz="2000"/>
                    </a:p>
                  </a:txBody>
                  <a:tcPr marL="0" marR="0" marT="0" marB="0" anchor="ctr" anchorCtr="0"/>
                </a:tc>
                <a:tc>
                  <a:txBody>
                    <a:bodyPr/>
                    <a:p>
                      <a:pPr algn="ctr"/>
                      <a:r>
                        <a:rPr sz="2000"/>
                        <a:t>produces="application/json"</a:t>
                      </a:r>
                      <a:endParaRPr sz="2000"/>
                    </a:p>
                  </a:txBody>
                  <a:tcPr marL="0" marR="0" marT="0" marB="0" anchor="ctr" anchorCtr="0"/>
                </a:tc>
              </a:tr>
              <a:tr h="609600">
                <a:tc>
                  <a:txBody>
                    <a:bodyPr/>
                    <a:p>
                      <a:pPr algn="ctr"/>
                      <a:r>
                        <a:rPr sz="2400" b="1"/>
                        <a:t>consumes</a:t>
                      </a:r>
                      <a:endParaRPr sz="2400" b="1"/>
                    </a:p>
                  </a:txBody>
                  <a:tcPr marL="0" marR="0" marT="0" marB="0" anchor="ctr" anchorCtr="0"/>
                </a:tc>
                <a:tc>
                  <a:txBody>
                    <a:bodyPr/>
                    <a:p>
                      <a:pPr algn="ctr"/>
                      <a:r>
                        <a:rPr sz="2000"/>
                        <a:t>Request type</a:t>
                      </a:r>
                      <a:endParaRPr sz="2000"/>
                    </a:p>
                  </a:txBody>
                  <a:tcPr marL="0" marR="0" marT="0" marB="0" anchor="ctr" anchorCtr="0"/>
                </a:tc>
                <a:tc>
                  <a:txBody>
                    <a:bodyPr/>
                    <a:p>
                      <a:pPr algn="ctr"/>
                      <a:r>
                        <a:rPr sz="2000"/>
                        <a:t>consumes="application/json"</a:t>
                      </a:r>
                      <a:endParaRPr sz="2000"/>
                    </a:p>
                  </a:txBody>
                  <a:tcPr marL="0" marR="0" marT="0" marB="0" anchor="ctr" anchorCtr="0"/>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View Resolver</a:t>
            </a:r>
            <a:endParaRPr lang="en-US"/>
          </a:p>
        </p:txBody>
      </p:sp>
      <p:sp>
        <p:nvSpPr>
          <p:cNvPr id="3" name="Content Placeholder 2"/>
          <p:cNvSpPr>
            <a:spLocks noGrp="1"/>
          </p:cNvSpPr>
          <p:nvPr>
            <p:ph idx="1"/>
          </p:nvPr>
        </p:nvSpPr>
        <p:spPr/>
        <p:txBody>
          <a:bodyPr>
            <a:normAutofit fontScale="70000"/>
          </a:bodyPr>
          <a:p>
            <a:r>
              <a:rPr lang="en-US" altLang="en-US" sz="2000"/>
              <a:t>In Spring MVC, when your controller returns a string (logical view name), the ViewResolver maps that string to an actual view (JSP, Thymeleaf, etc.) that should be rendered to the client.</a:t>
            </a:r>
            <a:endParaRPr lang="en-US" altLang="en-US" sz="2000"/>
          </a:p>
          <a:p>
            <a:r>
              <a:rPr lang="en-US" altLang="en-US" sz="2000"/>
              <a:t>Without a ViewResolver, Spring would not link Spring MVC, the controller methods do not return actual view files (like home.jsp).</a:t>
            </a:r>
            <a:endParaRPr lang="en-US" altLang="en-US" sz="2000"/>
          </a:p>
          <a:p>
            <a:r>
              <a:rPr lang="en-US" altLang="en-US" sz="2000"/>
              <a:t>Instead, they return a logical view name (a simple string, e.g., "home").</a:t>
            </a:r>
            <a:endParaRPr lang="en-US" altLang="en-US" sz="2000"/>
          </a:p>
          <a:p>
            <a:r>
              <a:rPr lang="en-US" altLang="en-US" sz="2000"/>
              <a:t>The ViewResolver is a component that translates this logical view name into the actual view resource (such as JSP, Thymeleaf, FreeMarker, or PDF).</a:t>
            </a:r>
            <a:endParaRPr lang="en-US" altLang="en-US" sz="2000"/>
          </a:p>
          <a:p>
            <a:r>
              <a:rPr lang="en-US" altLang="en-US" sz="2000"/>
              <a:t>It works closely with the DispatcherServlet to find and render the correct UI.</a:t>
            </a:r>
            <a:endParaRPr lang="en-US" altLang="en-US" sz="2000"/>
          </a:p>
          <a:p>
            <a:r>
              <a:rPr lang="en-US" altLang="en-US" sz="2000"/>
              <a:t>Usually, a prefix and suffix are configured in the ViewResolver:</a:t>
            </a:r>
            <a:endParaRPr lang="en-US" altLang="en-US" sz="2000"/>
          </a:p>
          <a:p>
            <a:r>
              <a:rPr lang="en-US" altLang="en-US" sz="2000"/>
              <a:t>Prefix = /WEB-INF/views/</a:t>
            </a:r>
            <a:endParaRPr lang="en-US" altLang="en-US" sz="2000"/>
          </a:p>
          <a:p>
            <a:r>
              <a:rPr lang="en-US" altLang="en-US" sz="2000"/>
              <a:t>Suffix = .jspnow where your JSP/HTML/Thymeleaf files are located.</a:t>
            </a:r>
            <a:endParaRPr lang="en-US" altLang="en-US" sz="2000"/>
          </a:p>
          <a:p>
            <a:r>
              <a:rPr lang="en-US" altLang="en-US" sz="2000"/>
              <a:t>How it Works</a:t>
            </a:r>
            <a:endParaRPr lang="en-US" altLang="en-US" sz="2000"/>
          </a:p>
          <a:p>
            <a:pPr lvl="1">
              <a:buFont typeface="Arial" panose="020B0604020202020204" pitchFamily="34" charset="0"/>
              <a:buChar char="•"/>
            </a:pPr>
            <a:r>
              <a:rPr lang="en-US" altLang="en-US" sz="2000"/>
              <a:t>User goes to http://localhost:8080/home</a:t>
            </a:r>
            <a:endParaRPr lang="en-US" altLang="en-US" sz="2000"/>
          </a:p>
          <a:p>
            <a:pPr lvl="1">
              <a:buFont typeface="Arial" panose="020B0604020202020204" pitchFamily="34" charset="0"/>
              <a:buChar char="•"/>
            </a:pPr>
            <a:r>
              <a:rPr lang="en-US" altLang="en-US" sz="2000"/>
              <a:t>Controller returns "home"</a:t>
            </a:r>
            <a:endParaRPr lang="en-US" altLang="en-US" sz="2000"/>
          </a:p>
          <a:p>
            <a:pPr lvl="1">
              <a:buFont typeface="Arial" panose="020B0604020202020204" pitchFamily="34" charset="0"/>
              <a:buChar char="•"/>
            </a:pPr>
            <a:r>
              <a:rPr lang="en-US" altLang="en-US" sz="2000"/>
              <a:t>ViewResolver converts "home" → /WEB-INF/views/home.jsp</a:t>
            </a:r>
            <a:endParaRPr lang="en-US" altLang="en-US" sz="2000"/>
          </a:p>
          <a:p>
            <a:pPr lvl="1">
              <a:buFont typeface="Arial" panose="020B0604020202020204" pitchFamily="34" charset="0"/>
              <a:buChar char="•"/>
            </a:pPr>
            <a:r>
              <a:rPr lang="en-US" altLang="en-US" sz="2000"/>
              <a:t>JSP file is rendered with ${message} → "Welcome to Spring MVC!"</a:t>
            </a:r>
            <a:endParaRPr lang="en-US" altLang="en-US"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Flow of ViewResolver in Spring MVC</a:t>
            </a:r>
            <a:endParaRPr lang="en-US" altLang="en-US"/>
          </a:p>
        </p:txBody>
      </p:sp>
      <p:graphicFrame>
        <p:nvGraphicFramePr>
          <p:cNvPr id="4" name="Content Placeholder 3"/>
          <p:cNvGraphicFramePr/>
          <p:nvPr>
            <p:ph idx="1"/>
            <p:custDataLst>
              <p:tags r:id="rId1"/>
            </p:custDataLst>
          </p:nvPr>
        </p:nvGraphicFramePr>
        <p:xfrm>
          <a:off x="457200" y="1600200"/>
          <a:ext cx="8228965" cy="4367530"/>
        </p:xfrm>
        <a:graphic>
          <a:graphicData uri="http://schemas.openxmlformats.org/drawingml/2006/table">
            <a:tbl>
              <a:tblPr firstRow="1" bandRow="1">
                <a:tableStyleId>{5C22544A-7EE6-4342-B048-85BDC9FD1C3A}</a:tableStyleId>
              </a:tblPr>
              <a:tblGrid>
                <a:gridCol w="1757680"/>
                <a:gridCol w="3504565"/>
                <a:gridCol w="2966720"/>
              </a:tblGrid>
              <a:tr h="562610">
                <a:tc>
                  <a:txBody>
                    <a:bodyPr/>
                    <a:p>
                      <a:pPr algn="ctr"/>
                      <a:r>
                        <a:rPr sz="2400"/>
                        <a:t>Step</a:t>
                      </a:r>
                      <a:endParaRPr sz="2400"/>
                    </a:p>
                  </a:txBody>
                  <a:tcPr marL="0" marR="0" marT="0" marB="0" anchor="ctr" anchorCtr="0"/>
                </a:tc>
                <a:tc>
                  <a:txBody>
                    <a:bodyPr/>
                    <a:p>
                      <a:pPr algn="ctr"/>
                      <a:r>
                        <a:rPr sz="2400"/>
                        <a:t>Explanation</a:t>
                      </a:r>
                      <a:endParaRPr sz="2400"/>
                    </a:p>
                  </a:txBody>
                  <a:tcPr marL="0" marR="0" marT="0" marB="0" anchor="ctr" anchorCtr="0"/>
                </a:tc>
                <a:tc>
                  <a:txBody>
                    <a:bodyPr/>
                    <a:p>
                      <a:pPr algn="ctr"/>
                      <a:r>
                        <a:rPr sz="2400"/>
                        <a:t>Data/Example</a:t>
                      </a:r>
                      <a:endParaRPr sz="2400"/>
                    </a:p>
                  </a:txBody>
                  <a:tcPr marL="0" marR="0" marT="0" marB="0" anchor="ctr" anchorCtr="0"/>
                </a:tc>
              </a:tr>
              <a:tr h="563245">
                <a:tc>
                  <a:txBody>
                    <a:bodyPr/>
                    <a:p>
                      <a:pPr algn="ctr"/>
                      <a:r>
                        <a:rPr sz="1800"/>
                        <a:t>1. User Request</a:t>
                      </a:r>
                      <a:endParaRPr sz="1800"/>
                    </a:p>
                  </a:txBody>
                  <a:tcPr marL="0" marR="0" marT="0" marB="0" anchor="ctr" anchorCtr="0"/>
                </a:tc>
                <a:tc>
                  <a:txBody>
                    <a:bodyPr/>
                    <a:p>
                      <a:pPr algn="ctr"/>
                      <a:r>
                        <a:rPr sz="1800"/>
                        <a:t>User accesses the application URL.</a:t>
                      </a:r>
                      <a:endParaRPr sz="1800"/>
                    </a:p>
                  </a:txBody>
                  <a:tcPr marL="0" marR="0" marT="0" marB="0" anchor="ctr" anchorCtr="0"/>
                </a:tc>
                <a:tc>
                  <a:txBody>
                    <a:bodyPr/>
                    <a:p>
                      <a:pPr algn="ctr"/>
                      <a:r>
                        <a:rPr sz="1800"/>
                        <a:t>http://localhost:8080/home</a:t>
                      </a:r>
                      <a:endParaRPr sz="1800"/>
                    </a:p>
                  </a:txBody>
                  <a:tcPr marL="0" marR="0" marT="0" marB="0" anchor="ctr" anchorCtr="0"/>
                </a:tc>
              </a:tr>
              <a:tr h="810260">
                <a:tc>
                  <a:txBody>
                    <a:bodyPr/>
                    <a:p>
                      <a:pPr algn="ctr"/>
                      <a:r>
                        <a:rPr sz="1800"/>
                        <a:t>2. Controller Executes</a:t>
                      </a:r>
                      <a:endParaRPr sz="1800"/>
                    </a:p>
                  </a:txBody>
                  <a:tcPr marL="0" marR="0" marT="0" marB="0" anchor="ctr" anchorCtr="0"/>
                </a:tc>
                <a:tc>
                  <a:txBody>
                    <a:bodyPr/>
                    <a:p>
                      <a:pPr algn="ctr"/>
                      <a:r>
                        <a:rPr sz="1800"/>
                        <a:t>DispatcherServlet finds the right controller and method runs.</a:t>
                      </a:r>
                      <a:endParaRPr sz="1800"/>
                    </a:p>
                  </a:txBody>
                  <a:tcPr marL="0" marR="0" marT="0" marB="0" anchor="ctr" anchorCtr="0"/>
                </a:tc>
                <a:tc>
                  <a:txBody>
                    <a:bodyPr/>
                    <a:p>
                      <a:pPr algn="ctr"/>
                      <a:r>
                        <a:rPr sz="1800"/>
                        <a:t>Controller returns → "home"</a:t>
                      </a:r>
                      <a:endParaRPr sz="1800"/>
                    </a:p>
                  </a:txBody>
                  <a:tcPr marL="0" marR="0" marT="0" marB="0" anchor="ctr" anchorCtr="0"/>
                </a:tc>
              </a:tr>
              <a:tr h="810260">
                <a:tc>
                  <a:txBody>
                    <a:bodyPr/>
                    <a:p>
                      <a:pPr algn="ctr"/>
                      <a:r>
                        <a:rPr sz="1800"/>
                        <a:t>3. ViewResolver Resolves</a:t>
                      </a:r>
                      <a:endParaRPr sz="1800"/>
                    </a:p>
                  </a:txBody>
                  <a:tcPr marL="0" marR="0" marT="0" marB="0" anchor="ctr" anchorCtr="0"/>
                </a:tc>
                <a:tc>
                  <a:txBody>
                    <a:bodyPr/>
                    <a:p>
                      <a:pPr algn="ctr"/>
                      <a:r>
                        <a:rPr sz="1800"/>
                        <a:t>Maps logical view name to actual file using prefix &amp; suffix.</a:t>
                      </a:r>
                      <a:endParaRPr sz="1800"/>
                    </a:p>
                  </a:txBody>
                  <a:tcPr marL="0" marR="0" marT="0" marB="0" anchor="ctr" anchorCtr="0"/>
                </a:tc>
                <a:tc>
                  <a:txBody>
                    <a:bodyPr/>
                    <a:p>
                      <a:pPr algn="ctr"/>
                      <a:r>
                        <a:rPr sz="1800"/>
                        <a:t>"home" → /WEB-INF/views/home.jsp</a:t>
                      </a:r>
                      <a:endParaRPr sz="1800"/>
                    </a:p>
                  </a:txBody>
                  <a:tcPr marL="0" marR="0" marT="0" marB="0" anchor="ctr" anchorCtr="0"/>
                </a:tc>
              </a:tr>
              <a:tr h="810260">
                <a:tc>
                  <a:txBody>
                    <a:bodyPr/>
                    <a:p>
                      <a:pPr algn="ctr"/>
                      <a:r>
                        <a:rPr sz="1800"/>
                        <a:t>4. JSP Rendered</a:t>
                      </a:r>
                      <a:endParaRPr sz="1800"/>
                    </a:p>
                  </a:txBody>
                  <a:tcPr marL="0" marR="0" marT="0" marB="0" anchor="ctr" anchorCtr="0"/>
                </a:tc>
                <a:tc>
                  <a:txBody>
                    <a:bodyPr/>
                    <a:p>
                      <a:pPr algn="ctr"/>
                      <a:r>
                        <a:rPr sz="1800"/>
                        <a:t>JSP file executes with model attributes.</a:t>
                      </a:r>
                      <a:endParaRPr sz="1800"/>
                    </a:p>
                  </a:txBody>
                  <a:tcPr marL="0" marR="0" marT="0" marB="0" anchor="ctr" anchorCtr="0"/>
                </a:tc>
                <a:tc>
                  <a:txBody>
                    <a:bodyPr/>
                    <a:p>
                      <a:pPr algn="ctr"/>
                      <a:r>
                        <a:rPr sz="1800"/>
                        <a:t>${message} → "Welcome to Spring MVC!"</a:t>
                      </a:r>
                      <a:endParaRPr sz="1800"/>
                    </a:p>
                  </a:txBody>
                  <a:tcPr marL="0" marR="0" marT="0" marB="0" anchor="ctr" anchorCtr="0"/>
                </a:tc>
              </a:tr>
              <a:tr h="810895">
                <a:tc>
                  <a:txBody>
                    <a:bodyPr/>
                    <a:p>
                      <a:pPr algn="ctr"/>
                      <a:r>
                        <a:rPr sz="1800"/>
                        <a:t>5. Response Sent</a:t>
                      </a:r>
                      <a:endParaRPr sz="1800"/>
                    </a:p>
                  </a:txBody>
                  <a:tcPr marL="0" marR="0" marT="0" marB="0" anchor="ctr" anchorCtr="0"/>
                </a:tc>
                <a:tc>
                  <a:txBody>
                    <a:bodyPr/>
                    <a:p>
                      <a:pPr algn="ctr"/>
                      <a:r>
                        <a:rPr sz="1800"/>
                        <a:t>Final HTML is sent back to the client’s browser.</a:t>
                      </a:r>
                      <a:endParaRPr sz="1800"/>
                    </a:p>
                  </a:txBody>
                  <a:tcPr marL="0" marR="0" marT="0" marB="0" anchor="ctr" anchorCtr="0"/>
                </a:tc>
                <a:tc>
                  <a:txBody>
                    <a:bodyPr/>
                    <a:p>
                      <a:pPr algn="ctr"/>
                      <a:r>
                        <a:rPr sz="1800"/>
                        <a:t>Rendered HTML page</a:t>
                      </a:r>
                      <a:endParaRPr sz="1800"/>
                    </a:p>
                  </a:txBody>
                  <a:tcPr marL="0" marR="0" marT="0" marB="0" anchor="ctr" anchorCtr="0"/>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Form Handling in Spring MVC</a:t>
            </a:r>
            <a:endParaRPr lang="en-US" altLang="en-US"/>
          </a:p>
        </p:txBody>
      </p:sp>
      <p:sp>
        <p:nvSpPr>
          <p:cNvPr id="3" name="Content Placeholder 2"/>
          <p:cNvSpPr>
            <a:spLocks noGrp="1"/>
          </p:cNvSpPr>
          <p:nvPr>
            <p:ph idx="1"/>
          </p:nvPr>
        </p:nvSpPr>
        <p:spPr/>
        <p:txBody>
          <a:bodyPr>
            <a:normAutofit fontScale="90000"/>
          </a:bodyPr>
          <a:p>
            <a:r>
              <a:rPr lang="en-US" altLang="en-US"/>
              <a:t>Definition:</a:t>
            </a:r>
            <a:endParaRPr lang="en-US" altLang="en-US"/>
          </a:p>
          <a:p>
            <a:pPr lvl="1"/>
            <a:r>
              <a:rPr lang="en-US" altLang="en-US"/>
              <a:t>Form handling in Spring MVC allows users to submit data through HTML forms, which the controller captures, validates, and processes.</a:t>
            </a:r>
            <a:endParaRPr lang="en-US" altLang="en-US"/>
          </a:p>
          <a:p>
            <a:r>
              <a:rPr lang="en-US" altLang="en-US"/>
              <a:t>Key Concepts:</a:t>
            </a:r>
            <a:endParaRPr lang="en-US" altLang="en-US"/>
          </a:p>
          <a:p>
            <a:pPr lvl="1"/>
            <a:r>
              <a:rPr lang="en-US" altLang="en-US"/>
              <a:t>Form backing object → Java model class (e.g., User).</a:t>
            </a:r>
            <a:endParaRPr lang="en-US" altLang="en-US"/>
          </a:p>
          <a:p>
            <a:pPr lvl="1"/>
            <a:r>
              <a:rPr lang="en-US" altLang="en-US"/>
              <a:t>Form tag library (&lt;form:form&gt;) for binding inputs.</a:t>
            </a:r>
            <a:endParaRPr lang="en-US" altLang="en-US"/>
          </a:p>
          <a:p>
            <a:pPr lvl="1"/>
            <a:r>
              <a:rPr lang="en-US" altLang="en-US"/>
              <a:t>Data Binding → Form fields ↔ Object properties.</a:t>
            </a:r>
            <a:endParaRPr lang="en-US" altLang="en-US"/>
          </a:p>
          <a:p>
            <a:pPr lvl="1"/>
            <a:r>
              <a:rPr lang="en-US" altLang="en-US"/>
              <a:t>Validation → Check input with @Valid and BindingResult.</a:t>
            </a:r>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Workflow of Form Handling</a:t>
            </a:r>
            <a:endParaRPr lang="en-US" altLang="en-US"/>
          </a:p>
        </p:txBody>
      </p:sp>
      <p:graphicFrame>
        <p:nvGraphicFramePr>
          <p:cNvPr id="4" name="Content Placeholder 3"/>
          <p:cNvGraphicFramePr/>
          <p:nvPr>
            <p:ph idx="1"/>
          </p:nvPr>
        </p:nvGraphicFramePr>
        <p:xfrm>
          <a:off x="457200" y="1600200"/>
          <a:ext cx="8229600" cy="3048000"/>
        </p:xfrm>
        <a:graphic>
          <a:graphicData uri="http://schemas.openxmlformats.org/drawingml/2006/table">
            <a:tbl>
              <a:tblPr firstRow="1" bandRow="1">
                <a:tableStyleId>{5C22544A-7EE6-4342-B048-85BDC9FD1C3A}</a:tableStyleId>
              </a:tblPr>
              <a:tblGrid>
                <a:gridCol w="2743200"/>
                <a:gridCol w="2743200"/>
                <a:gridCol w="2743200"/>
              </a:tblGrid>
              <a:tr h="381000">
                <a:tc>
                  <a:txBody>
                    <a:bodyPr/>
                    <a:p>
                      <a:pPr algn="ctr"/>
                      <a:r>
                        <a:rPr sz="2800" b="1"/>
                        <a:t>Step</a:t>
                      </a:r>
                      <a:endParaRPr sz="2800" b="1"/>
                    </a:p>
                  </a:txBody>
                  <a:tcPr marL="0" marR="0" marT="0" marB="0" anchor="ctr" anchorCtr="0"/>
                </a:tc>
                <a:tc>
                  <a:txBody>
                    <a:bodyPr/>
                    <a:p>
                      <a:pPr algn="ctr"/>
                      <a:r>
                        <a:rPr sz="2800" b="1"/>
                        <a:t>Explanation</a:t>
                      </a:r>
                      <a:endParaRPr sz="2800" b="1"/>
                    </a:p>
                  </a:txBody>
                  <a:tcPr marL="0" marR="0" marT="0" marB="0" anchor="ctr" anchorCtr="0"/>
                </a:tc>
                <a:tc>
                  <a:txBody>
                    <a:bodyPr/>
                    <a:p>
                      <a:pPr algn="ctr"/>
                      <a:r>
                        <a:rPr sz="2800" b="1"/>
                        <a:t>Data/Example</a:t>
                      </a:r>
                      <a:endParaRPr sz="2800" b="1"/>
                    </a:p>
                  </a:txBody>
                  <a:tcPr marL="0" marR="0" marT="0" marB="0" anchor="ctr" anchorCtr="0"/>
                </a:tc>
              </a:tr>
              <a:tr h="381000">
                <a:tc>
                  <a:txBody>
                    <a:bodyPr/>
                    <a:p>
                      <a:pPr algn="ctr"/>
                      <a:r>
                        <a:rPr sz="2000"/>
                        <a:t>Show Form</a:t>
                      </a:r>
                      <a:endParaRPr sz="2000"/>
                    </a:p>
                  </a:txBody>
                  <a:tcPr marL="0" marR="0" marT="0" marB="0" anchor="ctr" anchorCtr="0"/>
                </a:tc>
                <a:tc>
                  <a:txBody>
                    <a:bodyPr/>
                    <a:p>
                      <a:pPr algn="ctr"/>
                      <a:r>
                        <a:rPr sz="2000"/>
                        <a:t>Controller displays form page.</a:t>
                      </a:r>
                      <a:endParaRPr sz="2000"/>
                    </a:p>
                  </a:txBody>
                  <a:tcPr marL="0" marR="0" marT="0" marB="0" anchor="ctr" anchorCtr="0"/>
                </a:tc>
                <a:tc>
                  <a:txBody>
                    <a:bodyPr/>
                    <a:p>
                      <a:pPr algn="ctr"/>
                      <a:r>
                        <a:rPr sz="2000"/>
                        <a:t>GET /register → register.jsp</a:t>
                      </a:r>
                      <a:endParaRPr sz="2000"/>
                    </a:p>
                  </a:txBody>
                  <a:tcPr marL="0" marR="0" marT="0" marB="0" anchor="ctr" anchorCtr="0"/>
                </a:tc>
              </a:tr>
              <a:tr h="381000">
                <a:tc>
                  <a:txBody>
                    <a:bodyPr/>
                    <a:p>
                      <a:pPr algn="ctr"/>
                      <a:r>
                        <a:rPr sz="2000"/>
                        <a:t>Fill Form</a:t>
                      </a:r>
                      <a:endParaRPr sz="2000"/>
                    </a:p>
                  </a:txBody>
                  <a:tcPr marL="0" marR="0" marT="0" marB="0" anchor="ctr" anchorCtr="0"/>
                </a:tc>
                <a:tc>
                  <a:txBody>
                    <a:bodyPr/>
                    <a:p>
                      <a:pPr algn="ctr"/>
                      <a:r>
                        <a:rPr sz="2000"/>
                        <a:t>User enters details in HTML form.</a:t>
                      </a:r>
                      <a:endParaRPr sz="2000"/>
                    </a:p>
                  </a:txBody>
                  <a:tcPr marL="0" marR="0" marT="0" marB="0" anchor="ctr" anchorCtr="0"/>
                </a:tc>
                <a:tc>
                  <a:txBody>
                    <a:bodyPr/>
                    <a:p>
                      <a:pPr algn="ctr"/>
                      <a:r>
                        <a:rPr sz="2000"/>
                        <a:t>Name = “Yukti”, Email = “</a:t>
                      </a:r>
                      <a:r>
                        <a:rPr sz="2000">
                          <a:hlinkClick r:id="rId1" action="ppaction://hlinkfile"/>
                        </a:rPr>
                        <a:t>abc@test.com</a:t>
                      </a:r>
                      <a:r>
                        <a:rPr sz="2000"/>
                        <a:t>”</a:t>
                      </a:r>
                      <a:endParaRPr sz="2000">
                        <a:hlinkClick r:id="rId1" action="ppaction://hlinkfile"/>
                      </a:endParaRPr>
                    </a:p>
                  </a:txBody>
                  <a:tcPr marL="0" marR="0" marT="0" marB="0" anchor="ctr" anchorCtr="0"/>
                </a:tc>
              </a:tr>
              <a:tr h="381000">
                <a:tc>
                  <a:txBody>
                    <a:bodyPr/>
                    <a:p>
                      <a:pPr algn="ctr"/>
                      <a:r>
                        <a:rPr sz="2000"/>
                        <a:t>Submit Form</a:t>
                      </a:r>
                      <a:endParaRPr sz="2000"/>
                    </a:p>
                  </a:txBody>
                  <a:tcPr marL="0" marR="0" marT="0" marB="0" anchor="ctr" anchorCtr="0"/>
                </a:tc>
                <a:tc>
                  <a:txBody>
                    <a:bodyPr/>
                    <a:p>
                      <a:pPr algn="ctr"/>
                      <a:r>
                        <a:rPr sz="2000"/>
                        <a:t>Form data posted to controller.</a:t>
                      </a:r>
                      <a:endParaRPr sz="2000"/>
                    </a:p>
                  </a:txBody>
                  <a:tcPr marL="0" marR="0" marT="0" marB="0" anchor="ctr" anchorCtr="0"/>
                </a:tc>
                <a:tc>
                  <a:txBody>
                    <a:bodyPr/>
                    <a:p>
                      <a:pPr algn="ctr"/>
                      <a:r>
                        <a:rPr sz="2000"/>
                        <a:t>POST /register</a:t>
                      </a:r>
                      <a:endParaRPr sz="2000"/>
                    </a:p>
                  </a:txBody>
                  <a:tcPr marL="0" marR="0" marT="0" marB="0" anchor="ctr" anchorCtr="0"/>
                </a:tc>
              </a:tr>
              <a:tr h="381000">
                <a:tc>
                  <a:txBody>
                    <a:bodyPr/>
                    <a:p>
                      <a:pPr algn="ctr"/>
                      <a:r>
                        <a:rPr sz="2000"/>
                        <a:t>Data Binding</a:t>
                      </a:r>
                      <a:endParaRPr sz="2000"/>
                    </a:p>
                  </a:txBody>
                  <a:tcPr marL="0" marR="0" marT="0" marB="0" anchor="ctr" anchorCtr="0"/>
                </a:tc>
                <a:tc>
                  <a:txBody>
                    <a:bodyPr/>
                    <a:p>
                      <a:pPr algn="ctr"/>
                      <a:r>
                        <a:rPr sz="2000"/>
                        <a:t>Spring binds form fields to model object.</a:t>
                      </a:r>
                      <a:endParaRPr sz="2000"/>
                    </a:p>
                  </a:txBody>
                  <a:tcPr marL="0" marR="0" marT="0" marB="0" anchor="ctr" anchorCtr="0"/>
                </a:tc>
                <a:tc>
                  <a:txBody>
                    <a:bodyPr/>
                    <a:p>
                      <a:pPr algn="ctr"/>
                      <a:r>
                        <a:rPr sz="2000"/>
                        <a:t>User{name="Yukti", email="abc@test.com"}</a:t>
                      </a:r>
                      <a:endParaRPr sz="2000"/>
                    </a:p>
                  </a:txBody>
                  <a:tcPr marL="0" marR="0" marT="0" marB="0" anchor="ctr" anchorCtr="0"/>
                </a:tc>
              </a:tr>
              <a:tr h="381000">
                <a:tc>
                  <a:txBody>
                    <a:bodyPr/>
                    <a:p>
                      <a:pPr algn="ctr"/>
                      <a:r>
                        <a:rPr sz="2000"/>
                        <a:t>Validation</a:t>
                      </a:r>
                      <a:endParaRPr sz="2000"/>
                    </a:p>
                  </a:txBody>
                  <a:tcPr marL="0" marR="0" marT="0" marB="0" anchor="ctr" anchorCtr="0"/>
                </a:tc>
                <a:tc>
                  <a:txBody>
                    <a:bodyPr/>
                    <a:p>
                      <a:pPr algn="ctr"/>
                      <a:r>
                        <a:rPr sz="2000"/>
                        <a:t>@Valid checks rules; errors go to BindingResult.</a:t>
                      </a:r>
                      <a:endParaRPr sz="2000"/>
                    </a:p>
                  </a:txBody>
                  <a:tcPr marL="0" marR="0" marT="0" marB="0" anchor="ctr" anchorCtr="0"/>
                </a:tc>
                <a:tc>
                  <a:txBody>
                    <a:bodyPr/>
                    <a:p>
                      <a:pPr algn="ctr"/>
                      <a:r>
                        <a:rPr sz="2000"/>
                        <a:t>If empty → error message</a:t>
                      </a:r>
                      <a:endParaRPr sz="2000"/>
                    </a:p>
                  </a:txBody>
                  <a:tcPr marL="0" marR="0" marT="0" marB="0" anchor="ctr" anchorCtr="0"/>
                </a:tc>
              </a:tr>
              <a:tr h="381000">
                <a:tc>
                  <a:txBody>
                    <a:bodyPr/>
                    <a:p>
                      <a:pPr algn="ctr"/>
                      <a:r>
                        <a:rPr sz="2000"/>
                        <a:t>Processing</a:t>
                      </a:r>
                      <a:endParaRPr sz="2000"/>
                    </a:p>
                  </a:txBody>
                  <a:tcPr marL="0" marR="0" marT="0" marB="0" anchor="ctr" anchorCtr="0"/>
                </a:tc>
                <a:tc>
                  <a:txBody>
                    <a:bodyPr/>
                    <a:p>
                      <a:pPr algn="ctr"/>
                      <a:r>
                        <a:rPr sz="2000"/>
                        <a:t>Controller calls Service/DAO.</a:t>
                      </a:r>
                      <a:endParaRPr sz="2000"/>
                    </a:p>
                  </a:txBody>
                  <a:tcPr marL="0" marR="0" marT="0" marB="0" anchor="ctr" anchorCtr="0"/>
                </a:tc>
                <a:tc>
                  <a:txBody>
                    <a:bodyPr/>
                    <a:p>
                      <a:pPr algn="ctr"/>
                      <a:r>
                        <a:rPr sz="2000"/>
                        <a:t>Save user to DB</a:t>
                      </a:r>
                      <a:endParaRPr sz="2000"/>
                    </a:p>
                  </a:txBody>
                  <a:tcPr marL="0" marR="0" marT="0" marB="0" anchor="ctr" anchorCtr="0"/>
                </a:tc>
              </a:tr>
              <a:tr h="381000">
                <a:tc>
                  <a:txBody>
                    <a:bodyPr/>
                    <a:p>
                      <a:pPr algn="ctr"/>
                      <a:r>
                        <a:rPr sz="2000"/>
                        <a:t>Response</a:t>
                      </a:r>
                      <a:endParaRPr sz="2000"/>
                    </a:p>
                  </a:txBody>
                  <a:tcPr marL="0" marR="0" marT="0" marB="0" anchor="ctr" anchorCtr="0"/>
                </a:tc>
                <a:tc>
                  <a:txBody>
                    <a:bodyPr/>
                    <a:p>
                      <a:pPr algn="ctr"/>
                      <a:r>
                        <a:rPr sz="2000"/>
                        <a:t>Success/Failure page shown.</a:t>
                      </a:r>
                      <a:endParaRPr sz="2000"/>
                    </a:p>
                  </a:txBody>
                  <a:tcPr marL="0" marR="0" marT="0" marB="0" anchor="ctr" anchorCtr="0"/>
                </a:tc>
                <a:tc>
                  <a:txBody>
                    <a:bodyPr/>
                    <a:p>
                      <a:pPr algn="ctr"/>
                      <a:r>
                        <a:rPr sz="2000"/>
                        <a:t>Redirect → /success</a:t>
                      </a:r>
                      <a:endParaRPr sz="2000"/>
                    </a:p>
                  </a:txBody>
                  <a:tcPr marL="0" marR="0" marT="0" marB="0" anchor="ctr" anchorCtr="0"/>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 Validation in Spring Boot</a:t>
            </a:r>
            <a:endParaRPr lang="en-US"/>
          </a:p>
        </p:txBody>
      </p:sp>
      <p:sp>
        <p:nvSpPr>
          <p:cNvPr id="3" name="Content Placeholder 2"/>
          <p:cNvSpPr>
            <a:spLocks noGrp="1"/>
          </p:cNvSpPr>
          <p:nvPr>
            <p:ph idx="1"/>
          </p:nvPr>
        </p:nvSpPr>
        <p:spPr/>
        <p:txBody>
          <a:bodyPr>
            <a:normAutofit/>
          </a:bodyPr>
          <a:p>
            <a:r>
              <a:rPr lang="en-US" altLang="en-US" sz="2400"/>
              <a:t>Definition:</a:t>
            </a:r>
            <a:endParaRPr lang="en-US" altLang="en-US" sz="2400"/>
          </a:p>
          <a:p>
            <a:pPr lvl="1"/>
            <a:r>
              <a:rPr lang="en-US" altLang="en-US" sz="2100"/>
              <a:t>Validation ensures that user input is correct, safe, and consistent before processing.</a:t>
            </a:r>
            <a:endParaRPr lang="en-US" altLang="en-US" sz="2100"/>
          </a:p>
          <a:p>
            <a:r>
              <a:rPr lang="en-US" altLang="en-US" sz="2400"/>
              <a:t>Spring Boot Support:</a:t>
            </a:r>
            <a:endParaRPr lang="en-US" altLang="en-US" sz="2400"/>
          </a:p>
          <a:p>
            <a:pPr lvl="1"/>
            <a:r>
              <a:rPr lang="en-US" altLang="en-US" sz="2100"/>
              <a:t>Uses Jakarta Bean Validation (JSR-380) with Hibernate Validator as the default provider.</a:t>
            </a:r>
            <a:endParaRPr lang="en-US" altLang="en-US" sz="2100"/>
          </a:p>
          <a:p>
            <a:pPr lvl="1"/>
            <a:r>
              <a:rPr lang="en-US" altLang="en-US" sz="2100"/>
              <a:t>Annotations are applied directly on model fields.</a:t>
            </a:r>
            <a:endParaRPr lang="en-US" altLang="en-US" sz="2100"/>
          </a:p>
          <a:p>
            <a:r>
              <a:rPr lang="en-US" altLang="en-US" sz="2400"/>
              <a:t>Key Benefit:</a:t>
            </a:r>
            <a:endParaRPr lang="en-US" altLang="en-US" sz="2400"/>
          </a:p>
          <a:p>
            <a:pPr lvl="1"/>
            <a:r>
              <a:rPr lang="en-US" altLang="en-US" sz="2100"/>
              <a:t>Prevents invalid data from entering the application (database, business logic, etc.).</a:t>
            </a:r>
            <a:endParaRPr lang="en-US" altLang="en-US" sz="2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a:t>
            </a:r>
            <a:r>
              <a:rPr lang="en-US" altLang="en-US"/>
              <a:t>ommon Validation Annotations</a:t>
            </a:r>
            <a:endParaRPr lang="en-US" altLang="en-US"/>
          </a:p>
        </p:txBody>
      </p:sp>
      <p:graphicFrame>
        <p:nvGraphicFramePr>
          <p:cNvPr id="4" name="Content Placeholder 3"/>
          <p:cNvGraphicFramePr/>
          <p:nvPr>
            <p:ph idx="1"/>
          </p:nvPr>
        </p:nvGraphicFramePr>
        <p:xfrm>
          <a:off x="457200" y="1600200"/>
          <a:ext cx="8229600" cy="2667000"/>
        </p:xfrm>
        <a:graphic>
          <a:graphicData uri="http://schemas.openxmlformats.org/drawingml/2006/table">
            <a:tbl>
              <a:tblPr firstRow="1" bandRow="1">
                <a:tableStyleId>{5C22544A-7EE6-4342-B048-85BDC9FD1C3A}</a:tableStyleId>
              </a:tblPr>
              <a:tblGrid>
                <a:gridCol w="2743200"/>
                <a:gridCol w="2743200"/>
                <a:gridCol w="2743200"/>
              </a:tblGrid>
              <a:tr h="381000">
                <a:tc>
                  <a:txBody>
                    <a:bodyPr/>
                    <a:p>
                      <a:pPr algn="ctr"/>
                      <a:r>
                        <a:rPr sz="2000" b="0"/>
                        <a:t>Annotation</a:t>
                      </a:r>
                      <a:endParaRPr sz="2000" b="0"/>
                    </a:p>
                  </a:txBody>
                  <a:tcPr marL="0" marR="0" marT="0" marB="0" anchor="ctr" anchorCtr="0"/>
                </a:tc>
                <a:tc>
                  <a:txBody>
                    <a:bodyPr/>
                    <a:p>
                      <a:pPr algn="ctr"/>
                      <a:r>
                        <a:rPr sz="2000" b="0"/>
                        <a:t>Usage</a:t>
                      </a:r>
                      <a:endParaRPr sz="2000" b="0"/>
                    </a:p>
                  </a:txBody>
                  <a:tcPr marL="0" marR="0" marT="0" marB="0" anchor="ctr" anchorCtr="0"/>
                </a:tc>
                <a:tc>
                  <a:txBody>
                    <a:bodyPr/>
                    <a:p>
                      <a:pPr algn="ctr"/>
                      <a:r>
                        <a:rPr sz="2000" b="0"/>
                        <a:t>Example</a:t>
                      </a:r>
                      <a:endParaRPr sz="2000" b="0"/>
                    </a:p>
                  </a:txBody>
                  <a:tcPr marL="0" marR="0" marT="0" marB="0" anchor="ctr" anchorCtr="0"/>
                </a:tc>
              </a:tr>
              <a:tr h="381000">
                <a:tc>
                  <a:txBody>
                    <a:bodyPr/>
                    <a:p>
                      <a:pPr algn="ctr"/>
                      <a:r>
                        <a:rPr sz="2400"/>
                        <a:t>@NotNull</a:t>
                      </a:r>
                      <a:endParaRPr sz="2400"/>
                    </a:p>
                  </a:txBody>
                  <a:tcPr marL="0" marR="0" marT="0" marB="0" anchor="ctr" anchorCtr="0"/>
                </a:tc>
                <a:tc>
                  <a:txBody>
                    <a:bodyPr/>
                    <a:p>
                      <a:pPr algn="ctr"/>
                      <a:r>
                        <a:rPr sz="2400"/>
                        <a:t>Field must not be null</a:t>
                      </a:r>
                      <a:endParaRPr sz="2400"/>
                    </a:p>
                  </a:txBody>
                  <a:tcPr marL="0" marR="0" marT="0" marB="0" anchor="ctr" anchorCtr="0"/>
                </a:tc>
                <a:tc>
                  <a:txBody>
                    <a:bodyPr/>
                    <a:p>
                      <a:pPr algn="ctr"/>
                      <a:r>
                        <a:rPr sz="2400"/>
                        <a:t>@NotNull private String name;</a:t>
                      </a:r>
                      <a:endParaRPr sz="2400"/>
                    </a:p>
                  </a:txBody>
                  <a:tcPr marL="0" marR="0" marT="0" marB="0" anchor="ctr" anchorCtr="0"/>
                </a:tc>
              </a:tr>
              <a:tr h="381000">
                <a:tc>
                  <a:txBody>
                    <a:bodyPr/>
                    <a:p>
                      <a:pPr algn="ctr"/>
                      <a:r>
                        <a:rPr sz="2400"/>
                        <a:t>@NotEmpty</a:t>
                      </a:r>
                      <a:endParaRPr sz="2400"/>
                    </a:p>
                  </a:txBody>
                  <a:tcPr marL="0" marR="0" marT="0" marB="0" anchor="ctr" anchorCtr="0"/>
                </a:tc>
                <a:tc>
                  <a:txBody>
                    <a:bodyPr/>
                    <a:p>
                      <a:pPr algn="ctr"/>
                      <a:r>
                        <a:rPr sz="2400"/>
                        <a:t>String/Collection must not be empty</a:t>
                      </a:r>
                      <a:endParaRPr sz="2400"/>
                    </a:p>
                  </a:txBody>
                  <a:tcPr marL="0" marR="0" marT="0" marB="0" anchor="ctr" anchorCtr="0"/>
                </a:tc>
                <a:tc>
                  <a:txBody>
                    <a:bodyPr/>
                    <a:p>
                      <a:pPr algn="ctr"/>
                      <a:r>
                        <a:rPr sz="2400"/>
                        <a:t>@NotEmpty private String username;</a:t>
                      </a:r>
                      <a:endParaRPr sz="2400"/>
                    </a:p>
                  </a:txBody>
                  <a:tcPr marL="0" marR="0" marT="0" marB="0" anchor="ctr" anchorCtr="0"/>
                </a:tc>
              </a:tr>
              <a:tr h="381000">
                <a:tc>
                  <a:txBody>
                    <a:bodyPr/>
                    <a:p>
                      <a:pPr algn="ctr"/>
                      <a:r>
                        <a:rPr sz="2400"/>
                        <a:t>@Size</a:t>
                      </a:r>
                      <a:endParaRPr sz="2400"/>
                    </a:p>
                  </a:txBody>
                  <a:tcPr marL="0" marR="0" marT="0" marB="0" anchor="ctr" anchorCtr="0"/>
                </a:tc>
                <a:tc>
                  <a:txBody>
                    <a:bodyPr/>
                    <a:p>
                      <a:pPr algn="ctr"/>
                      <a:r>
                        <a:rPr sz="2400"/>
                        <a:t>Length/size constraints</a:t>
                      </a:r>
                      <a:endParaRPr sz="2400"/>
                    </a:p>
                  </a:txBody>
                  <a:tcPr marL="0" marR="0" marT="0" marB="0" anchor="ctr" anchorCtr="0"/>
                </a:tc>
                <a:tc>
                  <a:txBody>
                    <a:bodyPr/>
                    <a:p>
                      <a:pPr algn="ctr"/>
                      <a:r>
                        <a:rPr sz="2400"/>
                        <a:t>@Size(min=2, max=30)</a:t>
                      </a:r>
                      <a:endParaRPr sz="2400"/>
                    </a:p>
                  </a:txBody>
                  <a:tcPr marL="0" marR="0" marT="0" marB="0" anchor="ctr" anchorCtr="0"/>
                </a:tc>
              </a:tr>
              <a:tr h="381000">
                <a:tc>
                  <a:txBody>
                    <a:bodyPr/>
                    <a:p>
                      <a:pPr algn="ctr"/>
                      <a:r>
                        <a:rPr sz="2400"/>
                        <a:t>@Email</a:t>
                      </a:r>
                      <a:endParaRPr sz="2400"/>
                    </a:p>
                  </a:txBody>
                  <a:tcPr marL="0" marR="0" marT="0" marB="0" anchor="ctr" anchorCtr="0"/>
                </a:tc>
                <a:tc>
                  <a:txBody>
                    <a:bodyPr/>
                    <a:p>
                      <a:pPr algn="ctr"/>
                      <a:r>
                        <a:rPr sz="2400"/>
                        <a:t>Valid email format</a:t>
                      </a:r>
                      <a:endParaRPr sz="2400"/>
                    </a:p>
                  </a:txBody>
                  <a:tcPr marL="0" marR="0" marT="0" marB="0" anchor="ctr" anchorCtr="0"/>
                </a:tc>
                <a:tc>
                  <a:txBody>
                    <a:bodyPr/>
                    <a:p>
                      <a:pPr algn="ctr"/>
                      <a:r>
                        <a:rPr sz="2400"/>
                        <a:t>@Email private String email;</a:t>
                      </a:r>
                      <a:endParaRPr sz="2400"/>
                    </a:p>
                  </a:txBody>
                  <a:tcPr marL="0" marR="0" marT="0" marB="0" anchor="ctr" anchorCtr="0"/>
                </a:tc>
              </a:tr>
              <a:tr h="381000">
                <a:tc>
                  <a:txBody>
                    <a:bodyPr/>
                    <a:p>
                      <a:pPr algn="ctr"/>
                      <a:r>
                        <a:rPr sz="2400"/>
                        <a:t>@Min / @Max</a:t>
                      </a:r>
                      <a:endParaRPr sz="2400"/>
                    </a:p>
                  </a:txBody>
                  <a:tcPr marL="0" marR="0" marT="0" marB="0" anchor="ctr" anchorCtr="0"/>
                </a:tc>
                <a:tc>
                  <a:txBody>
                    <a:bodyPr/>
                    <a:p>
                      <a:pPr algn="ctr"/>
                      <a:r>
                        <a:rPr sz="2400"/>
                        <a:t>Min/max value for numbers</a:t>
                      </a:r>
                      <a:endParaRPr sz="2400"/>
                    </a:p>
                  </a:txBody>
                  <a:tcPr marL="0" marR="0" marT="0" marB="0" anchor="ctr" anchorCtr="0"/>
                </a:tc>
                <a:tc>
                  <a:txBody>
                    <a:bodyPr/>
                    <a:p>
                      <a:pPr algn="ctr"/>
                      <a:r>
                        <a:rPr sz="2400"/>
                        <a:t>@Min(18) private int age;</a:t>
                      </a:r>
                      <a:endParaRPr sz="2400"/>
                    </a:p>
                  </a:txBody>
                  <a:tcPr marL="0" marR="0" marT="0" marB="0" anchor="ctr" anchorCtr="0"/>
                </a:tc>
              </a:tr>
              <a:tr h="381000">
                <a:tc>
                  <a:txBody>
                    <a:bodyPr/>
                    <a:p>
                      <a:pPr algn="ctr"/>
                      <a:r>
                        <a:rPr sz="2400"/>
                        <a:t>@Pattern</a:t>
                      </a:r>
                      <a:endParaRPr sz="2400"/>
                    </a:p>
                  </a:txBody>
                  <a:tcPr marL="0" marR="0" marT="0" marB="0" anchor="ctr" anchorCtr="0"/>
                </a:tc>
                <a:tc>
                  <a:txBody>
                    <a:bodyPr/>
                    <a:p>
                      <a:pPr algn="ctr"/>
                      <a:r>
                        <a:rPr sz="2400"/>
                        <a:t>Regex validation</a:t>
                      </a:r>
                      <a:endParaRPr sz="2400"/>
                    </a:p>
                  </a:txBody>
                  <a:tcPr marL="0" marR="0" marT="0" marB="0" anchor="ctr" anchorCtr="0"/>
                </a:tc>
                <a:tc>
                  <a:txBody>
                    <a:bodyPr/>
                    <a:p>
                      <a:pPr algn="ctr"/>
                      <a:r>
                        <a:rPr sz="2400"/>
                        <a:t>@Pattern(regexp="\\d{10}")</a:t>
                      </a:r>
                      <a:endParaRPr sz="2400"/>
                    </a:p>
                  </a:txBody>
                  <a:tcPr marL="0" marR="0" marT="0" marB="0" anchor="ctr" anchorCtr="0"/>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ltLang="en-US"/>
              <a:t>What is @ControllerAdvice</a:t>
            </a:r>
            <a:endParaRPr lang="en-US" altLang="en-US"/>
          </a:p>
        </p:txBody>
      </p:sp>
      <p:sp>
        <p:nvSpPr>
          <p:cNvPr id="3" name="Content Placeholder 2"/>
          <p:cNvSpPr>
            <a:spLocks noGrp="1"/>
          </p:cNvSpPr>
          <p:nvPr>
            <p:ph idx="1"/>
          </p:nvPr>
        </p:nvSpPr>
        <p:spPr/>
        <p:txBody>
          <a:bodyPr>
            <a:normAutofit fontScale="80000"/>
          </a:bodyPr>
          <a:p>
            <a:r>
              <a:rPr lang="en-US" altLang="en-US"/>
              <a:t>Definition:</a:t>
            </a:r>
            <a:endParaRPr lang="en-US" altLang="en-US"/>
          </a:p>
          <a:p>
            <a:pPr lvl="1"/>
            <a:r>
              <a:rPr lang="en-US" altLang="en-US"/>
              <a:t>@ControllerAdvice is a special Spring annotation used to handle exceptions globally across the whole application.</a:t>
            </a:r>
            <a:endParaRPr lang="en-US" altLang="en-US"/>
          </a:p>
          <a:p>
            <a:r>
              <a:rPr lang="en-US" altLang="en-US"/>
              <a:t>Purpose:</a:t>
            </a:r>
            <a:endParaRPr lang="en-US" altLang="en-US"/>
          </a:p>
          <a:p>
            <a:pPr lvl="1"/>
            <a:r>
              <a:rPr lang="en-US" altLang="en-US"/>
              <a:t>Centralized error handling.</a:t>
            </a:r>
            <a:endParaRPr lang="en-US" altLang="en-US"/>
          </a:p>
          <a:p>
            <a:pPr lvl="1"/>
            <a:r>
              <a:rPr lang="en-US" altLang="en-US"/>
              <a:t>Avoids repeating try-catch blocks in each controller.</a:t>
            </a:r>
            <a:endParaRPr lang="en-US" altLang="en-US"/>
          </a:p>
          <a:p>
            <a:pPr lvl="1"/>
            <a:r>
              <a:rPr lang="en-US" altLang="en-US"/>
              <a:t>Improves clean code and maintainability.</a:t>
            </a:r>
            <a:endParaRPr lang="en-US" altLang="en-US"/>
          </a:p>
          <a:p>
            <a:r>
              <a:rPr lang="en-US" altLang="en-US"/>
              <a:t>Works With:</a:t>
            </a:r>
            <a:endParaRPr lang="en-US" altLang="en-US"/>
          </a:p>
          <a:p>
            <a:pPr lvl="1"/>
            <a:r>
              <a:rPr lang="en-US" altLang="en-US"/>
              <a:t>@ExceptionHandler (handle specific exceptions)</a:t>
            </a:r>
            <a:endParaRPr lang="en-US" altLang="en-US"/>
          </a:p>
          <a:p>
            <a:pPr lvl="1"/>
            <a:r>
              <a:rPr lang="en-US" altLang="en-US"/>
              <a:t>@ModelAttribute, @InitBinder</a:t>
            </a:r>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How Controller Advice works</a:t>
            </a:r>
            <a:endParaRPr lang="en-US" altLang="en-US"/>
          </a:p>
        </p:txBody>
      </p:sp>
      <p:graphicFrame>
        <p:nvGraphicFramePr>
          <p:cNvPr id="4" name="Content Placeholder 3"/>
          <p:cNvGraphicFramePr/>
          <p:nvPr>
            <p:ph idx="1"/>
          </p:nvPr>
        </p:nvGraphicFramePr>
        <p:xfrm>
          <a:off x="457200" y="1600200"/>
          <a:ext cx="8229600" cy="2286000"/>
        </p:xfrm>
        <a:graphic>
          <a:graphicData uri="http://schemas.openxmlformats.org/drawingml/2006/table">
            <a:tbl>
              <a:tblPr firstRow="1" bandRow="1">
                <a:tableStyleId>{5C22544A-7EE6-4342-B048-85BDC9FD1C3A}</a:tableStyleId>
              </a:tblPr>
              <a:tblGrid>
                <a:gridCol w="2743200"/>
                <a:gridCol w="2743200"/>
                <a:gridCol w="2743200"/>
              </a:tblGrid>
              <a:tr h="381000">
                <a:tc>
                  <a:txBody>
                    <a:bodyPr/>
                    <a:p>
                      <a:pPr algn="ctr"/>
                      <a:r>
                        <a:rPr sz="2000" b="1"/>
                        <a:t>Step</a:t>
                      </a:r>
                      <a:endParaRPr sz="2000" b="1"/>
                    </a:p>
                  </a:txBody>
                  <a:tcPr marL="0" marR="0" marT="0" marB="0" anchor="ctr" anchorCtr="0"/>
                </a:tc>
                <a:tc>
                  <a:txBody>
                    <a:bodyPr/>
                    <a:p>
                      <a:pPr algn="ctr"/>
                      <a:r>
                        <a:rPr sz="2000" b="1"/>
                        <a:t>Explanation</a:t>
                      </a:r>
                      <a:endParaRPr sz="2000" b="1"/>
                    </a:p>
                  </a:txBody>
                  <a:tcPr marL="0" marR="0" marT="0" marB="0" anchor="ctr" anchorCtr="0"/>
                </a:tc>
                <a:tc>
                  <a:txBody>
                    <a:bodyPr/>
                    <a:p>
                      <a:pPr algn="ctr"/>
                      <a:r>
                        <a:rPr sz="2000" b="1"/>
                        <a:t>Example Data</a:t>
                      </a:r>
                      <a:endParaRPr sz="2000" b="1"/>
                    </a:p>
                  </a:txBody>
                  <a:tcPr marL="0" marR="0" marT="0" marB="0" anchor="ctr" anchorCtr="0"/>
                </a:tc>
              </a:tr>
              <a:tr h="381000">
                <a:tc>
                  <a:txBody>
                    <a:bodyPr/>
                    <a:p>
                      <a:pPr algn="ctr"/>
                      <a:r>
                        <a:rPr sz="2000"/>
                        <a:t>1. Exception Occurs</a:t>
                      </a:r>
                      <a:endParaRPr sz="2000"/>
                    </a:p>
                  </a:txBody>
                  <a:tcPr marL="0" marR="0" marT="0" marB="0" anchor="ctr" anchorCtr="0"/>
                </a:tc>
                <a:tc>
                  <a:txBody>
                    <a:bodyPr/>
                    <a:p>
                      <a:pPr algn="ctr"/>
                      <a:r>
                        <a:rPr sz="2000"/>
                        <a:t>User request triggers an error inside Controller.</a:t>
                      </a:r>
                      <a:endParaRPr sz="2000"/>
                    </a:p>
                  </a:txBody>
                  <a:tcPr marL="0" marR="0" marT="0" marB="0" anchor="ctr" anchorCtr="0"/>
                </a:tc>
                <a:tc>
                  <a:txBody>
                    <a:bodyPr/>
                    <a:p>
                      <a:pPr algn="ctr"/>
                      <a:r>
                        <a:rPr sz="2000"/>
                        <a:t>UserNotFoundException</a:t>
                      </a:r>
                      <a:endParaRPr sz="2000"/>
                    </a:p>
                  </a:txBody>
                  <a:tcPr marL="0" marR="0" marT="0" marB="0" anchor="ctr" anchorCtr="0"/>
                </a:tc>
              </a:tr>
              <a:tr h="381000">
                <a:tc>
                  <a:txBody>
                    <a:bodyPr/>
                    <a:p>
                      <a:pPr algn="ctr"/>
                      <a:r>
                        <a:rPr sz="2000"/>
                        <a:t>2. DispatcherServlet</a:t>
                      </a:r>
                      <a:endParaRPr sz="2000"/>
                    </a:p>
                  </a:txBody>
                  <a:tcPr marL="0" marR="0" marT="0" marB="0" anchor="ctr" anchorCtr="0"/>
                </a:tc>
                <a:tc>
                  <a:txBody>
                    <a:bodyPr/>
                    <a:p>
                      <a:pPr algn="ctr"/>
                      <a:r>
                        <a:rPr sz="2000"/>
                        <a:t>Forwards exception to Spring’s exception resolver.</a:t>
                      </a:r>
                      <a:endParaRPr sz="2000"/>
                    </a:p>
                  </a:txBody>
                  <a:tcPr marL="0" marR="0" marT="0" marB="0" anchor="ctr" anchorCtr="0"/>
                </a:tc>
                <a:tc>
                  <a:txBody>
                    <a:bodyPr/>
                    <a:p>
                      <a:pPr algn="ctr"/>
                      <a:r>
                        <a:rPr sz="2000"/>
                        <a:t>Error caught</a:t>
                      </a:r>
                      <a:endParaRPr sz="2000"/>
                    </a:p>
                  </a:txBody>
                  <a:tcPr marL="0" marR="0" marT="0" marB="0" anchor="ctr" anchorCtr="0"/>
                </a:tc>
              </a:tr>
              <a:tr h="381000">
                <a:tc>
                  <a:txBody>
                    <a:bodyPr/>
                    <a:p>
                      <a:pPr algn="ctr"/>
                      <a:r>
                        <a:rPr sz="2000"/>
                        <a:t>3. @ControllerAdvice</a:t>
                      </a:r>
                      <a:endParaRPr sz="2000"/>
                    </a:p>
                  </a:txBody>
                  <a:tcPr marL="0" marR="0" marT="0" marB="0" anchor="ctr" anchorCtr="0"/>
                </a:tc>
                <a:tc>
                  <a:txBody>
                    <a:bodyPr/>
                    <a:p>
                      <a:pPr algn="ctr"/>
                      <a:r>
                        <a:rPr sz="2000"/>
                        <a:t>Class annotated with @ControllerAdvice intercepts it.</a:t>
                      </a:r>
                      <a:endParaRPr sz="2000"/>
                    </a:p>
                  </a:txBody>
                  <a:tcPr marL="0" marR="0" marT="0" marB="0" anchor="ctr" anchorCtr="0"/>
                </a:tc>
                <a:tc>
                  <a:txBody>
                    <a:bodyPr/>
                    <a:p>
                      <a:pPr algn="ctr"/>
                      <a:r>
                        <a:rPr sz="2000"/>
                        <a:t>Global handler class</a:t>
                      </a:r>
                      <a:endParaRPr sz="2000"/>
                    </a:p>
                  </a:txBody>
                  <a:tcPr marL="0" marR="0" marT="0" marB="0" anchor="ctr" anchorCtr="0"/>
                </a:tc>
              </a:tr>
              <a:tr h="381000">
                <a:tc>
                  <a:txBody>
                    <a:bodyPr/>
                    <a:p>
                      <a:pPr algn="ctr"/>
                      <a:r>
                        <a:rPr sz="2000"/>
                        <a:t>4. @ExceptionHandler</a:t>
                      </a:r>
                      <a:endParaRPr sz="2000"/>
                    </a:p>
                  </a:txBody>
                  <a:tcPr marL="0" marR="0" marT="0" marB="0" anchor="ctr" anchorCtr="0"/>
                </a:tc>
                <a:tc>
                  <a:txBody>
                    <a:bodyPr/>
                    <a:p>
                      <a:pPr algn="ctr"/>
                      <a:r>
                        <a:rPr sz="2000"/>
                        <a:t>Method inside advice decides response (JSON/View).</a:t>
                      </a:r>
                      <a:endParaRPr sz="2000"/>
                    </a:p>
                  </a:txBody>
                  <a:tcPr marL="0" marR="0" marT="0" marB="0" anchor="ctr" anchorCtr="0"/>
                </a:tc>
                <a:tc>
                  <a:txBody>
                    <a:bodyPr/>
                    <a:p>
                      <a:pPr algn="ctr"/>
                      <a:r>
                        <a:rPr sz="2000"/>
                        <a:t>Returns error JSON</a:t>
                      </a:r>
                      <a:endParaRPr sz="2000"/>
                    </a:p>
                  </a:txBody>
                  <a:tcPr marL="0" marR="0" marT="0" marB="0" anchor="ctr" anchorCtr="0"/>
                </a:tc>
              </a:tr>
              <a:tr h="381000">
                <a:tc>
                  <a:txBody>
                    <a:bodyPr/>
                    <a:p>
                      <a:pPr algn="ctr"/>
                      <a:r>
                        <a:rPr sz="2000"/>
                        <a:t>5. Response Sent</a:t>
                      </a:r>
                      <a:endParaRPr sz="2000"/>
                    </a:p>
                  </a:txBody>
                  <a:tcPr marL="0" marR="0" marT="0" marB="0" anchor="ctr" anchorCtr="0"/>
                </a:tc>
                <a:tc>
                  <a:txBody>
                    <a:bodyPr/>
                    <a:p>
                      <a:pPr algn="ctr"/>
                      <a:r>
                        <a:rPr sz="2000"/>
                        <a:t>User gets a clean error response instead of stacktrace.</a:t>
                      </a:r>
                      <a:endParaRPr sz="2000"/>
                    </a:p>
                  </a:txBody>
                  <a:tcPr marL="0" marR="0" marT="0" marB="0" anchor="ctr" anchorCtr="0"/>
                </a:tc>
                <a:tc>
                  <a:txBody>
                    <a:bodyPr/>
                    <a:p>
                      <a:pPr algn="ctr"/>
                      <a:r>
                        <a:rPr sz="2000"/>
                        <a:t>{ "error": "User not found" }</a:t>
                      </a:r>
                      <a:endParaRPr sz="2000"/>
                    </a:p>
                  </a:txBody>
                  <a:tcPr marL="0" marR="0" marT="0" marB="0" anchor="ctr" anchorCtr="0"/>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Spring MVC Summary</a:t>
            </a:r>
            <a:endParaRPr lang="en-US" altLang="en-US"/>
          </a:p>
        </p:txBody>
      </p:sp>
      <p:sp>
        <p:nvSpPr>
          <p:cNvPr id="3" name="Content Placeholder 2"/>
          <p:cNvSpPr>
            <a:spLocks noGrp="1"/>
          </p:cNvSpPr>
          <p:nvPr>
            <p:ph idx="1"/>
          </p:nvPr>
        </p:nvSpPr>
        <p:spPr/>
        <p:txBody>
          <a:bodyPr>
            <a:noAutofit/>
          </a:bodyPr>
          <a:p>
            <a:r>
              <a:rPr lang="en-US" altLang="en-US" sz="1800"/>
              <a:t>DispatcherServlet</a:t>
            </a:r>
            <a:endParaRPr lang="en-US" altLang="en-US" sz="1800"/>
          </a:p>
          <a:p>
            <a:pPr lvl="1"/>
            <a:r>
              <a:rPr lang="en-US" altLang="en-US" sz="1600"/>
              <a:t>Central front controller.</a:t>
            </a:r>
            <a:endParaRPr lang="en-US" altLang="en-US" sz="1600"/>
          </a:p>
          <a:p>
            <a:pPr lvl="1"/>
            <a:r>
              <a:rPr lang="en-US" altLang="en-US" sz="1600"/>
              <a:t>Routes every request to the right handler.</a:t>
            </a:r>
            <a:endParaRPr lang="en-US" altLang="en-US" sz="1600"/>
          </a:p>
          <a:p>
            <a:r>
              <a:rPr lang="en-US" altLang="en-US" sz="1800"/>
              <a:t>Controllers &amp; RequestMapping</a:t>
            </a:r>
            <a:endParaRPr lang="en-US" altLang="en-US" sz="1800"/>
          </a:p>
          <a:p>
            <a:pPr lvl="1"/>
            <a:r>
              <a:rPr lang="en-US" altLang="en-US" sz="1600"/>
              <a:t>Controllers process requests.</a:t>
            </a:r>
            <a:endParaRPr lang="en-US" altLang="en-US" sz="1600"/>
          </a:p>
          <a:p>
            <a:pPr lvl="1"/>
            <a:r>
              <a:rPr lang="en-US" altLang="en-US" sz="1600"/>
              <a:t>@RequestMapping, @GetMapping, @PostMapping map URLs → methods.</a:t>
            </a:r>
            <a:endParaRPr lang="en-US" altLang="en-US" sz="1600"/>
          </a:p>
          <a:p>
            <a:r>
              <a:rPr lang="en-US" altLang="en-US" sz="1800"/>
              <a:t>ViewResolvers</a:t>
            </a:r>
            <a:endParaRPr lang="en-US" altLang="en-US" sz="1800"/>
          </a:p>
          <a:p>
            <a:pPr lvl="1"/>
            <a:r>
              <a:rPr lang="en-US" altLang="en-US" sz="1600"/>
              <a:t>Convert logical view names → actual views (JSP, Thymeleaf).</a:t>
            </a:r>
            <a:endParaRPr lang="en-US" altLang="en-US" sz="1600"/>
          </a:p>
          <a:p>
            <a:pPr lvl="1"/>
            <a:r>
              <a:rPr lang="en-US" altLang="en-US" sz="1600"/>
              <a:t>Example: "home" → /WEB-INF/views/home.jsp.</a:t>
            </a:r>
            <a:endParaRPr lang="en-US" altLang="en-US" sz="1600"/>
          </a:p>
          <a:p>
            <a:r>
              <a:rPr lang="en-US" altLang="en-US" sz="1800"/>
              <a:t>Form Handling &amp; Validation</a:t>
            </a:r>
            <a:endParaRPr lang="en-US" altLang="en-US" sz="1800"/>
          </a:p>
          <a:p>
            <a:pPr lvl="1"/>
            <a:r>
              <a:rPr lang="en-US" altLang="en-US" sz="1600"/>
              <a:t>Bind user input to model objects.</a:t>
            </a:r>
            <a:endParaRPr lang="en-US" altLang="en-US" sz="1600"/>
          </a:p>
          <a:p>
            <a:pPr lvl="1"/>
            <a:r>
              <a:rPr lang="en-US" altLang="en-US" sz="1600"/>
              <a:t>Validate using annotations (@NotEmpty, @Email, etc.).</a:t>
            </a:r>
            <a:endParaRPr lang="en-US" altLang="en-US" sz="1600"/>
          </a:p>
          <a:p>
            <a:pPr lvl="1"/>
            <a:r>
              <a:rPr lang="en-US" altLang="en-US" sz="1600"/>
              <a:t>Prevent invalid data in system.</a:t>
            </a:r>
            <a:endParaRPr lang="en-US" altLang="en-US" sz="1600"/>
          </a:p>
          <a:p>
            <a:r>
              <a:rPr lang="en-US" altLang="en-US" sz="1800"/>
              <a:t>Exception Handling with @ControllerAdvice</a:t>
            </a:r>
            <a:endParaRPr lang="en-US" altLang="en-US" sz="1800"/>
          </a:p>
          <a:p>
            <a:pPr lvl="1"/>
            <a:r>
              <a:rPr lang="en-US" altLang="en-US" sz="1600"/>
              <a:t>Centralized error handling across controllers.</a:t>
            </a:r>
            <a:endParaRPr lang="en-US" altLang="en-US" sz="1600"/>
          </a:p>
          <a:p>
            <a:pPr lvl="1"/>
            <a:r>
              <a:rPr lang="en-US" altLang="en-US" sz="1600"/>
              <a:t>@ExceptionHandler methods return clean responses.</a:t>
            </a:r>
            <a:endParaRPr lang="en-US" altLang="en-US" sz="1600"/>
          </a:p>
        </p:txBody>
      </p:sp>
    </p:spTree>
  </p:cSld>
  <p:clrMapOvr>
    <a:masterClrMapping/>
  </p:clrMapOvr>
</p:sld>
</file>

<file path=ppt/tags/tag1.xml><?xml version="1.0" encoding="utf-8"?>
<p:tagLst xmlns:p="http://schemas.openxmlformats.org/presentationml/2006/main">
  <p:tag name="TABLE_ENDDRAG_ORIGIN_RECT" val="662*450"/>
  <p:tag name="TABLE_ENDDRAG_RECT" val="8*95*662*450"/>
</p:tagLst>
</file>

<file path=ppt/tags/tag2.xml><?xml version="1.0" encoding="utf-8"?>
<p:tagLst xmlns:p="http://schemas.openxmlformats.org/presentationml/2006/main">
  <p:tag name="TABLE_ENDDRAG_ORIGIN_RECT" val="659*379"/>
  <p:tag name="TABLE_ENDDRAG_RECT" val="36*126*659*379"/>
</p:tagLst>
</file>

<file path=ppt/tags/tag3.xml><?xml version="1.0" encoding="utf-8"?>
<p:tagLst xmlns:p="http://schemas.openxmlformats.org/presentationml/2006/main">
  <p:tag name="TABLE_ENDDRAG_ORIGIN_RECT" val="669*294"/>
  <p:tag name="TABLE_ENDDRAG_RECT" val="36*126*669*294"/>
</p:tagLst>
</file>

<file path=ppt/tags/tag4.xml><?xml version="1.0" encoding="utf-8"?>
<p:tagLst xmlns:p="http://schemas.openxmlformats.org/presentationml/2006/main">
  <p:tag name="TABLE_ENDDRAG_ORIGIN_RECT" val="647*343"/>
  <p:tag name="TABLE_ENDDRAG_RECT" val="36*126*647*34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12364</Words>
  <Application>WPS Presentation</Application>
  <PresentationFormat>On-screen Show (4:3)</PresentationFormat>
  <Paragraphs>466</Paragraphs>
  <Slides>24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Times New Roman</vt:lpstr>
      <vt:lpstr>fkGroteskNeue</vt:lpstr>
      <vt:lpstr>Segoe Print</vt:lpstr>
      <vt:lpstr>Calibri</vt:lpstr>
      <vt:lpstr>Microsoft YaHei</vt:lpstr>
      <vt:lpstr>Arial Unicode MS</vt:lpstr>
      <vt:lpstr>Office Theme</vt:lpstr>
      <vt:lpstr>Spring MVC - DispatcherServlet</vt:lpstr>
      <vt:lpstr>What is DispatcherServlet?</vt:lpstr>
      <vt:lpstr>Role of DispatcherServlet</vt:lpstr>
      <vt:lpstr>Request Handling Workflow</vt:lpstr>
      <vt:lpstr>PowerPoint 演示文稿</vt:lpstr>
      <vt:lpstr>DispatcherServlet Flow</vt:lpstr>
      <vt:lpstr>Springboot + DispatcherServlet</vt:lpstr>
      <vt:lpstr>PowerPoint 演示文稿</vt:lpstr>
      <vt:lpstr>Summary of DispatcherServlet</vt:lpstr>
      <vt:lpstr>What Are Controllers in Spring?</vt:lpstr>
      <vt:lpstr>HTTP Requests used in Controllers</vt:lpstr>
      <vt:lpstr>How Controllers Work</vt:lpstr>
      <vt:lpstr>PowerPoint 演示文稿</vt:lpstr>
      <vt:lpstr>RequestMapping</vt:lpstr>
      <vt:lpstr>Key attributes of @RequestMapping</vt:lpstr>
      <vt:lpstr>View Resolver</vt:lpstr>
      <vt:lpstr>Flow of ViewResolver in Spring MVC</vt:lpstr>
      <vt:lpstr>Form Handling in Spring MVC</vt:lpstr>
      <vt:lpstr>Workflow of Form Handling</vt:lpstr>
      <vt:lpstr> Validation in Spring Boot</vt:lpstr>
      <vt:lpstr>Common Validation Annotations</vt:lpstr>
      <vt:lpstr>What is @ControllerAdvice</vt:lpstr>
      <vt:lpstr>How Controller Advice works</vt:lpstr>
      <vt:lpstr>Spring MVC 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Yukti Choudhary</cp:lastModifiedBy>
  <cp:revision>15</cp:revision>
  <dcterms:created xsi:type="dcterms:W3CDTF">2013-01-27T09:14:00Z</dcterms:created>
  <dcterms:modified xsi:type="dcterms:W3CDTF">2025-09-15T11:07:48Z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F9AD12F7DA104A68A2BE6EF79AB15F26_13</vt:lpwstr>
  </property>
  <property fmtid="{D5CDD505-2E9C-101B-9397-08002B2CF9AE}" pid="3" name="KSOProductBuildVer">
    <vt:lpwstr>1033-12.2.0.22530</vt:lpwstr>
  </property>
</Properties>
</file>